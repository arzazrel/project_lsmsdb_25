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sldIdLst>
    <p:sldId id="256" r:id="rId5"/>
    <p:sldId id="257" r:id="rId6"/>
    <p:sldId id="263" r:id="rId7"/>
    <p:sldId id="264" r:id="rId8"/>
    <p:sldId id="265" r:id="rId9"/>
    <p:sldId id="268" r:id="rId10"/>
    <p:sldId id="266" r:id="rId11"/>
    <p:sldId id="269" r:id="rId12"/>
    <p:sldId id="267" r:id="rId13"/>
    <p:sldId id="270" r:id="rId14"/>
    <p:sldId id="271" r:id="rId15"/>
    <p:sldId id="272" r:id="rId16"/>
    <p:sldId id="273" r:id="rId17"/>
    <p:sldId id="258" r:id="rId18"/>
    <p:sldId id="259" r:id="rId19"/>
    <p:sldId id="260" r:id="rId20"/>
    <p:sldId id="261" r:id="rId21"/>
  </p:sldIdLst>
  <p:sldSz cx="9144000" cy="6858000" type="screen4x3"/>
  <p:notesSz cx="6858000" cy="9144000"/>
  <p:defaultTextStyle>
    <a:defPPr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F7F7F7"/>
    <a:srgbClr val="ECECEC"/>
    <a:srgbClr val="FFE7E7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D2C07A-120C-4A31-A34E-00A800F70768}" v="77" dt="2025-11-10T18:30:20.0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82"/>
    <p:restoredTop sz="93645" autoAdjust="0"/>
  </p:normalViewPr>
  <p:slideViewPr>
    <p:cSldViewPr snapToGrid="0" snapToObjects="1">
      <p:cViewPr varScale="1">
        <p:scale>
          <a:sx n="78" d="100"/>
          <a:sy n="78" d="100"/>
        </p:scale>
        <p:origin x="1478" y="86"/>
      </p:cViewPr>
      <p:guideLst>
        <p:guide orient="horz" pos="2137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le Martinelli" userId="7fbb5ea4-aa54-4069-9817-0c9f1f96a781" providerId="ADAL" clId="{8D903727-13C1-4DE1-BDD5-2A2D86EA714E}"/>
    <pc:docChg chg="undo custSel addSld modSld">
      <pc:chgData name="Nicole Martinelli" userId="7fbb5ea4-aa54-4069-9817-0c9f1f96a781" providerId="ADAL" clId="{8D903727-13C1-4DE1-BDD5-2A2D86EA714E}" dt="2025-11-10T18:40:13.747" v="128" actId="1076"/>
      <pc:docMkLst>
        <pc:docMk/>
      </pc:docMkLst>
      <pc:sldChg chg="modSp mod">
        <pc:chgData name="Nicole Martinelli" userId="7fbb5ea4-aa54-4069-9817-0c9f1f96a781" providerId="ADAL" clId="{8D903727-13C1-4DE1-BDD5-2A2D86EA714E}" dt="2025-11-10T18:24:10.645" v="7" actId="1076"/>
        <pc:sldMkLst>
          <pc:docMk/>
          <pc:sldMk cId="1600062437" sldId="265"/>
        </pc:sldMkLst>
        <pc:spChg chg="mod">
          <ac:chgData name="Nicole Martinelli" userId="7fbb5ea4-aa54-4069-9817-0c9f1f96a781" providerId="ADAL" clId="{8D903727-13C1-4DE1-BDD5-2A2D86EA714E}" dt="2025-11-10T18:24:10.645" v="7" actId="1076"/>
          <ac:spMkLst>
            <pc:docMk/>
            <pc:sldMk cId="1600062437" sldId="265"/>
            <ac:spMk id="4" creationId="{E04EC32B-D648-3412-A6B8-8BCC231F957B}"/>
          </ac:spMkLst>
        </pc:spChg>
        <pc:spChg chg="mod">
          <ac:chgData name="Nicole Martinelli" userId="7fbb5ea4-aa54-4069-9817-0c9f1f96a781" providerId="ADAL" clId="{8D903727-13C1-4DE1-BDD5-2A2D86EA714E}" dt="2025-11-10T18:24:10.645" v="7" actId="1076"/>
          <ac:spMkLst>
            <pc:docMk/>
            <pc:sldMk cId="1600062437" sldId="265"/>
            <ac:spMk id="8" creationId="{372D295D-FFE6-443C-5ED2-8E32052FF996}"/>
          </ac:spMkLst>
        </pc:spChg>
        <pc:spChg chg="mod">
          <ac:chgData name="Nicole Martinelli" userId="7fbb5ea4-aa54-4069-9817-0c9f1f96a781" providerId="ADAL" clId="{8D903727-13C1-4DE1-BDD5-2A2D86EA714E}" dt="2025-11-10T18:24:10.645" v="7" actId="1076"/>
          <ac:spMkLst>
            <pc:docMk/>
            <pc:sldMk cId="1600062437" sldId="265"/>
            <ac:spMk id="9" creationId="{3690A913-2922-3E68-AA3F-DA2E2D8DBEA9}"/>
          </ac:spMkLst>
        </pc:spChg>
        <pc:graphicFrameChg chg="mod">
          <ac:chgData name="Nicole Martinelli" userId="7fbb5ea4-aa54-4069-9817-0c9f1f96a781" providerId="ADAL" clId="{8D903727-13C1-4DE1-BDD5-2A2D86EA714E}" dt="2025-11-10T18:24:10.645" v="7" actId="1076"/>
          <ac:graphicFrameMkLst>
            <pc:docMk/>
            <pc:sldMk cId="1600062437" sldId="265"/>
            <ac:graphicFrameMk id="6" creationId="{F53F2A88-0180-400F-A67C-8722EAB32661}"/>
          </ac:graphicFrameMkLst>
        </pc:graphicFrameChg>
        <pc:picChg chg="mod">
          <ac:chgData name="Nicole Martinelli" userId="7fbb5ea4-aa54-4069-9817-0c9f1f96a781" providerId="ADAL" clId="{8D903727-13C1-4DE1-BDD5-2A2D86EA714E}" dt="2025-11-10T18:24:10.645" v="7" actId="1076"/>
          <ac:picMkLst>
            <pc:docMk/>
            <pc:sldMk cId="1600062437" sldId="265"/>
            <ac:picMk id="47" creationId="{C9612107-6647-6484-962C-755D75C012D5}"/>
          </ac:picMkLst>
        </pc:picChg>
      </pc:sldChg>
      <pc:sldChg chg="modSp mod">
        <pc:chgData name="Nicole Martinelli" userId="7fbb5ea4-aa54-4069-9817-0c9f1f96a781" providerId="ADAL" clId="{8D903727-13C1-4DE1-BDD5-2A2D86EA714E}" dt="2025-11-10T18:21:47.827" v="6" actId="1076"/>
        <pc:sldMkLst>
          <pc:docMk/>
          <pc:sldMk cId="2808507748" sldId="266"/>
        </pc:sldMkLst>
        <pc:spChg chg="mod">
          <ac:chgData name="Nicole Martinelli" userId="7fbb5ea4-aa54-4069-9817-0c9f1f96a781" providerId="ADAL" clId="{8D903727-13C1-4DE1-BDD5-2A2D86EA714E}" dt="2025-11-10T18:21:47.827" v="6" actId="1076"/>
          <ac:spMkLst>
            <pc:docMk/>
            <pc:sldMk cId="2808507748" sldId="266"/>
            <ac:spMk id="41" creationId="{758BBB46-10A6-6EE2-13D5-92C530CE9468}"/>
          </ac:spMkLst>
        </pc:spChg>
        <pc:graphicFrameChg chg="mod">
          <ac:chgData name="Nicole Martinelli" userId="7fbb5ea4-aa54-4069-9817-0c9f1f96a781" providerId="ADAL" clId="{8D903727-13C1-4DE1-BDD5-2A2D86EA714E}" dt="2025-11-10T18:20:50.481" v="0" actId="1076"/>
          <ac:graphicFrameMkLst>
            <pc:docMk/>
            <pc:sldMk cId="2808507748" sldId="266"/>
            <ac:graphicFrameMk id="40" creationId="{C0CE9CDE-9526-125F-A4E1-680AB710EADC}"/>
          </ac:graphicFrameMkLst>
        </pc:graphicFrameChg>
        <pc:picChg chg="mod">
          <ac:chgData name="Nicole Martinelli" userId="7fbb5ea4-aa54-4069-9817-0c9f1f96a781" providerId="ADAL" clId="{8D903727-13C1-4DE1-BDD5-2A2D86EA714E}" dt="2025-11-10T18:21:11.605" v="3" actId="1076"/>
          <ac:picMkLst>
            <pc:docMk/>
            <pc:sldMk cId="2808507748" sldId="266"/>
            <ac:picMk id="7" creationId="{1D196C7A-767B-D1D8-DDF8-B68BAB2C00A3}"/>
          </ac:picMkLst>
        </pc:picChg>
      </pc:sldChg>
      <pc:sldChg chg="addSp delSp modSp add mod">
        <pc:chgData name="Nicole Martinelli" userId="7fbb5ea4-aa54-4069-9817-0c9f1f96a781" providerId="ADAL" clId="{8D903727-13C1-4DE1-BDD5-2A2D86EA714E}" dt="2025-11-10T18:40:13.747" v="128" actId="1076"/>
        <pc:sldMkLst>
          <pc:docMk/>
          <pc:sldMk cId="643054874" sldId="267"/>
        </pc:sldMkLst>
        <pc:spChg chg="add mod">
          <ac:chgData name="Nicole Martinelli" userId="7fbb5ea4-aa54-4069-9817-0c9f1f96a781" providerId="ADAL" clId="{8D903727-13C1-4DE1-BDD5-2A2D86EA714E}" dt="2025-11-10T18:25:05.159" v="13"/>
          <ac:spMkLst>
            <pc:docMk/>
            <pc:sldMk cId="643054874" sldId="267"/>
            <ac:spMk id="2" creationId="{C6854DF0-E332-5569-3C59-E211F49A5B0B}"/>
          </ac:spMkLst>
        </pc:spChg>
        <pc:spChg chg="add mod">
          <ac:chgData name="Nicole Martinelli" userId="7fbb5ea4-aa54-4069-9817-0c9f1f96a781" providerId="ADAL" clId="{8D903727-13C1-4DE1-BDD5-2A2D86EA714E}" dt="2025-11-10T18:25:05.159" v="13"/>
          <ac:spMkLst>
            <pc:docMk/>
            <pc:sldMk cId="643054874" sldId="267"/>
            <ac:spMk id="4" creationId="{FD18A9C7-6958-B98C-849F-F72B29F317B5}"/>
          </ac:spMkLst>
        </pc:spChg>
        <pc:spChg chg="add mod">
          <ac:chgData name="Nicole Martinelli" userId="7fbb5ea4-aa54-4069-9817-0c9f1f96a781" providerId="ADAL" clId="{8D903727-13C1-4DE1-BDD5-2A2D86EA714E}" dt="2025-11-10T18:25:05.159" v="13"/>
          <ac:spMkLst>
            <pc:docMk/>
            <pc:sldMk cId="643054874" sldId="267"/>
            <ac:spMk id="5" creationId="{1403EBB9-420D-C555-FF6D-28DE83C5F9C0}"/>
          </ac:spMkLst>
        </pc:spChg>
        <pc:spChg chg="mod">
          <ac:chgData name="Nicole Martinelli" userId="7fbb5ea4-aa54-4069-9817-0c9f1f96a781" providerId="ADAL" clId="{8D903727-13C1-4DE1-BDD5-2A2D86EA714E}" dt="2025-11-10T18:28:37.094" v="17" actId="1076"/>
          <ac:spMkLst>
            <pc:docMk/>
            <pc:sldMk cId="643054874" sldId="267"/>
            <ac:spMk id="29" creationId="{F067786C-D4CA-B60D-9434-67B1C7D4A169}"/>
          </ac:spMkLst>
        </pc:spChg>
        <pc:spChg chg="del">
          <ac:chgData name="Nicole Martinelli" userId="7fbb5ea4-aa54-4069-9817-0c9f1f96a781" providerId="ADAL" clId="{8D903727-13C1-4DE1-BDD5-2A2D86EA714E}" dt="2025-11-10T18:24:49.674" v="10" actId="478"/>
          <ac:spMkLst>
            <pc:docMk/>
            <pc:sldMk cId="643054874" sldId="267"/>
            <ac:spMk id="31" creationId="{4AA117B3-304C-594E-7117-DA651C6C778B}"/>
          </ac:spMkLst>
        </pc:spChg>
        <pc:spChg chg="del">
          <ac:chgData name="Nicole Martinelli" userId="7fbb5ea4-aa54-4069-9817-0c9f1f96a781" providerId="ADAL" clId="{8D903727-13C1-4DE1-BDD5-2A2D86EA714E}" dt="2025-11-10T18:24:46.196" v="9" actId="478"/>
          <ac:spMkLst>
            <pc:docMk/>
            <pc:sldMk cId="643054874" sldId="267"/>
            <ac:spMk id="41" creationId="{AC5C532B-B85B-232E-BE2E-C564EE0AA557}"/>
          </ac:spMkLst>
        </pc:spChg>
        <pc:grpChg chg="del">
          <ac:chgData name="Nicole Martinelli" userId="7fbb5ea4-aa54-4069-9817-0c9f1f96a781" providerId="ADAL" clId="{8D903727-13C1-4DE1-BDD5-2A2D86EA714E}" dt="2025-11-10T18:28:39.765" v="18" actId="478"/>
          <ac:grpSpMkLst>
            <pc:docMk/>
            <pc:sldMk cId="643054874" sldId="267"/>
            <ac:grpSpMk id="21" creationId="{8CBEBEE2-A27E-5BD5-A0FA-C117C5FFBB01}"/>
          </ac:grpSpMkLst>
        </pc:grpChg>
        <pc:grpChg chg="mod">
          <ac:chgData name="Nicole Martinelli" userId="7fbb5ea4-aa54-4069-9817-0c9f1f96a781" providerId="ADAL" clId="{8D903727-13C1-4DE1-BDD5-2A2D86EA714E}" dt="2025-11-10T18:28:44.067" v="19" actId="1076"/>
          <ac:grpSpMkLst>
            <pc:docMk/>
            <pc:sldMk cId="643054874" sldId="267"/>
            <ac:grpSpMk id="22" creationId="{FD751EF4-20B3-AF30-EC08-C28A063AA5D4}"/>
          </ac:grpSpMkLst>
        </pc:grpChg>
        <pc:grpChg chg="del">
          <ac:chgData name="Nicole Martinelli" userId="7fbb5ea4-aa54-4069-9817-0c9f1f96a781" providerId="ADAL" clId="{8D903727-13C1-4DE1-BDD5-2A2D86EA714E}" dt="2025-11-10T18:24:54.470" v="11" actId="478"/>
          <ac:grpSpMkLst>
            <pc:docMk/>
            <pc:sldMk cId="643054874" sldId="267"/>
            <ac:grpSpMk id="32" creationId="{2F07A6F4-5051-0807-7E34-E6CF57B68229}"/>
          </ac:grpSpMkLst>
        </pc:grpChg>
        <pc:graphicFrameChg chg="add mod">
          <ac:chgData name="Nicole Martinelli" userId="7fbb5ea4-aa54-4069-9817-0c9f1f96a781" providerId="ADAL" clId="{8D903727-13C1-4DE1-BDD5-2A2D86EA714E}" dt="2025-11-10T18:25:05.159" v="13"/>
          <ac:graphicFrameMkLst>
            <pc:docMk/>
            <pc:sldMk cId="643054874" sldId="267"/>
            <ac:graphicFrameMk id="3" creationId="{FB14593F-BA5F-8B5A-0B47-D3C508E07A5A}"/>
          </ac:graphicFrameMkLst>
        </pc:graphicFrameChg>
        <pc:graphicFrameChg chg="mod modGraphic">
          <ac:chgData name="Nicole Martinelli" userId="7fbb5ea4-aa54-4069-9817-0c9f1f96a781" providerId="ADAL" clId="{8D903727-13C1-4DE1-BDD5-2A2D86EA714E}" dt="2025-11-10T18:30:20.039" v="121"/>
          <ac:graphicFrameMkLst>
            <pc:docMk/>
            <pc:sldMk cId="643054874" sldId="267"/>
            <ac:graphicFrameMk id="8" creationId="{D2740B94-BC79-6D85-FBCA-F7B3E5EE9D3C}"/>
          </ac:graphicFrameMkLst>
        </pc:graphicFrameChg>
        <pc:graphicFrameChg chg="del">
          <ac:chgData name="Nicole Martinelli" userId="7fbb5ea4-aa54-4069-9817-0c9f1f96a781" providerId="ADAL" clId="{8D903727-13C1-4DE1-BDD5-2A2D86EA714E}" dt="2025-11-10T18:24:49.674" v="10" actId="478"/>
          <ac:graphicFrameMkLst>
            <pc:docMk/>
            <pc:sldMk cId="643054874" sldId="267"/>
            <ac:graphicFrameMk id="30" creationId="{741EFBD4-125E-A52C-3415-AF8E832FDB7D}"/>
          </ac:graphicFrameMkLst>
        </pc:graphicFrameChg>
        <pc:graphicFrameChg chg="del">
          <ac:chgData name="Nicole Martinelli" userId="7fbb5ea4-aa54-4069-9817-0c9f1f96a781" providerId="ADAL" clId="{8D903727-13C1-4DE1-BDD5-2A2D86EA714E}" dt="2025-11-10T18:24:46.196" v="9" actId="478"/>
          <ac:graphicFrameMkLst>
            <pc:docMk/>
            <pc:sldMk cId="643054874" sldId="267"/>
            <ac:graphicFrameMk id="40" creationId="{D0CF506F-BE4A-1B52-8325-4EE95A7D6175}"/>
          </ac:graphicFrameMkLst>
        </pc:graphicFrameChg>
        <pc:picChg chg="add mod">
          <ac:chgData name="Nicole Martinelli" userId="7fbb5ea4-aa54-4069-9817-0c9f1f96a781" providerId="ADAL" clId="{8D903727-13C1-4DE1-BDD5-2A2D86EA714E}" dt="2025-11-10T18:25:05.159" v="13"/>
          <ac:picMkLst>
            <pc:docMk/>
            <pc:sldMk cId="643054874" sldId="267"/>
            <ac:picMk id="6" creationId="{7B3741B7-7712-1858-1267-7755BAE1C6C8}"/>
          </ac:picMkLst>
        </pc:picChg>
        <pc:picChg chg="del">
          <ac:chgData name="Nicole Martinelli" userId="7fbb5ea4-aa54-4069-9817-0c9f1f96a781" providerId="ADAL" clId="{8D903727-13C1-4DE1-BDD5-2A2D86EA714E}" dt="2025-11-10T18:24:46.196" v="9" actId="478"/>
          <ac:picMkLst>
            <pc:docMk/>
            <pc:sldMk cId="643054874" sldId="267"/>
            <ac:picMk id="7" creationId="{02B58547-4C91-5445-82F4-3F5FF2D7C312}"/>
          </ac:picMkLst>
        </pc:picChg>
        <pc:picChg chg="add del">
          <ac:chgData name="Nicole Martinelli" userId="7fbb5ea4-aa54-4069-9817-0c9f1f96a781" providerId="ADAL" clId="{8D903727-13C1-4DE1-BDD5-2A2D86EA714E}" dt="2025-11-10T18:39:36.564" v="123" actId="22"/>
          <ac:picMkLst>
            <pc:docMk/>
            <pc:sldMk cId="643054874" sldId="267"/>
            <ac:picMk id="12" creationId="{8085B2BD-B717-16A9-9930-73948F67E1A1}"/>
          </ac:picMkLst>
        </pc:picChg>
        <pc:picChg chg="add mod">
          <ac:chgData name="Nicole Martinelli" userId="7fbb5ea4-aa54-4069-9817-0c9f1f96a781" providerId="ADAL" clId="{8D903727-13C1-4DE1-BDD5-2A2D86EA714E}" dt="2025-11-10T18:40:13.747" v="128" actId="1076"/>
          <ac:picMkLst>
            <pc:docMk/>
            <pc:sldMk cId="643054874" sldId="267"/>
            <ac:picMk id="15" creationId="{275440EB-372D-868E-8CA9-60EEDE42AE1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F95162-6873-F647-B392-BF6A1F606277}" type="datetimeFigureOut">
              <a:rPr lang="it-IT" smtClean="0"/>
              <a:t>16/11/2025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FDF8BA-B6A2-CC4D-B552-37BF044E104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46860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Esempio</a:t>
            </a:r>
            <a:r>
              <a:rPr lang="en-US" dirty="0"/>
              <a:t> di possible homepage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FDF8BA-B6A2-CC4D-B552-37BF044E1040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603319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Pagina</a:t>
            </a:r>
            <a:r>
              <a:rPr lang="en-US" dirty="0"/>
              <a:t> </a:t>
            </a:r>
            <a:r>
              <a:rPr lang="en-US" dirty="0" err="1"/>
              <a:t>personale</a:t>
            </a:r>
            <a:endParaRPr lang="en-US" dirty="0"/>
          </a:p>
          <a:p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FDF8BA-B6A2-CC4D-B552-37BF044E1040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245266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62B25-9774-36BD-3710-A4AAFE0C5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D57AA92-8BE8-1C6E-6F3D-ACD0CF72F0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EC7B305-C7AD-F313-5062-710AD9A81F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Pagina</a:t>
            </a:r>
            <a:r>
              <a:rPr lang="en-US" dirty="0"/>
              <a:t> </a:t>
            </a:r>
            <a:r>
              <a:rPr lang="en-US" dirty="0" err="1"/>
              <a:t>personale</a:t>
            </a:r>
            <a:endParaRPr lang="en-US" dirty="0"/>
          </a:p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A2E0C48-6677-33D8-71F3-9B1DAFCD50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FDF8BA-B6A2-CC4D-B552-37BF044E1040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45744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FDCBEE4-315A-8E42-835E-29A1DAE07625}" type="datetimeFigureOut">
              <a:rPr lang="it-IT" smtClean="0"/>
              <a:t>16/11/2025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EAF9BD-73C2-C944-967F-16A9AD6CE36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80815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FDCBEE4-315A-8E42-835E-29A1DAE07625}" type="datetimeFigureOut">
              <a:rPr lang="it-IT" smtClean="0"/>
              <a:t>16/11/2025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EAF9BD-73C2-C944-967F-16A9AD6CE36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01116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FDCBEE4-315A-8E42-835E-29A1DAE07625}" type="datetimeFigureOut">
              <a:rPr lang="it-IT" smtClean="0"/>
              <a:t>16/11/2025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EAF9BD-73C2-C944-967F-16A9AD6CE36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97685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FDCBEE4-315A-8E42-835E-29A1DAE07625}" type="datetimeFigureOut">
              <a:rPr lang="it-IT" smtClean="0"/>
              <a:t>16/11/2025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EAF9BD-73C2-C944-967F-16A9AD6CE36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385570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FDCBEE4-315A-8E42-835E-29A1DAE07625}" type="datetimeFigureOut">
              <a:rPr lang="it-IT" smtClean="0"/>
              <a:t>16/11/2025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EAF9BD-73C2-C944-967F-16A9AD6CE36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350880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FDCBEE4-315A-8E42-835E-29A1DAE07625}" type="datetimeFigureOut">
              <a:rPr lang="it-IT" smtClean="0"/>
              <a:t>16/11/2025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EAF9BD-73C2-C944-967F-16A9AD6CE36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6758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FDCBEE4-315A-8E42-835E-29A1DAE07625}" type="datetimeFigureOut">
              <a:rPr lang="it-IT" smtClean="0"/>
              <a:t>16/11/2025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EAF9BD-73C2-C944-967F-16A9AD6CE36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242553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FDCBEE4-315A-8E42-835E-29A1DAE07625}" type="datetimeFigureOut">
              <a:rPr lang="it-IT" smtClean="0"/>
              <a:t>16/11/2025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EAF9BD-73C2-C944-967F-16A9AD6CE36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4671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FDCBEE4-315A-8E42-835E-29A1DAE07625}" type="datetimeFigureOut">
              <a:rPr lang="it-IT" smtClean="0"/>
              <a:t>16/11/2025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EAF9BD-73C2-C944-967F-16A9AD6CE36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54062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FDCBEE4-315A-8E42-835E-29A1DAE07625}" type="datetimeFigureOut">
              <a:rPr lang="it-IT" smtClean="0"/>
              <a:t>16/11/2025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EAF9BD-73C2-C944-967F-16A9AD6CE36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9310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FDCBEE4-315A-8E42-835E-29A1DAE07625}" type="datetimeFigureOut">
              <a:rPr lang="it-IT" smtClean="0"/>
              <a:t>16/11/2025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EAF9BD-73C2-C944-967F-16A9AD6CE36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82130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182741" y="90093"/>
            <a:ext cx="876179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Fare </a:t>
            </a:r>
            <a:r>
              <a:rPr lang="en-US" noProof="0" dirty="0" err="1"/>
              <a:t>clic</a:t>
            </a:r>
            <a:r>
              <a:rPr lang="en-US" noProof="0" dirty="0"/>
              <a:t> per </a:t>
            </a:r>
            <a:r>
              <a:rPr lang="en-US" noProof="0" dirty="0" err="1"/>
              <a:t>modificare</a:t>
            </a:r>
            <a:r>
              <a:rPr lang="en-US" noProof="0" dirty="0"/>
              <a:t>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182741" y="1350522"/>
            <a:ext cx="8761797" cy="47944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dirty="0"/>
              <a:t>Fare </a:t>
            </a:r>
            <a:r>
              <a:rPr lang="en-US" noProof="0" dirty="0" err="1"/>
              <a:t>clic</a:t>
            </a:r>
            <a:r>
              <a:rPr lang="en-US" noProof="0" dirty="0"/>
              <a:t> per </a:t>
            </a:r>
            <a:r>
              <a:rPr lang="en-US" noProof="0" dirty="0" err="1"/>
              <a:t>modificare</a:t>
            </a:r>
            <a:r>
              <a:rPr lang="en-US" noProof="0" dirty="0"/>
              <a:t> </a:t>
            </a:r>
            <a:r>
              <a:rPr lang="en-US" noProof="0" dirty="0" err="1"/>
              <a:t>gli</a:t>
            </a:r>
            <a:r>
              <a:rPr lang="en-US" noProof="0" dirty="0"/>
              <a:t> </a:t>
            </a:r>
            <a:r>
              <a:rPr lang="en-US" noProof="0" dirty="0" err="1"/>
              <a:t>stili</a:t>
            </a:r>
            <a:r>
              <a:rPr lang="en-US" noProof="0" dirty="0"/>
              <a:t> del </a:t>
            </a:r>
            <a:r>
              <a:rPr lang="en-US" noProof="0" dirty="0" err="1"/>
              <a:t>testo</a:t>
            </a:r>
            <a:r>
              <a:rPr lang="en-US" noProof="0" dirty="0"/>
              <a:t> </a:t>
            </a:r>
            <a:r>
              <a:rPr lang="en-US" noProof="0" dirty="0" err="1"/>
              <a:t>dello</a:t>
            </a:r>
            <a:r>
              <a:rPr lang="en-US" noProof="0" dirty="0"/>
              <a:t> schema</a:t>
            </a:r>
          </a:p>
          <a:p>
            <a:pPr lvl="1"/>
            <a:r>
              <a:rPr lang="en-US" noProof="0" dirty="0"/>
              <a:t>Secondo </a:t>
            </a:r>
            <a:r>
              <a:rPr lang="en-US" noProof="0" dirty="0" err="1"/>
              <a:t>livello</a:t>
            </a:r>
            <a:endParaRPr lang="en-US" noProof="0" dirty="0"/>
          </a:p>
          <a:p>
            <a:pPr lvl="2"/>
            <a:r>
              <a:rPr lang="en-US" noProof="0" dirty="0" err="1"/>
              <a:t>Terzo</a:t>
            </a:r>
            <a:r>
              <a:rPr lang="en-US" noProof="0" dirty="0"/>
              <a:t> </a:t>
            </a:r>
            <a:r>
              <a:rPr lang="en-US" noProof="0" dirty="0" err="1"/>
              <a:t>livello</a:t>
            </a:r>
            <a:endParaRPr lang="en-US" noProof="0" dirty="0"/>
          </a:p>
          <a:p>
            <a:pPr lvl="3"/>
            <a:r>
              <a:rPr lang="en-US" noProof="0" dirty="0"/>
              <a:t>Quarto </a:t>
            </a:r>
            <a:r>
              <a:rPr lang="en-US" noProof="0" dirty="0" err="1"/>
              <a:t>livello</a:t>
            </a:r>
            <a:endParaRPr lang="en-US" noProof="0" dirty="0"/>
          </a:p>
          <a:p>
            <a:pPr lvl="4"/>
            <a:r>
              <a:rPr lang="en-US" noProof="0" dirty="0" err="1"/>
              <a:t>Quinto</a:t>
            </a:r>
            <a:r>
              <a:rPr lang="en-US" noProof="0" dirty="0"/>
              <a:t> </a:t>
            </a:r>
            <a:r>
              <a:rPr lang="en-US" noProof="0" dirty="0" err="1"/>
              <a:t>livello</a:t>
            </a:r>
            <a:endParaRPr lang="en-US" noProof="0" dirty="0"/>
          </a:p>
        </p:txBody>
      </p:sp>
      <p:pic>
        <p:nvPicPr>
          <p:cNvPr id="9" name="Immagine 8" descr="crossLabLogo.png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0101" y="6226140"/>
            <a:ext cx="1556700" cy="511003"/>
          </a:xfrm>
          <a:prstGeom prst="rect">
            <a:avLst/>
          </a:prstGeom>
        </p:spPr>
      </p:pic>
      <p:pic>
        <p:nvPicPr>
          <p:cNvPr id="10" name="Immagine 9" descr="Schermata 2019-07-02 alle 11.33.44.png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42" y="6226140"/>
            <a:ext cx="2392045" cy="548860"/>
          </a:xfrm>
          <a:prstGeom prst="rect">
            <a:avLst/>
          </a:prstGeom>
        </p:spPr>
      </p:pic>
      <p:pic>
        <p:nvPicPr>
          <p:cNvPr id="12" name="Immagine 11" descr="logoUnipi.png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848" y="6144979"/>
            <a:ext cx="1307462" cy="696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882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aravsood7/sentiment-analysis-labelled-financial-news-data" TargetMode="External"/><Relationship Id="rId2" Type="http://schemas.openxmlformats.org/officeDocument/2006/relationships/hyperlink" Target="https://www.kaggle.com/datasets/pratyushpuri/financial-news-market-events-dataset-2025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www.kaggle.com/datasets/mahmoudshaheen1134/trades-dataset" TargetMode="External"/><Relationship Id="rId4" Type="http://schemas.openxmlformats.org/officeDocument/2006/relationships/hyperlink" Target="https://www.kaggle.com/datasets/sayelabualigah/high-quality-financial-news-dataset-for-nlp-tasks?select=dataset.csv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</p:spPr>
        <p:txBody>
          <a:bodyPr>
            <a:normAutofit fontScale="90000"/>
          </a:bodyPr>
          <a:lstStyle/>
          <a:p>
            <a:r>
              <a:rPr lang="en-US" sz="3900" dirty="0"/>
              <a:t>Large-Scale and Multi-Structured Databases</a:t>
            </a:r>
            <a:br>
              <a:rPr lang="en-US" dirty="0"/>
            </a:br>
            <a:r>
              <a:rPr lang="en-US" b="1" i="1" dirty="0"/>
              <a:t>Project Design</a:t>
            </a:r>
            <a:br>
              <a:rPr lang="en-US" b="1" i="1" dirty="0"/>
            </a:br>
            <a:r>
              <a:rPr lang="en-US" b="1" i="1" dirty="0" err="1"/>
              <a:t>MyFuture</a:t>
            </a:r>
            <a:endParaRPr lang="en-US" sz="3300" i="1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Alessandro Diana</a:t>
            </a:r>
          </a:p>
        </p:txBody>
      </p:sp>
    </p:spTree>
    <p:extLst>
      <p:ext uri="{BB962C8B-B14F-4D97-AF65-F5344CB8AC3E}">
        <p14:creationId xmlns:p14="http://schemas.microsoft.com/office/powerpoint/2010/main" val="1621469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33632E-76E6-2A49-A199-3826627DF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Highlights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701C8F0-FB4C-4E4E-804F-9EE05D7441C4}"/>
              </a:ext>
            </a:extLst>
          </p:cNvPr>
          <p:cNvSpPr txBox="1"/>
          <p:nvPr/>
        </p:nvSpPr>
        <p:spPr>
          <a:xfrm>
            <a:off x="424543" y="1404256"/>
            <a:ext cx="83439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MyFuture</a:t>
            </a:r>
            <a:r>
              <a:rPr lang="en-US" dirty="0"/>
              <a:t> is a trading web application that provides access to a wide range of financial assets, including stocks, ETFs, and cryptocurrencies.</a:t>
            </a:r>
            <a:br>
              <a:rPr lang="en-US" dirty="0"/>
            </a:br>
            <a:r>
              <a:rPr lang="en-US" dirty="0"/>
              <a:t>The platform allows users to manage their personal account and investment portfolio, enabling them to view, buy, and sell the available assets directly through the app.</a:t>
            </a:r>
          </a:p>
          <a:p>
            <a:r>
              <a:rPr lang="en-US" dirty="0"/>
              <a:t>Users can track their open positions, transactions, and account balance in real time.</a:t>
            </a:r>
            <a:br>
              <a:rPr lang="en-US" dirty="0"/>
            </a:br>
            <a:r>
              <a:rPr lang="en-US" dirty="0"/>
              <a:t>In addition, </a:t>
            </a:r>
            <a:r>
              <a:rPr lang="en-US" dirty="0" err="1"/>
              <a:t>MyFuture</a:t>
            </a:r>
            <a:r>
              <a:rPr lang="en-US" dirty="0"/>
              <a:t> offers a section dedicated to financial news and market updates, helping users stay informed and make better investment decisions.</a:t>
            </a:r>
          </a:p>
          <a:p>
            <a:endParaRPr lang="en-US" dirty="0"/>
          </a:p>
          <a:p>
            <a:r>
              <a:rPr lang="en-US" dirty="0"/>
              <a:t>Summary: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can browse the assets;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can visualize plot of assets prices;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can buy and sell assets;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can browse the news;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Admin can update, add, or remove assets;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Admin can modify and suspend user accounts.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Admin can calculate analytics.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111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11D8A20-7DC5-3042-A86D-62CF3361A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Actors and Use cases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91F4034-971B-8A4B-888B-5902E8333D6B}"/>
              </a:ext>
            </a:extLst>
          </p:cNvPr>
          <p:cNvSpPr txBox="1"/>
          <p:nvPr/>
        </p:nvSpPr>
        <p:spPr>
          <a:xfrm>
            <a:off x="199462" y="985838"/>
            <a:ext cx="385818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Main actors: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Unregistered User:</a:t>
            </a:r>
            <a:r>
              <a:rPr lang="en-US" dirty="0"/>
              <a:t> can browse the platform and access basic features.</a:t>
            </a:r>
            <a:br>
              <a:rPr lang="en-US" dirty="0"/>
            </a:br>
            <a:r>
              <a:rPr lang="en-US" dirty="0"/>
              <a:t>However, they cannot perform trading actions or manage a personal portfolio.</a:t>
            </a:r>
            <a:br>
              <a:rPr lang="en-US" dirty="0"/>
            </a:b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Registered User:</a:t>
            </a:r>
            <a:r>
              <a:rPr lang="en-US" dirty="0"/>
              <a:t> has full access to the trading functionalities.</a:t>
            </a:r>
            <a:br>
              <a:rPr lang="en-US" dirty="0"/>
            </a:br>
            <a:r>
              <a:rPr lang="en-US" dirty="0"/>
              <a:t>They can view detailed asset data, buy and sell financial assets, manage their portfolio, and track their account balance within the platform.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Admin: </a:t>
            </a:r>
            <a:r>
              <a:rPr lang="en-US" dirty="0"/>
              <a:t>is responsible for managing the platform’s data and users.</a:t>
            </a:r>
          </a:p>
        </p:txBody>
      </p:sp>
      <p:pic>
        <p:nvPicPr>
          <p:cNvPr id="7" name="Immagine 6" descr="Immagine che contiene testo, schermata, diagramma, calligrafia&#10;&#10;Il contenuto generato dall'IA potrebbe non essere corretto.">
            <a:extLst>
              <a:ext uri="{FF2B5EF4-FFF2-40B4-BE49-F238E27FC236}">
                <a16:creationId xmlns:a16="http://schemas.microsoft.com/office/drawing/2014/main" id="{9723441E-0BF3-7457-8B70-F8B576FD4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7650" y="985838"/>
            <a:ext cx="4886888" cy="5126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998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11D8A20-7DC5-3042-A86D-62CF3361A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Mock-ups (0)</a:t>
            </a:r>
          </a:p>
        </p:txBody>
      </p:sp>
      <p:sp>
        <p:nvSpPr>
          <p:cNvPr id="5" name="Titolo 1">
            <a:extLst>
              <a:ext uri="{FF2B5EF4-FFF2-40B4-BE49-F238E27FC236}">
                <a16:creationId xmlns:a16="http://schemas.microsoft.com/office/drawing/2014/main" id="{F03BE28E-3BDB-A2F1-A6A3-D8B73C0941D7}"/>
              </a:ext>
            </a:extLst>
          </p:cNvPr>
          <p:cNvSpPr txBox="1">
            <a:spLocks/>
          </p:cNvSpPr>
          <p:nvPr/>
        </p:nvSpPr>
        <p:spPr>
          <a:xfrm>
            <a:off x="191101" y="2179448"/>
            <a:ext cx="876179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Home page</a:t>
            </a:r>
          </a:p>
        </p:txBody>
      </p:sp>
    </p:spTree>
    <p:extLst>
      <p:ext uri="{BB962C8B-B14F-4D97-AF65-F5344CB8AC3E}">
        <p14:creationId xmlns:p14="http://schemas.microsoft.com/office/powerpoint/2010/main" val="911721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E04EC32B-D648-3412-A6B8-8BCC231F957B}"/>
              </a:ext>
            </a:extLst>
          </p:cNvPr>
          <p:cNvSpPr txBox="1"/>
          <p:nvPr/>
        </p:nvSpPr>
        <p:spPr>
          <a:xfrm>
            <a:off x="461962" y="369947"/>
            <a:ext cx="1847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solidFill>
                  <a:srgbClr val="C00000"/>
                </a:solidFill>
                <a:latin typeface="Arial Nova Light" panose="020B0304020202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MyFuture</a:t>
            </a:r>
            <a:endParaRPr lang="en-US" sz="3200" b="1" dirty="0">
              <a:solidFill>
                <a:srgbClr val="C00000"/>
              </a:solidFill>
              <a:latin typeface="Arial Nova Light" panose="020B030402020202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F53F2A88-0180-400F-A67C-8722EAB326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9922565"/>
              </p:ext>
            </p:extLst>
          </p:nvPr>
        </p:nvGraphicFramePr>
        <p:xfrm>
          <a:off x="2462212" y="476915"/>
          <a:ext cx="2886075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7725">
                  <a:extLst>
                    <a:ext uri="{9D8B030D-6E8A-4147-A177-3AD203B41FA5}">
                      <a16:colId xmlns:a16="http://schemas.microsoft.com/office/drawing/2014/main" val="526149528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151546845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35112089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ova Light" panose="020B0304020202020204" pitchFamily="34" charset="0"/>
                        </a:rPr>
                        <a:t>Trading</a:t>
                      </a:r>
                      <a:endParaRPr lang="en-US" sz="14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ova Light" panose="020B0304020202020204" pitchFamily="34" charset="0"/>
                        <a:ea typeface="DengXian" panose="020B0503020204020204" pitchFamily="2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ova Light" panose="020B0304020202020204" pitchFamily="34" charset="0"/>
                        </a:rPr>
                        <a:t>About us</a:t>
                      </a:r>
                      <a:endParaRPr lang="en-US" sz="14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ova Light" panose="020B0304020202020204" pitchFamily="34" charset="0"/>
                        <a:ea typeface="DengXian" panose="020B0503020204020204" pitchFamily="2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ova Light" panose="020B0304020202020204" pitchFamily="34" charset="0"/>
                        <a:ea typeface="DengXian" panose="020B0503020204020204" pitchFamily="2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77316309"/>
                  </a:ext>
                </a:extLst>
              </a:tr>
            </a:tbl>
          </a:graphicData>
        </a:graphic>
      </p:graphicFrame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372D295D-FFE6-443C-5ED2-8E32052FF996}"/>
              </a:ext>
            </a:extLst>
          </p:cNvPr>
          <p:cNvSpPr/>
          <p:nvPr/>
        </p:nvSpPr>
        <p:spPr>
          <a:xfrm>
            <a:off x="5624512" y="458510"/>
            <a:ext cx="1409700" cy="370840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Arial Nova Light" panose="020B0304020202020204" pitchFamily="34" charset="0"/>
                <a:ea typeface="DengXian" panose="02010600030101010101" pitchFamily="2" charset="-122"/>
              </a:rPr>
              <a:t>Apri un </a:t>
            </a:r>
            <a:r>
              <a:rPr lang="en-US" sz="1200" b="1" dirty="0" err="1">
                <a:latin typeface="Arial Nova Light" panose="020B0304020202020204" pitchFamily="34" charset="0"/>
                <a:ea typeface="DengXian" panose="02010600030101010101" pitchFamily="2" charset="-122"/>
              </a:rPr>
              <a:t>conto</a:t>
            </a:r>
            <a:endParaRPr lang="en-US" sz="1200" b="1" dirty="0">
              <a:latin typeface="Arial Nova Light" panose="020B0304020202020204" pitchFamily="34" charset="0"/>
              <a:ea typeface="DengXian" panose="02010600030101010101" pitchFamily="2" charset="-122"/>
            </a:endParaRP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3690A913-2922-3E68-AA3F-DA2E2D8DBEA9}"/>
              </a:ext>
            </a:extLst>
          </p:cNvPr>
          <p:cNvSpPr/>
          <p:nvPr/>
        </p:nvSpPr>
        <p:spPr>
          <a:xfrm>
            <a:off x="7186612" y="443915"/>
            <a:ext cx="1409700" cy="37084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Arial Nova Light" panose="020B0304020202020204" pitchFamily="34" charset="0"/>
                <a:ea typeface="DengXian" panose="02010600030101010101" pitchFamily="2" charset="-122"/>
              </a:rPr>
              <a:t>Log In</a:t>
            </a:r>
          </a:p>
        </p:txBody>
      </p:sp>
      <p:grpSp>
        <p:nvGrpSpPr>
          <p:cNvPr id="12" name="Gruppo 11">
            <a:extLst>
              <a:ext uri="{FF2B5EF4-FFF2-40B4-BE49-F238E27FC236}">
                <a16:creationId xmlns:a16="http://schemas.microsoft.com/office/drawing/2014/main" id="{4DB945CA-6ECB-A208-88EE-DB1C7BA2CDA9}"/>
              </a:ext>
            </a:extLst>
          </p:cNvPr>
          <p:cNvGrpSpPr/>
          <p:nvPr/>
        </p:nvGrpSpPr>
        <p:grpSpPr>
          <a:xfrm>
            <a:off x="838200" y="1626315"/>
            <a:ext cx="3086100" cy="2246610"/>
            <a:chOff x="838200" y="1626315"/>
            <a:chExt cx="3086100" cy="2246610"/>
          </a:xfrm>
        </p:grpSpPr>
        <p:sp>
          <p:nvSpPr>
            <p:cNvPr id="10" name="Rettangolo con angoli arrotondati 9">
              <a:extLst>
                <a:ext uri="{FF2B5EF4-FFF2-40B4-BE49-F238E27FC236}">
                  <a16:creationId xmlns:a16="http://schemas.microsoft.com/office/drawing/2014/main" id="{95B61C21-98D8-2A31-8858-220BAD24A7EA}"/>
                </a:ext>
              </a:extLst>
            </p:cNvPr>
            <p:cNvSpPr/>
            <p:nvPr/>
          </p:nvSpPr>
          <p:spPr>
            <a:xfrm>
              <a:off x="838200" y="1626315"/>
              <a:ext cx="3086100" cy="2246610"/>
            </a:xfrm>
            <a:prstGeom prst="roundRect">
              <a:avLst>
                <a:gd name="adj" fmla="val 18626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 Nova Light" panose="020B0304020202020204" pitchFamily="34" charset="0"/>
                  <a:ea typeface="DengXian" panose="02010600030101010101" pitchFamily="2" charset="-122"/>
                </a:rPr>
                <a:t>Apri un </a:t>
              </a:r>
              <a:r>
                <a:rPr lang="en-US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 Nova Light" panose="020B0304020202020204" pitchFamily="34" charset="0"/>
                  <a:ea typeface="DengXian" panose="02010600030101010101" pitchFamily="2" charset="-122"/>
                </a:rPr>
                <a:t>conto</a:t>
              </a:r>
              <a:endPara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 panose="020B0304020202020204" pitchFamily="34" charset="0"/>
                <a:ea typeface="DengXian" panose="02010600030101010101" pitchFamily="2" charset="-122"/>
              </a:endParaRPr>
            </a:p>
          </p:txBody>
        </p:sp>
        <p:sp>
          <p:nvSpPr>
            <p:cNvPr id="11" name="Rettangolo con angoli arrotondati 10">
              <a:extLst>
                <a:ext uri="{FF2B5EF4-FFF2-40B4-BE49-F238E27FC236}">
                  <a16:creationId xmlns:a16="http://schemas.microsoft.com/office/drawing/2014/main" id="{5D534BE8-7BF7-B90F-BBD3-51FEC6AF2592}"/>
                </a:ext>
              </a:extLst>
            </p:cNvPr>
            <p:cNvSpPr/>
            <p:nvPr/>
          </p:nvSpPr>
          <p:spPr>
            <a:xfrm>
              <a:off x="838200" y="1626315"/>
              <a:ext cx="3086100" cy="2246610"/>
            </a:xfrm>
            <a:prstGeom prst="roundRect">
              <a:avLst>
                <a:gd name="adj" fmla="val 18626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44000" tIns="324000" bIns="324000" rtlCol="0" anchor="t"/>
            <a:lstStyle/>
            <a:p>
              <a:r>
                <a: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 Nova Light" panose="020B0304020202020204" pitchFamily="34" charset="0"/>
                  <a:ea typeface="DengXian" panose="02010600030101010101" pitchFamily="2" charset="-122"/>
                </a:rPr>
                <a:t>	  </a:t>
              </a:r>
            </a:p>
            <a:p>
              <a:endPara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 panose="020B0304020202020204" pitchFamily="34" charset="0"/>
                <a:ea typeface="DengXian" panose="02010600030101010101" pitchFamily="2" charset="-122"/>
              </a:endParaRPr>
            </a:p>
            <a:p>
              <a:r>
                <a:rPr 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Nova Light" panose="020B0304020202020204" pitchFamily="34" charset="0"/>
                  <a:ea typeface="DengXian" panose="02010600030101010101" pitchFamily="2" charset="-122"/>
                </a:rPr>
                <a:t>Assets</a:t>
              </a:r>
            </a:p>
            <a:p>
              <a:r>
                <a:rPr lang="en-US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 Light" panose="020B0304020202020204" pitchFamily="34" charset="0"/>
                  <a:ea typeface="DengXian" panose="02010600030101010101" pitchFamily="2" charset="-122"/>
                </a:rPr>
                <a:t>Explore a variety of Shares, ETFs and Crypto with real time prices and invest on what you like.</a:t>
              </a:r>
            </a:p>
          </p:txBody>
        </p:sp>
      </p:grp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A686E10C-D833-271E-63AD-6A2944A0A39B}"/>
              </a:ext>
            </a:extLst>
          </p:cNvPr>
          <p:cNvGrpSpPr/>
          <p:nvPr/>
        </p:nvGrpSpPr>
        <p:grpSpPr>
          <a:xfrm>
            <a:off x="1133475" y="2016195"/>
            <a:ext cx="323850" cy="323850"/>
            <a:chOff x="1133475" y="2016195"/>
            <a:chExt cx="323850" cy="323850"/>
          </a:xfrm>
        </p:grpSpPr>
        <p:sp>
          <p:nvSpPr>
            <p:cNvPr id="18" name="Figura a mano libera: forma 17">
              <a:extLst>
                <a:ext uri="{FF2B5EF4-FFF2-40B4-BE49-F238E27FC236}">
                  <a16:creationId xmlns:a16="http://schemas.microsoft.com/office/drawing/2014/main" id="{8CCBEB7A-D481-9246-D406-891208B28722}"/>
                </a:ext>
              </a:extLst>
            </p:cNvPr>
            <p:cNvSpPr/>
            <p:nvPr/>
          </p:nvSpPr>
          <p:spPr>
            <a:xfrm>
              <a:off x="1133475" y="2016195"/>
              <a:ext cx="323850" cy="323850"/>
            </a:xfrm>
            <a:custGeom>
              <a:avLst/>
              <a:gdLst>
                <a:gd name="connsiteX0" fmla="*/ 28575 w 323850"/>
                <a:gd name="connsiteY0" fmla="*/ 0 h 323850"/>
                <a:gd name="connsiteX1" fmla="*/ 0 w 323850"/>
                <a:gd name="connsiteY1" fmla="*/ 0 h 323850"/>
                <a:gd name="connsiteX2" fmla="*/ 0 w 323850"/>
                <a:gd name="connsiteY2" fmla="*/ 323850 h 323850"/>
                <a:gd name="connsiteX3" fmla="*/ 323850 w 323850"/>
                <a:gd name="connsiteY3" fmla="*/ 323850 h 323850"/>
                <a:gd name="connsiteX4" fmla="*/ 323850 w 323850"/>
                <a:gd name="connsiteY4" fmla="*/ 295275 h 323850"/>
                <a:gd name="connsiteX5" fmla="*/ 28575 w 323850"/>
                <a:gd name="connsiteY5" fmla="*/ 295275 h 32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3850" h="323850">
                  <a:moveTo>
                    <a:pt x="28575" y="0"/>
                  </a:moveTo>
                  <a:lnTo>
                    <a:pt x="0" y="0"/>
                  </a:lnTo>
                  <a:lnTo>
                    <a:pt x="0" y="323850"/>
                  </a:lnTo>
                  <a:lnTo>
                    <a:pt x="323850" y="323850"/>
                  </a:lnTo>
                  <a:lnTo>
                    <a:pt x="323850" y="295275"/>
                  </a:lnTo>
                  <a:lnTo>
                    <a:pt x="28575" y="295275"/>
                  </a:ln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igura a mano libera: forma 18">
              <a:extLst>
                <a:ext uri="{FF2B5EF4-FFF2-40B4-BE49-F238E27FC236}">
                  <a16:creationId xmlns:a16="http://schemas.microsoft.com/office/drawing/2014/main" id="{3E69E1FD-69BC-5CE3-5E62-040D901E80D6}"/>
                </a:ext>
              </a:extLst>
            </p:cNvPr>
            <p:cNvSpPr/>
            <p:nvPr/>
          </p:nvSpPr>
          <p:spPr>
            <a:xfrm>
              <a:off x="1190625" y="2116207"/>
              <a:ext cx="52387" cy="166687"/>
            </a:xfrm>
            <a:custGeom>
              <a:avLst/>
              <a:gdLst>
                <a:gd name="connsiteX0" fmla="*/ 0 w 52387"/>
                <a:gd name="connsiteY0" fmla="*/ 0 h 166687"/>
                <a:gd name="connsiteX1" fmla="*/ 52388 w 52387"/>
                <a:gd name="connsiteY1" fmla="*/ 0 h 166687"/>
                <a:gd name="connsiteX2" fmla="*/ 52388 w 52387"/>
                <a:gd name="connsiteY2" fmla="*/ 166688 h 166687"/>
                <a:gd name="connsiteX3" fmla="*/ 0 w 52387"/>
                <a:gd name="connsiteY3" fmla="*/ 166688 h 16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387" h="166687">
                  <a:moveTo>
                    <a:pt x="0" y="0"/>
                  </a:moveTo>
                  <a:lnTo>
                    <a:pt x="52388" y="0"/>
                  </a:lnTo>
                  <a:lnTo>
                    <a:pt x="52388" y="166688"/>
                  </a:lnTo>
                  <a:lnTo>
                    <a:pt x="0" y="166688"/>
                  </a:ln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igura a mano libera: forma 19">
              <a:extLst>
                <a:ext uri="{FF2B5EF4-FFF2-40B4-BE49-F238E27FC236}">
                  <a16:creationId xmlns:a16="http://schemas.microsoft.com/office/drawing/2014/main" id="{A3B4ADD7-B5AF-2572-88EB-CF3185D3F89B}"/>
                </a:ext>
              </a:extLst>
            </p:cNvPr>
            <p:cNvSpPr/>
            <p:nvPr/>
          </p:nvSpPr>
          <p:spPr>
            <a:xfrm>
              <a:off x="1262062" y="2016195"/>
              <a:ext cx="52387" cy="266700"/>
            </a:xfrm>
            <a:custGeom>
              <a:avLst/>
              <a:gdLst>
                <a:gd name="connsiteX0" fmla="*/ 0 w 52387"/>
                <a:gd name="connsiteY0" fmla="*/ 0 h 266700"/>
                <a:gd name="connsiteX1" fmla="*/ 52388 w 52387"/>
                <a:gd name="connsiteY1" fmla="*/ 0 h 266700"/>
                <a:gd name="connsiteX2" fmla="*/ 52388 w 52387"/>
                <a:gd name="connsiteY2" fmla="*/ 266700 h 266700"/>
                <a:gd name="connsiteX3" fmla="*/ 0 w 52387"/>
                <a:gd name="connsiteY3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387" h="266700">
                  <a:moveTo>
                    <a:pt x="0" y="0"/>
                  </a:moveTo>
                  <a:lnTo>
                    <a:pt x="52388" y="0"/>
                  </a:lnTo>
                  <a:lnTo>
                    <a:pt x="52388" y="26670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C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igura a mano libera: forma 20">
              <a:extLst>
                <a:ext uri="{FF2B5EF4-FFF2-40B4-BE49-F238E27FC236}">
                  <a16:creationId xmlns:a16="http://schemas.microsoft.com/office/drawing/2014/main" id="{A42579DB-22CF-F5BC-F1FF-3E82E8B9A8C4}"/>
                </a:ext>
              </a:extLst>
            </p:cNvPr>
            <p:cNvSpPr/>
            <p:nvPr/>
          </p:nvSpPr>
          <p:spPr>
            <a:xfrm>
              <a:off x="1333500" y="2116207"/>
              <a:ext cx="52387" cy="166687"/>
            </a:xfrm>
            <a:custGeom>
              <a:avLst/>
              <a:gdLst>
                <a:gd name="connsiteX0" fmla="*/ 0 w 52387"/>
                <a:gd name="connsiteY0" fmla="*/ 0 h 166687"/>
                <a:gd name="connsiteX1" fmla="*/ 52388 w 52387"/>
                <a:gd name="connsiteY1" fmla="*/ 0 h 166687"/>
                <a:gd name="connsiteX2" fmla="*/ 52388 w 52387"/>
                <a:gd name="connsiteY2" fmla="*/ 166688 h 166687"/>
                <a:gd name="connsiteX3" fmla="*/ 0 w 52387"/>
                <a:gd name="connsiteY3" fmla="*/ 166688 h 16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387" h="166687">
                  <a:moveTo>
                    <a:pt x="0" y="0"/>
                  </a:moveTo>
                  <a:lnTo>
                    <a:pt x="52388" y="0"/>
                  </a:lnTo>
                  <a:lnTo>
                    <a:pt x="52388" y="166688"/>
                  </a:lnTo>
                  <a:lnTo>
                    <a:pt x="0" y="166688"/>
                  </a:ln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igura a mano libera: forma 21">
              <a:extLst>
                <a:ext uri="{FF2B5EF4-FFF2-40B4-BE49-F238E27FC236}">
                  <a16:creationId xmlns:a16="http://schemas.microsoft.com/office/drawing/2014/main" id="{73DDEC27-2CC4-655B-13F0-D379FF9FD511}"/>
                </a:ext>
              </a:extLst>
            </p:cNvPr>
            <p:cNvSpPr/>
            <p:nvPr/>
          </p:nvSpPr>
          <p:spPr>
            <a:xfrm>
              <a:off x="1404937" y="2197170"/>
              <a:ext cx="52387" cy="85725"/>
            </a:xfrm>
            <a:custGeom>
              <a:avLst/>
              <a:gdLst>
                <a:gd name="connsiteX0" fmla="*/ 0 w 52387"/>
                <a:gd name="connsiteY0" fmla="*/ 0 h 85725"/>
                <a:gd name="connsiteX1" fmla="*/ 52388 w 52387"/>
                <a:gd name="connsiteY1" fmla="*/ 0 h 85725"/>
                <a:gd name="connsiteX2" fmla="*/ 52388 w 52387"/>
                <a:gd name="connsiteY2" fmla="*/ 85725 h 85725"/>
                <a:gd name="connsiteX3" fmla="*/ 0 w 52387"/>
                <a:gd name="connsiteY3" fmla="*/ 8572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387" h="85725">
                  <a:moveTo>
                    <a:pt x="0" y="0"/>
                  </a:moveTo>
                  <a:lnTo>
                    <a:pt x="52388" y="0"/>
                  </a:lnTo>
                  <a:lnTo>
                    <a:pt x="52388" y="85725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C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3" name="Gruppo 22">
            <a:extLst>
              <a:ext uri="{FF2B5EF4-FFF2-40B4-BE49-F238E27FC236}">
                <a16:creationId xmlns:a16="http://schemas.microsoft.com/office/drawing/2014/main" id="{67483091-9BCE-85AF-AE91-A5DD28BD06EA}"/>
              </a:ext>
            </a:extLst>
          </p:cNvPr>
          <p:cNvGrpSpPr/>
          <p:nvPr/>
        </p:nvGrpSpPr>
        <p:grpSpPr>
          <a:xfrm>
            <a:off x="5219702" y="1626315"/>
            <a:ext cx="3086100" cy="2246610"/>
            <a:chOff x="838200" y="1626315"/>
            <a:chExt cx="3086100" cy="2246610"/>
          </a:xfrm>
        </p:grpSpPr>
        <p:sp>
          <p:nvSpPr>
            <p:cNvPr id="24" name="Rettangolo con angoli arrotondati 23">
              <a:extLst>
                <a:ext uri="{FF2B5EF4-FFF2-40B4-BE49-F238E27FC236}">
                  <a16:creationId xmlns:a16="http://schemas.microsoft.com/office/drawing/2014/main" id="{F670A879-1705-D08A-D187-E431CFA8F156}"/>
                </a:ext>
              </a:extLst>
            </p:cNvPr>
            <p:cNvSpPr/>
            <p:nvPr/>
          </p:nvSpPr>
          <p:spPr>
            <a:xfrm>
              <a:off x="838200" y="1626315"/>
              <a:ext cx="3086100" cy="2246610"/>
            </a:xfrm>
            <a:prstGeom prst="roundRect">
              <a:avLst>
                <a:gd name="adj" fmla="val 18626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 Nova Light" panose="020B0304020202020204" pitchFamily="34" charset="0"/>
                  <a:ea typeface="DengXian" panose="02010600030101010101" pitchFamily="2" charset="-122"/>
                </a:rPr>
                <a:t>Apri un </a:t>
              </a:r>
              <a:r>
                <a:rPr lang="en-US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 Nova Light" panose="020B0304020202020204" pitchFamily="34" charset="0"/>
                  <a:ea typeface="DengXian" panose="02010600030101010101" pitchFamily="2" charset="-122"/>
                </a:rPr>
                <a:t>conto</a:t>
              </a:r>
              <a:endPara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 panose="020B0304020202020204" pitchFamily="34" charset="0"/>
                <a:ea typeface="DengXian" panose="02010600030101010101" pitchFamily="2" charset="-122"/>
              </a:endParaRPr>
            </a:p>
          </p:txBody>
        </p:sp>
        <p:sp>
          <p:nvSpPr>
            <p:cNvPr id="25" name="Rettangolo con angoli arrotondati 24">
              <a:extLst>
                <a:ext uri="{FF2B5EF4-FFF2-40B4-BE49-F238E27FC236}">
                  <a16:creationId xmlns:a16="http://schemas.microsoft.com/office/drawing/2014/main" id="{753BAD50-1DF9-AE7E-2D67-B644715399BA}"/>
                </a:ext>
              </a:extLst>
            </p:cNvPr>
            <p:cNvSpPr/>
            <p:nvPr/>
          </p:nvSpPr>
          <p:spPr>
            <a:xfrm>
              <a:off x="838200" y="1626315"/>
              <a:ext cx="3086100" cy="2246610"/>
            </a:xfrm>
            <a:prstGeom prst="roundRect">
              <a:avLst>
                <a:gd name="adj" fmla="val 18626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44000" tIns="324000" bIns="324000" rtlCol="0" anchor="t"/>
            <a:lstStyle/>
            <a:p>
              <a:r>
                <a: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 Nova Light" panose="020B0304020202020204" pitchFamily="34" charset="0"/>
                  <a:ea typeface="DengXian" panose="02010600030101010101" pitchFamily="2" charset="-122"/>
                </a:rPr>
                <a:t>	  </a:t>
              </a:r>
            </a:p>
            <a:p>
              <a:endPara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 panose="020B0304020202020204" pitchFamily="34" charset="0"/>
                <a:ea typeface="DengXian" panose="02010600030101010101" pitchFamily="2" charset="-122"/>
              </a:endParaRPr>
            </a:p>
            <a:p>
              <a:r>
                <a:rPr 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Nova Light" panose="020B0304020202020204" pitchFamily="34" charset="0"/>
                  <a:ea typeface="DengXian" panose="02010600030101010101" pitchFamily="2" charset="-122"/>
                </a:rPr>
                <a:t>News</a:t>
              </a:r>
            </a:p>
            <a:p>
              <a:r>
                <a:rPr lang="en-US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 Light" panose="020B0304020202020204" pitchFamily="34" charset="0"/>
                  <a:ea typeface="DengXian" panose="02010600030101010101" pitchFamily="2" charset="-122"/>
                </a:rPr>
                <a:t>Find out the lates news in the market and discover the hottest trends.</a:t>
              </a:r>
            </a:p>
          </p:txBody>
        </p:sp>
      </p:grpSp>
      <p:grpSp>
        <p:nvGrpSpPr>
          <p:cNvPr id="41" name="Gruppo 40">
            <a:extLst>
              <a:ext uri="{FF2B5EF4-FFF2-40B4-BE49-F238E27FC236}">
                <a16:creationId xmlns:a16="http://schemas.microsoft.com/office/drawing/2014/main" id="{0FCE2672-E4B6-02BC-DB70-443846E7C652}"/>
              </a:ext>
            </a:extLst>
          </p:cNvPr>
          <p:cNvGrpSpPr/>
          <p:nvPr/>
        </p:nvGrpSpPr>
        <p:grpSpPr>
          <a:xfrm>
            <a:off x="5490092" y="1993545"/>
            <a:ext cx="312000" cy="316875"/>
            <a:chOff x="5490092" y="1993545"/>
            <a:chExt cx="312000" cy="316875"/>
          </a:xfrm>
        </p:grpSpPr>
        <p:sp>
          <p:nvSpPr>
            <p:cNvPr id="32" name="Figura a mano libera: forma 31">
              <a:extLst>
                <a:ext uri="{FF2B5EF4-FFF2-40B4-BE49-F238E27FC236}">
                  <a16:creationId xmlns:a16="http://schemas.microsoft.com/office/drawing/2014/main" id="{3977A3A5-5DCB-3E2D-5E2E-B2EEFF968E7A}"/>
                </a:ext>
              </a:extLst>
            </p:cNvPr>
            <p:cNvSpPr/>
            <p:nvPr/>
          </p:nvSpPr>
          <p:spPr>
            <a:xfrm>
              <a:off x="5529092" y="2081295"/>
              <a:ext cx="82875" cy="58500"/>
            </a:xfrm>
            <a:custGeom>
              <a:avLst/>
              <a:gdLst>
                <a:gd name="connsiteX0" fmla="*/ 82875 w 82875"/>
                <a:gd name="connsiteY0" fmla="*/ 0 h 58500"/>
                <a:gd name="connsiteX1" fmla="*/ 0 w 82875"/>
                <a:gd name="connsiteY1" fmla="*/ 0 h 58500"/>
                <a:gd name="connsiteX2" fmla="*/ 0 w 82875"/>
                <a:gd name="connsiteY2" fmla="*/ 58500 h 58500"/>
                <a:gd name="connsiteX3" fmla="*/ 82875 w 82875"/>
                <a:gd name="connsiteY3" fmla="*/ 58500 h 58500"/>
                <a:gd name="connsiteX4" fmla="*/ 73125 w 82875"/>
                <a:gd name="connsiteY4" fmla="*/ 48750 h 58500"/>
                <a:gd name="connsiteX5" fmla="*/ 9750 w 82875"/>
                <a:gd name="connsiteY5" fmla="*/ 48750 h 58500"/>
                <a:gd name="connsiteX6" fmla="*/ 9750 w 82875"/>
                <a:gd name="connsiteY6" fmla="*/ 9750 h 58500"/>
                <a:gd name="connsiteX7" fmla="*/ 73125 w 82875"/>
                <a:gd name="connsiteY7" fmla="*/ 9750 h 58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875" h="58500">
                  <a:moveTo>
                    <a:pt x="82875" y="0"/>
                  </a:moveTo>
                  <a:lnTo>
                    <a:pt x="0" y="0"/>
                  </a:lnTo>
                  <a:lnTo>
                    <a:pt x="0" y="58500"/>
                  </a:lnTo>
                  <a:lnTo>
                    <a:pt x="82875" y="58500"/>
                  </a:lnTo>
                  <a:close/>
                  <a:moveTo>
                    <a:pt x="73125" y="48750"/>
                  </a:moveTo>
                  <a:lnTo>
                    <a:pt x="9750" y="48750"/>
                  </a:lnTo>
                  <a:lnTo>
                    <a:pt x="9750" y="9750"/>
                  </a:lnTo>
                  <a:lnTo>
                    <a:pt x="73125" y="9750"/>
                  </a:lnTo>
                  <a:close/>
                </a:path>
              </a:pathLst>
            </a:custGeom>
            <a:solidFill>
              <a:srgbClr val="CC0000"/>
            </a:solidFill>
            <a:ln w="48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igura a mano libera: forma 32">
              <a:extLst>
                <a:ext uri="{FF2B5EF4-FFF2-40B4-BE49-F238E27FC236}">
                  <a16:creationId xmlns:a16="http://schemas.microsoft.com/office/drawing/2014/main" id="{70DA8923-C80F-A1DC-CAEA-A310871626AA}"/>
                </a:ext>
              </a:extLst>
            </p:cNvPr>
            <p:cNvSpPr/>
            <p:nvPr/>
          </p:nvSpPr>
          <p:spPr>
            <a:xfrm>
              <a:off x="5631467" y="2198295"/>
              <a:ext cx="82875" cy="58500"/>
            </a:xfrm>
            <a:custGeom>
              <a:avLst/>
              <a:gdLst>
                <a:gd name="connsiteX0" fmla="*/ 0 w 82875"/>
                <a:gd name="connsiteY0" fmla="*/ 58500 h 58500"/>
                <a:gd name="connsiteX1" fmla="*/ 82875 w 82875"/>
                <a:gd name="connsiteY1" fmla="*/ 58500 h 58500"/>
                <a:gd name="connsiteX2" fmla="*/ 82875 w 82875"/>
                <a:gd name="connsiteY2" fmla="*/ 0 h 58500"/>
                <a:gd name="connsiteX3" fmla="*/ 0 w 82875"/>
                <a:gd name="connsiteY3" fmla="*/ 0 h 58500"/>
                <a:gd name="connsiteX4" fmla="*/ 9750 w 82875"/>
                <a:gd name="connsiteY4" fmla="*/ 9750 h 58500"/>
                <a:gd name="connsiteX5" fmla="*/ 73125 w 82875"/>
                <a:gd name="connsiteY5" fmla="*/ 9750 h 58500"/>
                <a:gd name="connsiteX6" fmla="*/ 73125 w 82875"/>
                <a:gd name="connsiteY6" fmla="*/ 48750 h 58500"/>
                <a:gd name="connsiteX7" fmla="*/ 9750 w 82875"/>
                <a:gd name="connsiteY7" fmla="*/ 48750 h 58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875" h="58500">
                  <a:moveTo>
                    <a:pt x="0" y="58500"/>
                  </a:moveTo>
                  <a:lnTo>
                    <a:pt x="82875" y="58500"/>
                  </a:lnTo>
                  <a:lnTo>
                    <a:pt x="82875" y="0"/>
                  </a:lnTo>
                  <a:lnTo>
                    <a:pt x="0" y="0"/>
                  </a:lnTo>
                  <a:close/>
                  <a:moveTo>
                    <a:pt x="9750" y="9750"/>
                  </a:moveTo>
                  <a:lnTo>
                    <a:pt x="73125" y="9750"/>
                  </a:lnTo>
                  <a:lnTo>
                    <a:pt x="73125" y="48750"/>
                  </a:lnTo>
                  <a:lnTo>
                    <a:pt x="9750" y="48750"/>
                  </a:lnTo>
                  <a:close/>
                </a:path>
              </a:pathLst>
            </a:custGeom>
            <a:solidFill>
              <a:srgbClr val="000000"/>
            </a:solidFill>
            <a:ln w="48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igura a mano libera: forma 33">
              <a:extLst>
                <a:ext uri="{FF2B5EF4-FFF2-40B4-BE49-F238E27FC236}">
                  <a16:creationId xmlns:a16="http://schemas.microsoft.com/office/drawing/2014/main" id="{2F55CC63-FDBE-2DD3-EA05-CC48A8B95F15}"/>
                </a:ext>
              </a:extLst>
            </p:cNvPr>
            <p:cNvSpPr/>
            <p:nvPr/>
          </p:nvSpPr>
          <p:spPr>
            <a:xfrm>
              <a:off x="5529092" y="2047170"/>
              <a:ext cx="185250" cy="9750"/>
            </a:xfrm>
            <a:custGeom>
              <a:avLst/>
              <a:gdLst>
                <a:gd name="connsiteX0" fmla="*/ 0 w 185250"/>
                <a:gd name="connsiteY0" fmla="*/ 0 h 9750"/>
                <a:gd name="connsiteX1" fmla="*/ 185250 w 185250"/>
                <a:gd name="connsiteY1" fmla="*/ 0 h 9750"/>
                <a:gd name="connsiteX2" fmla="*/ 185250 w 185250"/>
                <a:gd name="connsiteY2" fmla="*/ 9750 h 9750"/>
                <a:gd name="connsiteX3" fmla="*/ 0 w 185250"/>
                <a:gd name="connsiteY3" fmla="*/ 9750 h 9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250" h="9750">
                  <a:moveTo>
                    <a:pt x="0" y="0"/>
                  </a:moveTo>
                  <a:lnTo>
                    <a:pt x="185250" y="0"/>
                  </a:lnTo>
                  <a:lnTo>
                    <a:pt x="185250" y="9750"/>
                  </a:lnTo>
                  <a:lnTo>
                    <a:pt x="0" y="9750"/>
                  </a:lnTo>
                  <a:close/>
                </a:path>
              </a:pathLst>
            </a:custGeom>
            <a:solidFill>
              <a:srgbClr val="000000"/>
            </a:solidFill>
            <a:ln w="48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igura a mano libera: forma 34">
              <a:extLst>
                <a:ext uri="{FF2B5EF4-FFF2-40B4-BE49-F238E27FC236}">
                  <a16:creationId xmlns:a16="http://schemas.microsoft.com/office/drawing/2014/main" id="{7F43F331-F45B-CF89-6247-54A934C455DC}"/>
                </a:ext>
              </a:extLst>
            </p:cNvPr>
            <p:cNvSpPr/>
            <p:nvPr/>
          </p:nvSpPr>
          <p:spPr>
            <a:xfrm>
              <a:off x="5529092" y="2164170"/>
              <a:ext cx="185250" cy="9750"/>
            </a:xfrm>
            <a:custGeom>
              <a:avLst/>
              <a:gdLst>
                <a:gd name="connsiteX0" fmla="*/ 0 w 185250"/>
                <a:gd name="connsiteY0" fmla="*/ 0 h 9750"/>
                <a:gd name="connsiteX1" fmla="*/ 185250 w 185250"/>
                <a:gd name="connsiteY1" fmla="*/ 0 h 9750"/>
                <a:gd name="connsiteX2" fmla="*/ 185250 w 185250"/>
                <a:gd name="connsiteY2" fmla="*/ 9750 h 9750"/>
                <a:gd name="connsiteX3" fmla="*/ 0 w 185250"/>
                <a:gd name="connsiteY3" fmla="*/ 9750 h 9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250" h="9750">
                  <a:moveTo>
                    <a:pt x="0" y="0"/>
                  </a:moveTo>
                  <a:lnTo>
                    <a:pt x="185250" y="0"/>
                  </a:lnTo>
                  <a:lnTo>
                    <a:pt x="185250" y="9750"/>
                  </a:lnTo>
                  <a:lnTo>
                    <a:pt x="0" y="9750"/>
                  </a:lnTo>
                  <a:close/>
                </a:path>
              </a:pathLst>
            </a:custGeom>
            <a:solidFill>
              <a:srgbClr val="CC0000"/>
            </a:solidFill>
            <a:ln w="48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igura a mano libera: forma 35">
              <a:extLst>
                <a:ext uri="{FF2B5EF4-FFF2-40B4-BE49-F238E27FC236}">
                  <a16:creationId xmlns:a16="http://schemas.microsoft.com/office/drawing/2014/main" id="{1E29ECEE-2507-E6AC-DB74-89A9CBE884E3}"/>
                </a:ext>
              </a:extLst>
            </p:cNvPr>
            <p:cNvSpPr/>
            <p:nvPr/>
          </p:nvSpPr>
          <p:spPr>
            <a:xfrm>
              <a:off x="5631467" y="2086170"/>
              <a:ext cx="82875" cy="9750"/>
            </a:xfrm>
            <a:custGeom>
              <a:avLst/>
              <a:gdLst>
                <a:gd name="connsiteX0" fmla="*/ 0 w 82875"/>
                <a:gd name="connsiteY0" fmla="*/ 0 h 9750"/>
                <a:gd name="connsiteX1" fmla="*/ 82875 w 82875"/>
                <a:gd name="connsiteY1" fmla="*/ 0 h 9750"/>
                <a:gd name="connsiteX2" fmla="*/ 82875 w 82875"/>
                <a:gd name="connsiteY2" fmla="*/ 9750 h 9750"/>
                <a:gd name="connsiteX3" fmla="*/ 0 w 82875"/>
                <a:gd name="connsiteY3" fmla="*/ 9750 h 9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875" h="9750">
                  <a:moveTo>
                    <a:pt x="0" y="0"/>
                  </a:moveTo>
                  <a:lnTo>
                    <a:pt x="82875" y="0"/>
                  </a:lnTo>
                  <a:lnTo>
                    <a:pt x="82875" y="9750"/>
                  </a:lnTo>
                  <a:lnTo>
                    <a:pt x="0" y="9750"/>
                  </a:lnTo>
                  <a:close/>
                </a:path>
              </a:pathLst>
            </a:custGeom>
            <a:solidFill>
              <a:srgbClr val="000000"/>
            </a:solidFill>
            <a:ln w="48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igura a mano libera: forma 36">
              <a:extLst>
                <a:ext uri="{FF2B5EF4-FFF2-40B4-BE49-F238E27FC236}">
                  <a16:creationId xmlns:a16="http://schemas.microsoft.com/office/drawing/2014/main" id="{36207D9A-49C5-B807-D3B0-2DD0F78C37CD}"/>
                </a:ext>
              </a:extLst>
            </p:cNvPr>
            <p:cNvSpPr/>
            <p:nvPr/>
          </p:nvSpPr>
          <p:spPr>
            <a:xfrm>
              <a:off x="5631467" y="2125170"/>
              <a:ext cx="82875" cy="9750"/>
            </a:xfrm>
            <a:custGeom>
              <a:avLst/>
              <a:gdLst>
                <a:gd name="connsiteX0" fmla="*/ 0 w 82875"/>
                <a:gd name="connsiteY0" fmla="*/ 0 h 9750"/>
                <a:gd name="connsiteX1" fmla="*/ 82875 w 82875"/>
                <a:gd name="connsiteY1" fmla="*/ 0 h 9750"/>
                <a:gd name="connsiteX2" fmla="*/ 82875 w 82875"/>
                <a:gd name="connsiteY2" fmla="*/ 9750 h 9750"/>
                <a:gd name="connsiteX3" fmla="*/ 0 w 82875"/>
                <a:gd name="connsiteY3" fmla="*/ 9750 h 9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875" h="9750">
                  <a:moveTo>
                    <a:pt x="0" y="0"/>
                  </a:moveTo>
                  <a:lnTo>
                    <a:pt x="82875" y="0"/>
                  </a:lnTo>
                  <a:lnTo>
                    <a:pt x="82875" y="9750"/>
                  </a:lnTo>
                  <a:lnTo>
                    <a:pt x="0" y="9750"/>
                  </a:lnTo>
                  <a:close/>
                </a:path>
              </a:pathLst>
            </a:custGeom>
            <a:solidFill>
              <a:srgbClr val="000000"/>
            </a:solidFill>
            <a:ln w="48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igura a mano libera: forma 37">
              <a:extLst>
                <a:ext uri="{FF2B5EF4-FFF2-40B4-BE49-F238E27FC236}">
                  <a16:creationId xmlns:a16="http://schemas.microsoft.com/office/drawing/2014/main" id="{78968A12-D001-5C8A-37B0-83E92C389F14}"/>
                </a:ext>
              </a:extLst>
            </p:cNvPr>
            <p:cNvSpPr/>
            <p:nvPr/>
          </p:nvSpPr>
          <p:spPr>
            <a:xfrm>
              <a:off x="5529092" y="2203170"/>
              <a:ext cx="82874" cy="9750"/>
            </a:xfrm>
            <a:custGeom>
              <a:avLst/>
              <a:gdLst>
                <a:gd name="connsiteX0" fmla="*/ 0 w 82874"/>
                <a:gd name="connsiteY0" fmla="*/ 0 h 9750"/>
                <a:gd name="connsiteX1" fmla="*/ 82875 w 82874"/>
                <a:gd name="connsiteY1" fmla="*/ 0 h 9750"/>
                <a:gd name="connsiteX2" fmla="*/ 82875 w 82874"/>
                <a:gd name="connsiteY2" fmla="*/ 9750 h 9750"/>
                <a:gd name="connsiteX3" fmla="*/ 0 w 82874"/>
                <a:gd name="connsiteY3" fmla="*/ 9750 h 9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874" h="9750">
                  <a:moveTo>
                    <a:pt x="0" y="0"/>
                  </a:moveTo>
                  <a:lnTo>
                    <a:pt x="82875" y="0"/>
                  </a:lnTo>
                  <a:lnTo>
                    <a:pt x="82875" y="9750"/>
                  </a:lnTo>
                  <a:lnTo>
                    <a:pt x="0" y="9750"/>
                  </a:lnTo>
                  <a:close/>
                </a:path>
              </a:pathLst>
            </a:custGeom>
            <a:solidFill>
              <a:srgbClr val="000000"/>
            </a:solidFill>
            <a:ln w="48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igura a mano libera: forma 38">
              <a:extLst>
                <a:ext uri="{FF2B5EF4-FFF2-40B4-BE49-F238E27FC236}">
                  <a16:creationId xmlns:a16="http://schemas.microsoft.com/office/drawing/2014/main" id="{56B1EA3A-EAC0-D27E-7992-2E399ECDB204}"/>
                </a:ext>
              </a:extLst>
            </p:cNvPr>
            <p:cNvSpPr/>
            <p:nvPr/>
          </p:nvSpPr>
          <p:spPr>
            <a:xfrm>
              <a:off x="5529092" y="2242170"/>
              <a:ext cx="82874" cy="9750"/>
            </a:xfrm>
            <a:custGeom>
              <a:avLst/>
              <a:gdLst>
                <a:gd name="connsiteX0" fmla="*/ 0 w 82874"/>
                <a:gd name="connsiteY0" fmla="*/ 0 h 9750"/>
                <a:gd name="connsiteX1" fmla="*/ 82875 w 82874"/>
                <a:gd name="connsiteY1" fmla="*/ 0 h 9750"/>
                <a:gd name="connsiteX2" fmla="*/ 82875 w 82874"/>
                <a:gd name="connsiteY2" fmla="*/ 9750 h 9750"/>
                <a:gd name="connsiteX3" fmla="*/ 0 w 82874"/>
                <a:gd name="connsiteY3" fmla="*/ 9750 h 9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874" h="9750">
                  <a:moveTo>
                    <a:pt x="0" y="0"/>
                  </a:moveTo>
                  <a:lnTo>
                    <a:pt x="82875" y="0"/>
                  </a:lnTo>
                  <a:lnTo>
                    <a:pt x="82875" y="9750"/>
                  </a:lnTo>
                  <a:lnTo>
                    <a:pt x="0" y="9750"/>
                  </a:lnTo>
                  <a:close/>
                </a:path>
              </a:pathLst>
            </a:custGeom>
            <a:solidFill>
              <a:srgbClr val="CC0000"/>
            </a:solidFill>
            <a:ln w="48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igura a mano libera: forma 39">
              <a:extLst>
                <a:ext uri="{FF2B5EF4-FFF2-40B4-BE49-F238E27FC236}">
                  <a16:creationId xmlns:a16="http://schemas.microsoft.com/office/drawing/2014/main" id="{51CC210E-40D0-9B44-FEAC-573191D5B3FC}"/>
                </a:ext>
              </a:extLst>
            </p:cNvPr>
            <p:cNvSpPr/>
            <p:nvPr/>
          </p:nvSpPr>
          <p:spPr>
            <a:xfrm>
              <a:off x="5490092" y="1993545"/>
              <a:ext cx="312000" cy="316875"/>
            </a:xfrm>
            <a:custGeom>
              <a:avLst/>
              <a:gdLst>
                <a:gd name="connsiteX0" fmla="*/ 263250 w 312000"/>
                <a:gd name="connsiteY0" fmla="*/ 29250 h 316875"/>
                <a:gd name="connsiteX1" fmla="*/ 263250 w 312000"/>
                <a:gd name="connsiteY1" fmla="*/ 0 h 316875"/>
                <a:gd name="connsiteX2" fmla="*/ 0 w 312000"/>
                <a:gd name="connsiteY2" fmla="*/ 0 h 316875"/>
                <a:gd name="connsiteX3" fmla="*/ 0 w 312000"/>
                <a:gd name="connsiteY3" fmla="*/ 282750 h 316875"/>
                <a:gd name="connsiteX4" fmla="*/ 34125 w 312000"/>
                <a:gd name="connsiteY4" fmla="*/ 316875 h 316875"/>
                <a:gd name="connsiteX5" fmla="*/ 282750 w 312000"/>
                <a:gd name="connsiteY5" fmla="*/ 316875 h 316875"/>
                <a:gd name="connsiteX6" fmla="*/ 312000 w 312000"/>
                <a:gd name="connsiteY6" fmla="*/ 287625 h 316875"/>
                <a:gd name="connsiteX7" fmla="*/ 312000 w 312000"/>
                <a:gd name="connsiteY7" fmla="*/ 29250 h 316875"/>
                <a:gd name="connsiteX8" fmla="*/ 9750 w 312000"/>
                <a:gd name="connsiteY8" fmla="*/ 282750 h 316875"/>
                <a:gd name="connsiteX9" fmla="*/ 9750 w 312000"/>
                <a:gd name="connsiteY9" fmla="*/ 9750 h 316875"/>
                <a:gd name="connsiteX10" fmla="*/ 253500 w 312000"/>
                <a:gd name="connsiteY10" fmla="*/ 9750 h 316875"/>
                <a:gd name="connsiteX11" fmla="*/ 253500 w 312000"/>
                <a:gd name="connsiteY11" fmla="*/ 287625 h 316875"/>
                <a:gd name="connsiteX12" fmla="*/ 261007 w 312000"/>
                <a:gd name="connsiteY12" fmla="*/ 307125 h 316875"/>
                <a:gd name="connsiteX13" fmla="*/ 34125 w 312000"/>
                <a:gd name="connsiteY13" fmla="*/ 307125 h 316875"/>
                <a:gd name="connsiteX14" fmla="*/ 9750 w 312000"/>
                <a:gd name="connsiteY14" fmla="*/ 282750 h 316875"/>
                <a:gd name="connsiteX15" fmla="*/ 302250 w 312000"/>
                <a:gd name="connsiteY15" fmla="*/ 287625 h 316875"/>
                <a:gd name="connsiteX16" fmla="*/ 282750 w 312000"/>
                <a:gd name="connsiteY16" fmla="*/ 307125 h 316875"/>
                <a:gd name="connsiteX17" fmla="*/ 263250 w 312000"/>
                <a:gd name="connsiteY17" fmla="*/ 287625 h 316875"/>
                <a:gd name="connsiteX18" fmla="*/ 263250 w 312000"/>
                <a:gd name="connsiteY18" fmla="*/ 39000 h 316875"/>
                <a:gd name="connsiteX19" fmla="*/ 302250 w 312000"/>
                <a:gd name="connsiteY19" fmla="*/ 39000 h 31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12000" h="316875">
                  <a:moveTo>
                    <a:pt x="263250" y="29250"/>
                  </a:moveTo>
                  <a:lnTo>
                    <a:pt x="263250" y="0"/>
                  </a:lnTo>
                  <a:lnTo>
                    <a:pt x="0" y="0"/>
                  </a:lnTo>
                  <a:lnTo>
                    <a:pt x="0" y="282750"/>
                  </a:lnTo>
                  <a:cubicBezTo>
                    <a:pt x="21" y="301588"/>
                    <a:pt x="15287" y="316854"/>
                    <a:pt x="34125" y="316875"/>
                  </a:cubicBezTo>
                  <a:lnTo>
                    <a:pt x="282750" y="316875"/>
                  </a:lnTo>
                  <a:cubicBezTo>
                    <a:pt x="298897" y="316856"/>
                    <a:pt x="311981" y="303772"/>
                    <a:pt x="312000" y="287625"/>
                  </a:cubicBezTo>
                  <a:lnTo>
                    <a:pt x="312000" y="29250"/>
                  </a:lnTo>
                  <a:close/>
                  <a:moveTo>
                    <a:pt x="9750" y="282750"/>
                  </a:moveTo>
                  <a:lnTo>
                    <a:pt x="9750" y="9750"/>
                  </a:lnTo>
                  <a:lnTo>
                    <a:pt x="253500" y="9750"/>
                  </a:lnTo>
                  <a:lnTo>
                    <a:pt x="253500" y="287625"/>
                  </a:lnTo>
                  <a:cubicBezTo>
                    <a:pt x="253502" y="294830"/>
                    <a:pt x="256177" y="301779"/>
                    <a:pt x="261007" y="307125"/>
                  </a:cubicBezTo>
                  <a:lnTo>
                    <a:pt x="34125" y="307125"/>
                  </a:lnTo>
                  <a:cubicBezTo>
                    <a:pt x="20670" y="307109"/>
                    <a:pt x="9766" y="296206"/>
                    <a:pt x="9750" y="282750"/>
                  </a:cubicBezTo>
                  <a:close/>
                  <a:moveTo>
                    <a:pt x="302250" y="287625"/>
                  </a:moveTo>
                  <a:cubicBezTo>
                    <a:pt x="302250" y="298394"/>
                    <a:pt x="293519" y="307125"/>
                    <a:pt x="282750" y="307125"/>
                  </a:cubicBezTo>
                  <a:cubicBezTo>
                    <a:pt x="271981" y="307125"/>
                    <a:pt x="263250" y="298394"/>
                    <a:pt x="263250" y="287625"/>
                  </a:cubicBezTo>
                  <a:lnTo>
                    <a:pt x="263250" y="39000"/>
                  </a:lnTo>
                  <a:lnTo>
                    <a:pt x="302250" y="39000"/>
                  </a:lnTo>
                  <a:close/>
                </a:path>
              </a:pathLst>
            </a:custGeom>
            <a:solidFill>
              <a:srgbClr val="000000"/>
            </a:solidFill>
            <a:ln w="48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47" name="Elemento grafico 46" descr="Lente di ingrandimento contorno">
            <a:extLst>
              <a:ext uri="{FF2B5EF4-FFF2-40B4-BE49-F238E27FC236}">
                <a16:creationId xmlns:a16="http://schemas.microsoft.com/office/drawing/2014/main" id="{C9612107-6647-6484-962C-755D75C012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33962" y="557558"/>
            <a:ext cx="209552" cy="209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062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A58E0-0C4E-3EB2-6BE3-0145D5802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EE3253-B3A0-74D2-987F-CF9FDF298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Mock-ups (1)</a:t>
            </a:r>
          </a:p>
        </p:txBody>
      </p:sp>
      <p:sp>
        <p:nvSpPr>
          <p:cNvPr id="5" name="Titolo 1">
            <a:extLst>
              <a:ext uri="{FF2B5EF4-FFF2-40B4-BE49-F238E27FC236}">
                <a16:creationId xmlns:a16="http://schemas.microsoft.com/office/drawing/2014/main" id="{7C8C6160-D696-11A7-69D7-5F5F10C3C904}"/>
              </a:ext>
            </a:extLst>
          </p:cNvPr>
          <p:cNvSpPr txBox="1">
            <a:spLocks/>
          </p:cNvSpPr>
          <p:nvPr/>
        </p:nvSpPr>
        <p:spPr>
          <a:xfrm>
            <a:off x="191101" y="2179448"/>
            <a:ext cx="876179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Wallet Overview</a:t>
            </a:r>
          </a:p>
        </p:txBody>
      </p:sp>
    </p:spTree>
    <p:extLst>
      <p:ext uri="{BB962C8B-B14F-4D97-AF65-F5344CB8AC3E}">
        <p14:creationId xmlns:p14="http://schemas.microsoft.com/office/powerpoint/2010/main" val="663323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lemento grafico 6" descr="Lente di ingrandimento contorno">
            <a:extLst>
              <a:ext uri="{FF2B5EF4-FFF2-40B4-BE49-F238E27FC236}">
                <a16:creationId xmlns:a16="http://schemas.microsoft.com/office/drawing/2014/main" id="{1D196C7A-767B-D1D8-DDF8-B68BAB2C00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27622" y="716750"/>
            <a:ext cx="209552" cy="209552"/>
          </a:xfrm>
          <a:prstGeom prst="rect">
            <a:avLst/>
          </a:prstGeom>
        </p:spPr>
      </p:pic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63D9D86A-BF04-ACD5-318B-057AE9AC67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1473473"/>
              </p:ext>
            </p:extLst>
          </p:nvPr>
        </p:nvGraphicFramePr>
        <p:xfrm>
          <a:off x="468461" y="2354737"/>
          <a:ext cx="8134350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5017">
                  <a:extLst>
                    <a:ext uri="{9D8B030D-6E8A-4147-A177-3AD203B41FA5}">
                      <a16:colId xmlns:a16="http://schemas.microsoft.com/office/drawing/2014/main" val="1698010719"/>
                    </a:ext>
                  </a:extLst>
                </a:gridCol>
                <a:gridCol w="1330556">
                  <a:extLst>
                    <a:ext uri="{9D8B030D-6E8A-4147-A177-3AD203B41FA5}">
                      <a16:colId xmlns:a16="http://schemas.microsoft.com/office/drawing/2014/main" val="2895983903"/>
                    </a:ext>
                  </a:extLst>
                </a:gridCol>
                <a:gridCol w="884864">
                  <a:extLst>
                    <a:ext uri="{9D8B030D-6E8A-4147-A177-3AD203B41FA5}">
                      <a16:colId xmlns:a16="http://schemas.microsoft.com/office/drawing/2014/main" val="3353183135"/>
                    </a:ext>
                  </a:extLst>
                </a:gridCol>
                <a:gridCol w="810237">
                  <a:extLst>
                    <a:ext uri="{9D8B030D-6E8A-4147-A177-3AD203B41FA5}">
                      <a16:colId xmlns:a16="http://schemas.microsoft.com/office/drawing/2014/main" val="2831039483"/>
                    </a:ext>
                  </a:extLst>
                </a:gridCol>
                <a:gridCol w="820898">
                  <a:extLst>
                    <a:ext uri="{9D8B030D-6E8A-4147-A177-3AD203B41FA5}">
                      <a16:colId xmlns:a16="http://schemas.microsoft.com/office/drawing/2014/main" val="24059853"/>
                    </a:ext>
                  </a:extLst>
                </a:gridCol>
                <a:gridCol w="959492">
                  <a:extLst>
                    <a:ext uri="{9D8B030D-6E8A-4147-A177-3AD203B41FA5}">
                      <a16:colId xmlns:a16="http://schemas.microsoft.com/office/drawing/2014/main" val="3657305502"/>
                    </a:ext>
                  </a:extLst>
                </a:gridCol>
                <a:gridCol w="650321">
                  <a:extLst>
                    <a:ext uri="{9D8B030D-6E8A-4147-A177-3AD203B41FA5}">
                      <a16:colId xmlns:a16="http://schemas.microsoft.com/office/drawing/2014/main" val="855564020"/>
                    </a:ext>
                  </a:extLst>
                </a:gridCol>
                <a:gridCol w="692965">
                  <a:extLst>
                    <a:ext uri="{9D8B030D-6E8A-4147-A177-3AD203B41FA5}">
                      <a16:colId xmlns:a16="http://schemas.microsoft.com/office/drawing/2014/main" val="17041715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 Nova Light" panose="020B0304020202020204" pitchFamily="34" charset="0"/>
                        </a:rPr>
                        <a:t>PRODUCT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 Nova Light" panose="020B0304020202020204" pitchFamily="34" charset="0"/>
                        </a:rPr>
                        <a:t>SYMBOL|ISIN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 Nova Light" panose="020B0304020202020204" pitchFamily="34" charset="0"/>
                        </a:rPr>
                        <a:t>QTY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 Nova Light" panose="020B0304020202020204" pitchFamily="34" charset="0"/>
                        </a:rPr>
                        <a:t>PRICE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 Nova Light" panose="020B0304020202020204" pitchFamily="34" charset="0"/>
                        </a:rPr>
                        <a:t>CURR.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 Nova Light" panose="020B0304020202020204" pitchFamily="34" charset="0"/>
                        </a:rPr>
                        <a:t>VALUE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 Nova Light" panose="020B0304020202020204" pitchFamily="34" charset="0"/>
                        </a:rPr>
                        <a:t>BEP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 Nova Light" panose="020B0304020202020204" pitchFamily="34" charset="0"/>
                        </a:rPr>
                        <a:t>P/L $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0789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Tesla, Inc.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TSLA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10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$447,86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USD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4470,6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430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accent3"/>
                          </a:solidFill>
                          <a:latin typeface="Arial Nova Light" panose="020B0304020202020204" pitchFamily="34" charset="0"/>
                        </a:rPr>
                        <a:t>+6,8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76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NVIDIA </a:t>
                      </a:r>
                    </a:p>
                    <a:p>
                      <a:pPr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Corporation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NVDA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50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$196,85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USD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9842,5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200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C00000"/>
                          </a:solidFill>
                          <a:latin typeface="Arial Nova Light" panose="020B0304020202020204" pitchFamily="34" charset="0"/>
                        </a:rPr>
                        <a:t>-35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6309220"/>
                  </a:ext>
                </a:extLst>
              </a:tr>
            </a:tbl>
          </a:graphicData>
        </a:graphic>
      </p:graphicFrame>
      <p:grpSp>
        <p:nvGrpSpPr>
          <p:cNvPr id="21" name="Gruppo 20">
            <a:extLst>
              <a:ext uri="{FF2B5EF4-FFF2-40B4-BE49-F238E27FC236}">
                <a16:creationId xmlns:a16="http://schemas.microsoft.com/office/drawing/2014/main" id="{35E84534-D589-BBC2-9503-5E8E2C09D6B4}"/>
              </a:ext>
            </a:extLst>
          </p:cNvPr>
          <p:cNvGrpSpPr/>
          <p:nvPr/>
        </p:nvGrpSpPr>
        <p:grpSpPr>
          <a:xfrm>
            <a:off x="1362075" y="3133326"/>
            <a:ext cx="848138" cy="223202"/>
            <a:chOff x="1853641" y="3716179"/>
            <a:chExt cx="877138" cy="223202"/>
          </a:xfrm>
        </p:grpSpPr>
        <p:sp>
          <p:nvSpPr>
            <p:cNvPr id="9" name="Rettangolo con angoli arrotondati 8">
              <a:extLst>
                <a:ext uri="{FF2B5EF4-FFF2-40B4-BE49-F238E27FC236}">
                  <a16:creationId xmlns:a16="http://schemas.microsoft.com/office/drawing/2014/main" id="{C523E03F-1C90-AAB3-8670-ED71BC6BC316}"/>
                </a:ext>
              </a:extLst>
            </p:cNvPr>
            <p:cNvSpPr/>
            <p:nvPr/>
          </p:nvSpPr>
          <p:spPr>
            <a:xfrm>
              <a:off x="1853641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rial Nova Light" panose="020B0304020202020204" pitchFamily="34" charset="0"/>
                  <a:ea typeface="DengXian" panose="02010600030101010101" pitchFamily="2" charset="-122"/>
                </a:rPr>
                <a:t>B</a:t>
              </a:r>
            </a:p>
          </p:txBody>
        </p:sp>
        <p:sp>
          <p:nvSpPr>
            <p:cNvPr id="10" name="Rettangolo con angoli arrotondati 9">
              <a:extLst>
                <a:ext uri="{FF2B5EF4-FFF2-40B4-BE49-F238E27FC236}">
                  <a16:creationId xmlns:a16="http://schemas.microsoft.com/office/drawing/2014/main" id="{7EB8C89D-B6E9-A6EC-892B-BA9B8F7F5451}"/>
                </a:ext>
              </a:extLst>
            </p:cNvPr>
            <p:cNvSpPr/>
            <p:nvPr/>
          </p:nvSpPr>
          <p:spPr>
            <a:xfrm>
              <a:off x="2146021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rial Nova Light" panose="020B0304020202020204" pitchFamily="34" charset="0"/>
                  <a:ea typeface="DengXian" panose="02010600030101010101" pitchFamily="2" charset="-122"/>
                </a:rPr>
                <a:t>S</a:t>
              </a:r>
            </a:p>
          </p:txBody>
        </p:sp>
        <p:sp>
          <p:nvSpPr>
            <p:cNvPr id="13" name="Rettangolo con angoli arrotondati 12">
              <a:extLst>
                <a:ext uri="{FF2B5EF4-FFF2-40B4-BE49-F238E27FC236}">
                  <a16:creationId xmlns:a16="http://schemas.microsoft.com/office/drawing/2014/main" id="{87F0BDED-47E6-CF44-C104-89A722F3E613}"/>
                </a:ext>
              </a:extLst>
            </p:cNvPr>
            <p:cNvSpPr/>
            <p:nvPr/>
          </p:nvSpPr>
          <p:spPr>
            <a:xfrm>
              <a:off x="2438400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b="1" dirty="0">
                <a:latin typeface="Arial Nova Light" panose="020B0304020202020204" pitchFamily="34" charset="0"/>
                <a:ea typeface="DengXian" panose="02010600030101010101" pitchFamily="2" charset="-122"/>
              </a:endParaRPr>
            </a:p>
          </p:txBody>
        </p: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2FF47026-F930-D15E-5380-6F7592065824}"/>
                </a:ext>
              </a:extLst>
            </p:cNvPr>
            <p:cNvGrpSpPr/>
            <p:nvPr/>
          </p:nvGrpSpPr>
          <p:grpSpPr>
            <a:xfrm>
              <a:off x="2501245" y="3744436"/>
              <a:ext cx="166687" cy="166687"/>
              <a:chOff x="2224088" y="3014663"/>
              <a:chExt cx="647700" cy="647700"/>
            </a:xfrm>
          </p:grpSpPr>
          <p:sp>
            <p:nvSpPr>
              <p:cNvPr id="17" name="Figura a mano libera: forma 16">
                <a:extLst>
                  <a:ext uri="{FF2B5EF4-FFF2-40B4-BE49-F238E27FC236}">
                    <a16:creationId xmlns:a16="http://schemas.microsoft.com/office/drawing/2014/main" id="{FF0E1EDC-52B6-32FC-D446-EFEEBC224586}"/>
                  </a:ext>
                </a:extLst>
              </p:cNvPr>
              <p:cNvSpPr/>
              <p:nvPr/>
            </p:nvSpPr>
            <p:spPr>
              <a:xfrm>
                <a:off x="2224088" y="3014663"/>
                <a:ext cx="647700" cy="647700"/>
              </a:xfrm>
              <a:custGeom>
                <a:avLst/>
                <a:gdLst>
                  <a:gd name="connsiteX0" fmla="*/ 57150 w 647700"/>
                  <a:gd name="connsiteY0" fmla="*/ 0 h 647700"/>
                  <a:gd name="connsiteX1" fmla="*/ 0 w 647700"/>
                  <a:gd name="connsiteY1" fmla="*/ 0 h 647700"/>
                  <a:gd name="connsiteX2" fmla="*/ 0 w 647700"/>
                  <a:gd name="connsiteY2" fmla="*/ 647700 h 647700"/>
                  <a:gd name="connsiteX3" fmla="*/ 647700 w 647700"/>
                  <a:gd name="connsiteY3" fmla="*/ 647700 h 647700"/>
                  <a:gd name="connsiteX4" fmla="*/ 647700 w 647700"/>
                  <a:gd name="connsiteY4" fmla="*/ 590550 h 647700"/>
                  <a:gd name="connsiteX5" fmla="*/ 57150 w 647700"/>
                  <a:gd name="connsiteY5" fmla="*/ 590550 h 647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7700" h="647700">
                    <a:moveTo>
                      <a:pt x="57150" y="0"/>
                    </a:moveTo>
                    <a:lnTo>
                      <a:pt x="0" y="0"/>
                    </a:lnTo>
                    <a:lnTo>
                      <a:pt x="0" y="647700"/>
                    </a:lnTo>
                    <a:lnTo>
                      <a:pt x="647700" y="647700"/>
                    </a:lnTo>
                    <a:lnTo>
                      <a:pt x="647700" y="590550"/>
                    </a:lnTo>
                    <a:lnTo>
                      <a:pt x="57150" y="59055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igura a mano libera: forma 17">
                <a:extLst>
                  <a:ext uri="{FF2B5EF4-FFF2-40B4-BE49-F238E27FC236}">
                    <a16:creationId xmlns:a16="http://schemas.microsoft.com/office/drawing/2014/main" id="{4C9C5D13-0216-CD96-0D3C-3F4452102E95}"/>
                  </a:ext>
                </a:extLst>
              </p:cNvPr>
              <p:cNvSpPr/>
              <p:nvPr/>
            </p:nvSpPr>
            <p:spPr>
              <a:xfrm>
                <a:off x="2318385" y="3176588"/>
                <a:ext cx="553402" cy="324802"/>
              </a:xfrm>
              <a:custGeom>
                <a:avLst/>
                <a:gdLst>
                  <a:gd name="connsiteX0" fmla="*/ 401003 w 553402"/>
                  <a:gd name="connsiteY0" fmla="*/ 0 h 324802"/>
                  <a:gd name="connsiteX1" fmla="*/ 457200 w 553402"/>
                  <a:gd name="connsiteY1" fmla="*/ 56198 h 324802"/>
                  <a:gd name="connsiteX2" fmla="*/ 381953 w 553402"/>
                  <a:gd name="connsiteY2" fmla="*/ 131445 h 324802"/>
                  <a:gd name="connsiteX3" fmla="*/ 324803 w 553402"/>
                  <a:gd name="connsiteY3" fmla="*/ 74295 h 324802"/>
                  <a:gd name="connsiteX4" fmla="*/ 229553 w 553402"/>
                  <a:gd name="connsiteY4" fmla="*/ 169545 h 324802"/>
                  <a:gd name="connsiteX5" fmla="*/ 172403 w 553402"/>
                  <a:gd name="connsiteY5" fmla="*/ 112395 h 324802"/>
                  <a:gd name="connsiteX6" fmla="*/ 0 w 553402"/>
                  <a:gd name="connsiteY6" fmla="*/ 284798 h 324802"/>
                  <a:gd name="connsiteX7" fmla="*/ 40005 w 553402"/>
                  <a:gd name="connsiteY7" fmla="*/ 324803 h 324802"/>
                  <a:gd name="connsiteX8" fmla="*/ 172403 w 553402"/>
                  <a:gd name="connsiteY8" fmla="*/ 192405 h 324802"/>
                  <a:gd name="connsiteX9" fmla="*/ 229553 w 553402"/>
                  <a:gd name="connsiteY9" fmla="*/ 249555 h 324802"/>
                  <a:gd name="connsiteX10" fmla="*/ 324803 w 553402"/>
                  <a:gd name="connsiteY10" fmla="*/ 154305 h 324802"/>
                  <a:gd name="connsiteX11" fmla="*/ 381953 w 553402"/>
                  <a:gd name="connsiteY11" fmla="*/ 211455 h 324802"/>
                  <a:gd name="connsiteX12" fmla="*/ 497205 w 553402"/>
                  <a:gd name="connsiteY12" fmla="*/ 96202 h 324802"/>
                  <a:gd name="connsiteX13" fmla="*/ 553403 w 553402"/>
                  <a:gd name="connsiteY13" fmla="*/ 152400 h 324802"/>
                  <a:gd name="connsiteX14" fmla="*/ 553403 w 553402"/>
                  <a:gd name="connsiteY14" fmla="*/ 0 h 3248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53402" h="324802">
                    <a:moveTo>
                      <a:pt x="401003" y="0"/>
                    </a:moveTo>
                    <a:lnTo>
                      <a:pt x="457200" y="56198"/>
                    </a:lnTo>
                    <a:lnTo>
                      <a:pt x="381953" y="131445"/>
                    </a:lnTo>
                    <a:lnTo>
                      <a:pt x="324803" y="74295"/>
                    </a:lnTo>
                    <a:lnTo>
                      <a:pt x="229553" y="169545"/>
                    </a:lnTo>
                    <a:lnTo>
                      <a:pt x="172403" y="112395"/>
                    </a:lnTo>
                    <a:lnTo>
                      <a:pt x="0" y="284798"/>
                    </a:lnTo>
                    <a:lnTo>
                      <a:pt x="40005" y="324803"/>
                    </a:lnTo>
                    <a:lnTo>
                      <a:pt x="172403" y="192405"/>
                    </a:lnTo>
                    <a:lnTo>
                      <a:pt x="229553" y="249555"/>
                    </a:lnTo>
                    <a:lnTo>
                      <a:pt x="324803" y="154305"/>
                    </a:lnTo>
                    <a:lnTo>
                      <a:pt x="381953" y="211455"/>
                    </a:lnTo>
                    <a:lnTo>
                      <a:pt x="497205" y="96202"/>
                    </a:lnTo>
                    <a:lnTo>
                      <a:pt x="553403" y="152400"/>
                    </a:lnTo>
                    <a:lnTo>
                      <a:pt x="553403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22" name="Gruppo 21">
            <a:extLst>
              <a:ext uri="{FF2B5EF4-FFF2-40B4-BE49-F238E27FC236}">
                <a16:creationId xmlns:a16="http://schemas.microsoft.com/office/drawing/2014/main" id="{10617C0B-CDBB-7518-F007-9BFDB164DEF6}"/>
              </a:ext>
            </a:extLst>
          </p:cNvPr>
          <p:cNvGrpSpPr/>
          <p:nvPr/>
        </p:nvGrpSpPr>
        <p:grpSpPr>
          <a:xfrm>
            <a:off x="1362075" y="2799396"/>
            <a:ext cx="848138" cy="223202"/>
            <a:chOff x="1853641" y="3716179"/>
            <a:chExt cx="877138" cy="223202"/>
          </a:xfrm>
        </p:grpSpPr>
        <p:sp>
          <p:nvSpPr>
            <p:cNvPr id="23" name="Rettangolo con angoli arrotondati 22">
              <a:extLst>
                <a:ext uri="{FF2B5EF4-FFF2-40B4-BE49-F238E27FC236}">
                  <a16:creationId xmlns:a16="http://schemas.microsoft.com/office/drawing/2014/main" id="{64B874B1-4F34-1FAF-8BFC-97623F86F2E9}"/>
                </a:ext>
              </a:extLst>
            </p:cNvPr>
            <p:cNvSpPr/>
            <p:nvPr/>
          </p:nvSpPr>
          <p:spPr>
            <a:xfrm>
              <a:off x="1853641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rial Nova Light" panose="020B0304020202020204" pitchFamily="34" charset="0"/>
                  <a:ea typeface="DengXian" panose="02010600030101010101" pitchFamily="2" charset="-122"/>
                </a:rPr>
                <a:t>B</a:t>
              </a:r>
            </a:p>
          </p:txBody>
        </p:sp>
        <p:sp>
          <p:nvSpPr>
            <p:cNvPr id="24" name="Rettangolo con angoli arrotondati 23">
              <a:extLst>
                <a:ext uri="{FF2B5EF4-FFF2-40B4-BE49-F238E27FC236}">
                  <a16:creationId xmlns:a16="http://schemas.microsoft.com/office/drawing/2014/main" id="{61B8C63F-C76B-1347-7994-261A85FA2959}"/>
                </a:ext>
              </a:extLst>
            </p:cNvPr>
            <p:cNvSpPr/>
            <p:nvPr/>
          </p:nvSpPr>
          <p:spPr>
            <a:xfrm>
              <a:off x="2146021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rial Nova Light" panose="020B0304020202020204" pitchFamily="34" charset="0"/>
                  <a:ea typeface="DengXian" panose="02010600030101010101" pitchFamily="2" charset="-122"/>
                </a:rPr>
                <a:t>S</a:t>
              </a:r>
            </a:p>
          </p:txBody>
        </p:sp>
        <p:sp>
          <p:nvSpPr>
            <p:cNvPr id="25" name="Rettangolo con angoli arrotondati 24">
              <a:extLst>
                <a:ext uri="{FF2B5EF4-FFF2-40B4-BE49-F238E27FC236}">
                  <a16:creationId xmlns:a16="http://schemas.microsoft.com/office/drawing/2014/main" id="{8AFA37E9-C6AF-552E-83AD-261B54729876}"/>
                </a:ext>
              </a:extLst>
            </p:cNvPr>
            <p:cNvSpPr/>
            <p:nvPr/>
          </p:nvSpPr>
          <p:spPr>
            <a:xfrm>
              <a:off x="2438400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b="1" dirty="0">
                <a:latin typeface="Arial Nova Light" panose="020B0304020202020204" pitchFamily="34" charset="0"/>
                <a:ea typeface="DengXian" panose="02010600030101010101" pitchFamily="2" charset="-122"/>
              </a:endParaRPr>
            </a:p>
          </p:txBody>
        </p:sp>
        <p:grpSp>
          <p:nvGrpSpPr>
            <p:cNvPr id="26" name="Gruppo 25">
              <a:extLst>
                <a:ext uri="{FF2B5EF4-FFF2-40B4-BE49-F238E27FC236}">
                  <a16:creationId xmlns:a16="http://schemas.microsoft.com/office/drawing/2014/main" id="{A939717C-334C-5A34-BF8C-6CAEDAAACBC1}"/>
                </a:ext>
              </a:extLst>
            </p:cNvPr>
            <p:cNvGrpSpPr/>
            <p:nvPr/>
          </p:nvGrpSpPr>
          <p:grpSpPr>
            <a:xfrm>
              <a:off x="2501245" y="3744436"/>
              <a:ext cx="166687" cy="166687"/>
              <a:chOff x="2224088" y="3014663"/>
              <a:chExt cx="647700" cy="647700"/>
            </a:xfrm>
          </p:grpSpPr>
          <p:sp>
            <p:nvSpPr>
              <p:cNvPr id="27" name="Figura a mano libera: forma 26">
                <a:extLst>
                  <a:ext uri="{FF2B5EF4-FFF2-40B4-BE49-F238E27FC236}">
                    <a16:creationId xmlns:a16="http://schemas.microsoft.com/office/drawing/2014/main" id="{D9A85458-F9DB-1D7E-23EF-6D606131F8E0}"/>
                  </a:ext>
                </a:extLst>
              </p:cNvPr>
              <p:cNvSpPr/>
              <p:nvPr/>
            </p:nvSpPr>
            <p:spPr>
              <a:xfrm>
                <a:off x="2224088" y="3014663"/>
                <a:ext cx="647700" cy="647700"/>
              </a:xfrm>
              <a:custGeom>
                <a:avLst/>
                <a:gdLst>
                  <a:gd name="connsiteX0" fmla="*/ 57150 w 647700"/>
                  <a:gd name="connsiteY0" fmla="*/ 0 h 647700"/>
                  <a:gd name="connsiteX1" fmla="*/ 0 w 647700"/>
                  <a:gd name="connsiteY1" fmla="*/ 0 h 647700"/>
                  <a:gd name="connsiteX2" fmla="*/ 0 w 647700"/>
                  <a:gd name="connsiteY2" fmla="*/ 647700 h 647700"/>
                  <a:gd name="connsiteX3" fmla="*/ 647700 w 647700"/>
                  <a:gd name="connsiteY3" fmla="*/ 647700 h 647700"/>
                  <a:gd name="connsiteX4" fmla="*/ 647700 w 647700"/>
                  <a:gd name="connsiteY4" fmla="*/ 590550 h 647700"/>
                  <a:gd name="connsiteX5" fmla="*/ 57150 w 647700"/>
                  <a:gd name="connsiteY5" fmla="*/ 590550 h 647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7700" h="647700">
                    <a:moveTo>
                      <a:pt x="57150" y="0"/>
                    </a:moveTo>
                    <a:lnTo>
                      <a:pt x="0" y="0"/>
                    </a:lnTo>
                    <a:lnTo>
                      <a:pt x="0" y="647700"/>
                    </a:lnTo>
                    <a:lnTo>
                      <a:pt x="647700" y="647700"/>
                    </a:lnTo>
                    <a:lnTo>
                      <a:pt x="647700" y="590550"/>
                    </a:lnTo>
                    <a:lnTo>
                      <a:pt x="57150" y="59055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igura a mano libera: forma 27">
                <a:extLst>
                  <a:ext uri="{FF2B5EF4-FFF2-40B4-BE49-F238E27FC236}">
                    <a16:creationId xmlns:a16="http://schemas.microsoft.com/office/drawing/2014/main" id="{EA45E2EC-3F36-B801-8A0B-128105450D9B}"/>
                  </a:ext>
                </a:extLst>
              </p:cNvPr>
              <p:cNvSpPr/>
              <p:nvPr/>
            </p:nvSpPr>
            <p:spPr>
              <a:xfrm>
                <a:off x="2318385" y="3176588"/>
                <a:ext cx="553402" cy="324802"/>
              </a:xfrm>
              <a:custGeom>
                <a:avLst/>
                <a:gdLst>
                  <a:gd name="connsiteX0" fmla="*/ 401003 w 553402"/>
                  <a:gd name="connsiteY0" fmla="*/ 0 h 324802"/>
                  <a:gd name="connsiteX1" fmla="*/ 457200 w 553402"/>
                  <a:gd name="connsiteY1" fmla="*/ 56198 h 324802"/>
                  <a:gd name="connsiteX2" fmla="*/ 381953 w 553402"/>
                  <a:gd name="connsiteY2" fmla="*/ 131445 h 324802"/>
                  <a:gd name="connsiteX3" fmla="*/ 324803 w 553402"/>
                  <a:gd name="connsiteY3" fmla="*/ 74295 h 324802"/>
                  <a:gd name="connsiteX4" fmla="*/ 229553 w 553402"/>
                  <a:gd name="connsiteY4" fmla="*/ 169545 h 324802"/>
                  <a:gd name="connsiteX5" fmla="*/ 172403 w 553402"/>
                  <a:gd name="connsiteY5" fmla="*/ 112395 h 324802"/>
                  <a:gd name="connsiteX6" fmla="*/ 0 w 553402"/>
                  <a:gd name="connsiteY6" fmla="*/ 284798 h 324802"/>
                  <a:gd name="connsiteX7" fmla="*/ 40005 w 553402"/>
                  <a:gd name="connsiteY7" fmla="*/ 324803 h 324802"/>
                  <a:gd name="connsiteX8" fmla="*/ 172403 w 553402"/>
                  <a:gd name="connsiteY8" fmla="*/ 192405 h 324802"/>
                  <a:gd name="connsiteX9" fmla="*/ 229553 w 553402"/>
                  <a:gd name="connsiteY9" fmla="*/ 249555 h 324802"/>
                  <a:gd name="connsiteX10" fmla="*/ 324803 w 553402"/>
                  <a:gd name="connsiteY10" fmla="*/ 154305 h 324802"/>
                  <a:gd name="connsiteX11" fmla="*/ 381953 w 553402"/>
                  <a:gd name="connsiteY11" fmla="*/ 211455 h 324802"/>
                  <a:gd name="connsiteX12" fmla="*/ 497205 w 553402"/>
                  <a:gd name="connsiteY12" fmla="*/ 96202 h 324802"/>
                  <a:gd name="connsiteX13" fmla="*/ 553403 w 553402"/>
                  <a:gd name="connsiteY13" fmla="*/ 152400 h 324802"/>
                  <a:gd name="connsiteX14" fmla="*/ 553403 w 553402"/>
                  <a:gd name="connsiteY14" fmla="*/ 0 h 3248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53402" h="324802">
                    <a:moveTo>
                      <a:pt x="401003" y="0"/>
                    </a:moveTo>
                    <a:lnTo>
                      <a:pt x="457200" y="56198"/>
                    </a:lnTo>
                    <a:lnTo>
                      <a:pt x="381953" y="131445"/>
                    </a:lnTo>
                    <a:lnTo>
                      <a:pt x="324803" y="74295"/>
                    </a:lnTo>
                    <a:lnTo>
                      <a:pt x="229553" y="169545"/>
                    </a:lnTo>
                    <a:lnTo>
                      <a:pt x="172403" y="112395"/>
                    </a:lnTo>
                    <a:lnTo>
                      <a:pt x="0" y="284798"/>
                    </a:lnTo>
                    <a:lnTo>
                      <a:pt x="40005" y="324803"/>
                    </a:lnTo>
                    <a:lnTo>
                      <a:pt x="172403" y="192405"/>
                    </a:lnTo>
                    <a:lnTo>
                      <a:pt x="229553" y="249555"/>
                    </a:lnTo>
                    <a:lnTo>
                      <a:pt x="324803" y="154305"/>
                    </a:lnTo>
                    <a:lnTo>
                      <a:pt x="381953" y="211455"/>
                    </a:lnTo>
                    <a:lnTo>
                      <a:pt x="497205" y="96202"/>
                    </a:lnTo>
                    <a:lnTo>
                      <a:pt x="553403" y="152400"/>
                    </a:lnTo>
                    <a:lnTo>
                      <a:pt x="553403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FDC288D0-5FD8-A7A8-FEAA-8DA67FB2A1A3}"/>
              </a:ext>
            </a:extLst>
          </p:cNvPr>
          <p:cNvSpPr txBox="1"/>
          <p:nvPr/>
        </p:nvSpPr>
        <p:spPr>
          <a:xfrm>
            <a:off x="438150" y="1969337"/>
            <a:ext cx="18478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 Nova Light" panose="020B0304020202020204" pitchFamily="34" charset="0"/>
              </a:rPr>
              <a:t>Shares</a:t>
            </a:r>
          </a:p>
        </p:txBody>
      </p:sp>
      <p:graphicFrame>
        <p:nvGraphicFramePr>
          <p:cNvPr id="30" name="Tabella 29">
            <a:extLst>
              <a:ext uri="{FF2B5EF4-FFF2-40B4-BE49-F238E27FC236}">
                <a16:creationId xmlns:a16="http://schemas.microsoft.com/office/drawing/2014/main" id="{97A3A399-8019-DFEA-A5E2-DDB76287EE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468048"/>
              </p:ext>
            </p:extLst>
          </p:nvPr>
        </p:nvGraphicFramePr>
        <p:xfrm>
          <a:off x="468461" y="4112330"/>
          <a:ext cx="8134350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5017">
                  <a:extLst>
                    <a:ext uri="{9D8B030D-6E8A-4147-A177-3AD203B41FA5}">
                      <a16:colId xmlns:a16="http://schemas.microsoft.com/office/drawing/2014/main" val="1698010719"/>
                    </a:ext>
                  </a:extLst>
                </a:gridCol>
                <a:gridCol w="1330556">
                  <a:extLst>
                    <a:ext uri="{9D8B030D-6E8A-4147-A177-3AD203B41FA5}">
                      <a16:colId xmlns:a16="http://schemas.microsoft.com/office/drawing/2014/main" val="2895983903"/>
                    </a:ext>
                  </a:extLst>
                </a:gridCol>
                <a:gridCol w="884864">
                  <a:extLst>
                    <a:ext uri="{9D8B030D-6E8A-4147-A177-3AD203B41FA5}">
                      <a16:colId xmlns:a16="http://schemas.microsoft.com/office/drawing/2014/main" val="3353183135"/>
                    </a:ext>
                  </a:extLst>
                </a:gridCol>
                <a:gridCol w="810237">
                  <a:extLst>
                    <a:ext uri="{9D8B030D-6E8A-4147-A177-3AD203B41FA5}">
                      <a16:colId xmlns:a16="http://schemas.microsoft.com/office/drawing/2014/main" val="2831039483"/>
                    </a:ext>
                  </a:extLst>
                </a:gridCol>
                <a:gridCol w="820898">
                  <a:extLst>
                    <a:ext uri="{9D8B030D-6E8A-4147-A177-3AD203B41FA5}">
                      <a16:colId xmlns:a16="http://schemas.microsoft.com/office/drawing/2014/main" val="24059853"/>
                    </a:ext>
                  </a:extLst>
                </a:gridCol>
                <a:gridCol w="959492">
                  <a:extLst>
                    <a:ext uri="{9D8B030D-6E8A-4147-A177-3AD203B41FA5}">
                      <a16:colId xmlns:a16="http://schemas.microsoft.com/office/drawing/2014/main" val="3657305502"/>
                    </a:ext>
                  </a:extLst>
                </a:gridCol>
                <a:gridCol w="650321">
                  <a:extLst>
                    <a:ext uri="{9D8B030D-6E8A-4147-A177-3AD203B41FA5}">
                      <a16:colId xmlns:a16="http://schemas.microsoft.com/office/drawing/2014/main" val="855564020"/>
                    </a:ext>
                  </a:extLst>
                </a:gridCol>
                <a:gridCol w="692965">
                  <a:extLst>
                    <a:ext uri="{9D8B030D-6E8A-4147-A177-3AD203B41FA5}">
                      <a16:colId xmlns:a16="http://schemas.microsoft.com/office/drawing/2014/main" val="17041715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 Nova Light" panose="020B0304020202020204" pitchFamily="34" charset="0"/>
                        </a:rPr>
                        <a:t>PRODUCT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 Nova Light" panose="020B0304020202020204" pitchFamily="34" charset="0"/>
                        </a:rPr>
                        <a:t>SYMBOL|ISIN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 Nova Light" panose="020B0304020202020204" pitchFamily="34" charset="0"/>
                        </a:rPr>
                        <a:t>QTY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 Nova Light" panose="020B0304020202020204" pitchFamily="34" charset="0"/>
                        </a:rPr>
                        <a:t>PRICE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 Nova Light" panose="020B0304020202020204" pitchFamily="34" charset="0"/>
                        </a:rPr>
                        <a:t>CURR.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 Nova Light" panose="020B0304020202020204" pitchFamily="34" charset="0"/>
                        </a:rPr>
                        <a:t>VALUE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 Nova Light" panose="020B0304020202020204" pitchFamily="34" charset="0"/>
                        </a:rPr>
                        <a:t>BEP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 Nova Light" panose="020B0304020202020204" pitchFamily="34" charset="0"/>
                        </a:rPr>
                        <a:t>P/L $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0789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iShares Core </a:t>
                      </a:r>
                    </a:p>
                    <a:p>
                      <a:pPr marL="0" indent="0"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MSCI World </a:t>
                      </a:r>
                    </a:p>
                    <a:p>
                      <a:pPr marL="0" indent="0"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UCITS ETF USD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SWDA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15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$114,44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USD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1716,6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120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accent3"/>
                          </a:solidFill>
                          <a:latin typeface="Arial Nova Light" panose="020B0304020202020204" pitchFamily="34" charset="0"/>
                        </a:rPr>
                        <a:t>+12,8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76953"/>
                  </a:ext>
                </a:extLst>
              </a:tr>
            </a:tbl>
          </a:graphicData>
        </a:graphic>
      </p:graphicFrame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9CA09A72-CE79-D4BC-AA0B-24D309850B27}"/>
              </a:ext>
            </a:extLst>
          </p:cNvPr>
          <p:cNvSpPr txBox="1"/>
          <p:nvPr/>
        </p:nvSpPr>
        <p:spPr>
          <a:xfrm>
            <a:off x="438149" y="3658967"/>
            <a:ext cx="2259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 Nova Light" panose="020B0304020202020204" pitchFamily="34" charset="0"/>
              </a:rPr>
              <a:t>Trackers (ETFs)</a:t>
            </a:r>
          </a:p>
        </p:txBody>
      </p:sp>
      <p:grpSp>
        <p:nvGrpSpPr>
          <p:cNvPr id="32" name="Gruppo 31">
            <a:extLst>
              <a:ext uri="{FF2B5EF4-FFF2-40B4-BE49-F238E27FC236}">
                <a16:creationId xmlns:a16="http://schemas.microsoft.com/office/drawing/2014/main" id="{245A09C0-E3F0-F14D-9BAE-6FAE14C8AF53}"/>
              </a:ext>
            </a:extLst>
          </p:cNvPr>
          <p:cNvGrpSpPr/>
          <p:nvPr/>
        </p:nvGrpSpPr>
        <p:grpSpPr>
          <a:xfrm>
            <a:off x="1503432" y="4619935"/>
            <a:ext cx="848138" cy="223202"/>
            <a:chOff x="1853641" y="3716179"/>
            <a:chExt cx="877138" cy="223202"/>
          </a:xfrm>
        </p:grpSpPr>
        <p:sp>
          <p:nvSpPr>
            <p:cNvPr id="33" name="Rettangolo con angoli arrotondati 32">
              <a:extLst>
                <a:ext uri="{FF2B5EF4-FFF2-40B4-BE49-F238E27FC236}">
                  <a16:creationId xmlns:a16="http://schemas.microsoft.com/office/drawing/2014/main" id="{D07EC1A7-EA0D-647C-04C7-511CBC17C79F}"/>
                </a:ext>
              </a:extLst>
            </p:cNvPr>
            <p:cNvSpPr/>
            <p:nvPr/>
          </p:nvSpPr>
          <p:spPr>
            <a:xfrm>
              <a:off x="1853641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rial Nova Light" panose="020B0304020202020204" pitchFamily="34" charset="0"/>
                  <a:ea typeface="DengXian" panose="02010600030101010101" pitchFamily="2" charset="-122"/>
                </a:rPr>
                <a:t>B</a:t>
              </a:r>
            </a:p>
          </p:txBody>
        </p:sp>
        <p:sp>
          <p:nvSpPr>
            <p:cNvPr id="34" name="Rettangolo con angoli arrotondati 33">
              <a:extLst>
                <a:ext uri="{FF2B5EF4-FFF2-40B4-BE49-F238E27FC236}">
                  <a16:creationId xmlns:a16="http://schemas.microsoft.com/office/drawing/2014/main" id="{3587805D-D57E-DA8B-ACB5-F2E8FBC728B8}"/>
                </a:ext>
              </a:extLst>
            </p:cNvPr>
            <p:cNvSpPr/>
            <p:nvPr/>
          </p:nvSpPr>
          <p:spPr>
            <a:xfrm>
              <a:off x="2146021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rial Nova Light" panose="020B0304020202020204" pitchFamily="34" charset="0"/>
                  <a:ea typeface="DengXian" panose="02010600030101010101" pitchFamily="2" charset="-122"/>
                </a:rPr>
                <a:t>S</a:t>
              </a:r>
            </a:p>
          </p:txBody>
        </p:sp>
        <p:sp>
          <p:nvSpPr>
            <p:cNvPr id="35" name="Rettangolo con angoli arrotondati 34">
              <a:extLst>
                <a:ext uri="{FF2B5EF4-FFF2-40B4-BE49-F238E27FC236}">
                  <a16:creationId xmlns:a16="http://schemas.microsoft.com/office/drawing/2014/main" id="{02DDEB02-C8AB-39F8-AC01-63AC92167294}"/>
                </a:ext>
              </a:extLst>
            </p:cNvPr>
            <p:cNvSpPr/>
            <p:nvPr/>
          </p:nvSpPr>
          <p:spPr>
            <a:xfrm>
              <a:off x="2438400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b="1" dirty="0">
                <a:latin typeface="Arial Nova Light" panose="020B0304020202020204" pitchFamily="34" charset="0"/>
                <a:ea typeface="DengXian" panose="02010600030101010101" pitchFamily="2" charset="-122"/>
              </a:endParaRPr>
            </a:p>
          </p:txBody>
        </p:sp>
        <p:grpSp>
          <p:nvGrpSpPr>
            <p:cNvPr id="36" name="Gruppo 35">
              <a:extLst>
                <a:ext uri="{FF2B5EF4-FFF2-40B4-BE49-F238E27FC236}">
                  <a16:creationId xmlns:a16="http://schemas.microsoft.com/office/drawing/2014/main" id="{5D945FEE-6FC0-EBDA-25B9-226D41873BB7}"/>
                </a:ext>
              </a:extLst>
            </p:cNvPr>
            <p:cNvGrpSpPr/>
            <p:nvPr/>
          </p:nvGrpSpPr>
          <p:grpSpPr>
            <a:xfrm>
              <a:off x="2501245" y="3744436"/>
              <a:ext cx="166687" cy="166687"/>
              <a:chOff x="2224088" y="3014663"/>
              <a:chExt cx="647700" cy="647700"/>
            </a:xfrm>
          </p:grpSpPr>
          <p:sp>
            <p:nvSpPr>
              <p:cNvPr id="37" name="Figura a mano libera: forma 36">
                <a:extLst>
                  <a:ext uri="{FF2B5EF4-FFF2-40B4-BE49-F238E27FC236}">
                    <a16:creationId xmlns:a16="http://schemas.microsoft.com/office/drawing/2014/main" id="{180BD2CF-2A23-316C-5864-E3DD20CEE650}"/>
                  </a:ext>
                </a:extLst>
              </p:cNvPr>
              <p:cNvSpPr/>
              <p:nvPr/>
            </p:nvSpPr>
            <p:spPr>
              <a:xfrm>
                <a:off x="2224088" y="3014663"/>
                <a:ext cx="647700" cy="647700"/>
              </a:xfrm>
              <a:custGeom>
                <a:avLst/>
                <a:gdLst>
                  <a:gd name="connsiteX0" fmla="*/ 57150 w 647700"/>
                  <a:gd name="connsiteY0" fmla="*/ 0 h 647700"/>
                  <a:gd name="connsiteX1" fmla="*/ 0 w 647700"/>
                  <a:gd name="connsiteY1" fmla="*/ 0 h 647700"/>
                  <a:gd name="connsiteX2" fmla="*/ 0 w 647700"/>
                  <a:gd name="connsiteY2" fmla="*/ 647700 h 647700"/>
                  <a:gd name="connsiteX3" fmla="*/ 647700 w 647700"/>
                  <a:gd name="connsiteY3" fmla="*/ 647700 h 647700"/>
                  <a:gd name="connsiteX4" fmla="*/ 647700 w 647700"/>
                  <a:gd name="connsiteY4" fmla="*/ 590550 h 647700"/>
                  <a:gd name="connsiteX5" fmla="*/ 57150 w 647700"/>
                  <a:gd name="connsiteY5" fmla="*/ 590550 h 647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7700" h="647700">
                    <a:moveTo>
                      <a:pt x="57150" y="0"/>
                    </a:moveTo>
                    <a:lnTo>
                      <a:pt x="0" y="0"/>
                    </a:lnTo>
                    <a:lnTo>
                      <a:pt x="0" y="647700"/>
                    </a:lnTo>
                    <a:lnTo>
                      <a:pt x="647700" y="647700"/>
                    </a:lnTo>
                    <a:lnTo>
                      <a:pt x="647700" y="590550"/>
                    </a:lnTo>
                    <a:lnTo>
                      <a:pt x="57150" y="59055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igura a mano libera: forma 37">
                <a:extLst>
                  <a:ext uri="{FF2B5EF4-FFF2-40B4-BE49-F238E27FC236}">
                    <a16:creationId xmlns:a16="http://schemas.microsoft.com/office/drawing/2014/main" id="{AF4E4260-2A42-AD3C-0711-F9A7EFC78257}"/>
                  </a:ext>
                </a:extLst>
              </p:cNvPr>
              <p:cNvSpPr/>
              <p:nvPr/>
            </p:nvSpPr>
            <p:spPr>
              <a:xfrm>
                <a:off x="2318385" y="3176588"/>
                <a:ext cx="553402" cy="324802"/>
              </a:xfrm>
              <a:custGeom>
                <a:avLst/>
                <a:gdLst>
                  <a:gd name="connsiteX0" fmla="*/ 401003 w 553402"/>
                  <a:gd name="connsiteY0" fmla="*/ 0 h 324802"/>
                  <a:gd name="connsiteX1" fmla="*/ 457200 w 553402"/>
                  <a:gd name="connsiteY1" fmla="*/ 56198 h 324802"/>
                  <a:gd name="connsiteX2" fmla="*/ 381953 w 553402"/>
                  <a:gd name="connsiteY2" fmla="*/ 131445 h 324802"/>
                  <a:gd name="connsiteX3" fmla="*/ 324803 w 553402"/>
                  <a:gd name="connsiteY3" fmla="*/ 74295 h 324802"/>
                  <a:gd name="connsiteX4" fmla="*/ 229553 w 553402"/>
                  <a:gd name="connsiteY4" fmla="*/ 169545 h 324802"/>
                  <a:gd name="connsiteX5" fmla="*/ 172403 w 553402"/>
                  <a:gd name="connsiteY5" fmla="*/ 112395 h 324802"/>
                  <a:gd name="connsiteX6" fmla="*/ 0 w 553402"/>
                  <a:gd name="connsiteY6" fmla="*/ 284798 h 324802"/>
                  <a:gd name="connsiteX7" fmla="*/ 40005 w 553402"/>
                  <a:gd name="connsiteY7" fmla="*/ 324803 h 324802"/>
                  <a:gd name="connsiteX8" fmla="*/ 172403 w 553402"/>
                  <a:gd name="connsiteY8" fmla="*/ 192405 h 324802"/>
                  <a:gd name="connsiteX9" fmla="*/ 229553 w 553402"/>
                  <a:gd name="connsiteY9" fmla="*/ 249555 h 324802"/>
                  <a:gd name="connsiteX10" fmla="*/ 324803 w 553402"/>
                  <a:gd name="connsiteY10" fmla="*/ 154305 h 324802"/>
                  <a:gd name="connsiteX11" fmla="*/ 381953 w 553402"/>
                  <a:gd name="connsiteY11" fmla="*/ 211455 h 324802"/>
                  <a:gd name="connsiteX12" fmla="*/ 497205 w 553402"/>
                  <a:gd name="connsiteY12" fmla="*/ 96202 h 324802"/>
                  <a:gd name="connsiteX13" fmla="*/ 553403 w 553402"/>
                  <a:gd name="connsiteY13" fmla="*/ 152400 h 324802"/>
                  <a:gd name="connsiteX14" fmla="*/ 553403 w 553402"/>
                  <a:gd name="connsiteY14" fmla="*/ 0 h 3248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53402" h="324802">
                    <a:moveTo>
                      <a:pt x="401003" y="0"/>
                    </a:moveTo>
                    <a:lnTo>
                      <a:pt x="457200" y="56198"/>
                    </a:lnTo>
                    <a:lnTo>
                      <a:pt x="381953" y="131445"/>
                    </a:lnTo>
                    <a:lnTo>
                      <a:pt x="324803" y="74295"/>
                    </a:lnTo>
                    <a:lnTo>
                      <a:pt x="229553" y="169545"/>
                    </a:lnTo>
                    <a:lnTo>
                      <a:pt x="172403" y="112395"/>
                    </a:lnTo>
                    <a:lnTo>
                      <a:pt x="0" y="284798"/>
                    </a:lnTo>
                    <a:lnTo>
                      <a:pt x="40005" y="324803"/>
                    </a:lnTo>
                    <a:lnTo>
                      <a:pt x="172403" y="192405"/>
                    </a:lnTo>
                    <a:lnTo>
                      <a:pt x="229553" y="249555"/>
                    </a:lnTo>
                    <a:lnTo>
                      <a:pt x="324803" y="154305"/>
                    </a:lnTo>
                    <a:lnTo>
                      <a:pt x="381953" y="211455"/>
                    </a:lnTo>
                    <a:lnTo>
                      <a:pt x="497205" y="96202"/>
                    </a:lnTo>
                    <a:lnTo>
                      <a:pt x="553403" y="152400"/>
                    </a:lnTo>
                    <a:lnTo>
                      <a:pt x="553403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aphicFrame>
        <p:nvGraphicFramePr>
          <p:cNvPr id="40" name="Tabella 39">
            <a:extLst>
              <a:ext uri="{FF2B5EF4-FFF2-40B4-BE49-F238E27FC236}">
                <a16:creationId xmlns:a16="http://schemas.microsoft.com/office/drawing/2014/main" id="{C0CE9CDE-9526-125F-A4E1-680AB710EA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0633688"/>
              </p:ext>
            </p:extLst>
          </p:nvPr>
        </p:nvGraphicFramePr>
        <p:xfrm>
          <a:off x="498773" y="1040274"/>
          <a:ext cx="813435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9994">
                  <a:extLst>
                    <a:ext uri="{9D8B030D-6E8A-4147-A177-3AD203B41FA5}">
                      <a16:colId xmlns:a16="http://schemas.microsoft.com/office/drawing/2014/main" val="1698010719"/>
                    </a:ext>
                  </a:extLst>
                </a:gridCol>
                <a:gridCol w="3264356">
                  <a:extLst>
                    <a:ext uri="{9D8B030D-6E8A-4147-A177-3AD203B41FA5}">
                      <a16:colId xmlns:a16="http://schemas.microsoft.com/office/drawing/2014/main" val="2895983903"/>
                    </a:ext>
                  </a:extLst>
                </a:gridCol>
              </a:tblGrid>
              <a:tr h="368197"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ova Light" panose="020B0304020202020204" pitchFamily="34" charset="0"/>
                        </a:rPr>
                        <a:t>Balance</a:t>
                      </a:r>
                    </a:p>
                    <a:p>
                      <a:pPr algn="l"/>
                      <a:r>
                        <a:rPr lang="en-US" sz="105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 Nova Light" panose="020B0304020202020204" pitchFamily="34" charset="0"/>
                        </a:rPr>
                        <a:t>0$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ova Light" panose="020B0304020202020204" pitchFamily="34" charset="0"/>
                        </a:rPr>
                        <a:t>Available to Trade</a:t>
                      </a:r>
                    </a:p>
                    <a:p>
                      <a:pPr algn="l"/>
                      <a:r>
                        <a:rPr lang="en-US" sz="105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 Nova Light" panose="020B0304020202020204" pitchFamily="34" charset="0"/>
                        </a:rPr>
                        <a:t>0$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0789246"/>
                  </a:ext>
                </a:extLst>
              </a:tr>
              <a:tr h="368197">
                <a:tc>
                  <a:txBody>
                    <a:bodyPr/>
                    <a:lstStyle/>
                    <a:p>
                      <a:pPr marL="0" indent="0" algn="l"/>
                      <a:r>
                        <a:rPr lang="en-US" sz="105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ova Light" panose="020B0304020202020204" pitchFamily="34" charset="0"/>
                        </a:rPr>
                        <a:t>Portfolio</a:t>
                      </a:r>
                    </a:p>
                    <a:p>
                      <a:pPr marL="0" indent="0" algn="l"/>
                      <a:r>
                        <a:rPr lang="en-US" sz="1050" dirty="0">
                          <a:latin typeface="Arial Nova Light" panose="020B0304020202020204" pitchFamily="34" charset="0"/>
                        </a:rPr>
                        <a:t>0$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ova Light" panose="020B0304020202020204" pitchFamily="34" charset="0"/>
                        </a:rPr>
                        <a:t>Total P/L</a:t>
                      </a:r>
                    </a:p>
                    <a:p>
                      <a:pPr algn="l"/>
                      <a:r>
                        <a:rPr lang="en-US" sz="105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 Nova Light" panose="020B0304020202020204" pitchFamily="34" charset="0"/>
                        </a:rPr>
                        <a:t>0$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76953"/>
                  </a:ext>
                </a:extLst>
              </a:tr>
            </a:tbl>
          </a:graphicData>
        </a:graphic>
      </p:graphicFrame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758BBB46-10A6-6EE2-13D5-92C530CE9468}"/>
              </a:ext>
            </a:extLst>
          </p:cNvPr>
          <p:cNvSpPr txBox="1"/>
          <p:nvPr/>
        </p:nvSpPr>
        <p:spPr>
          <a:xfrm>
            <a:off x="498773" y="602778"/>
            <a:ext cx="22825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 Nova Light" panose="020B0304020202020204" pitchFamily="34" charset="0"/>
              </a:rPr>
              <a:t>Account Overview</a:t>
            </a:r>
          </a:p>
        </p:txBody>
      </p:sp>
    </p:spTree>
    <p:extLst>
      <p:ext uri="{BB962C8B-B14F-4D97-AF65-F5344CB8AC3E}">
        <p14:creationId xmlns:p14="http://schemas.microsoft.com/office/powerpoint/2010/main" val="2808507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FAB1E-4325-0956-91AA-1C763365D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B1C758F-98A9-5051-12B7-954F9C0F3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Mock-ups (2)</a:t>
            </a:r>
          </a:p>
        </p:txBody>
      </p:sp>
      <p:sp>
        <p:nvSpPr>
          <p:cNvPr id="5" name="Titolo 1">
            <a:extLst>
              <a:ext uri="{FF2B5EF4-FFF2-40B4-BE49-F238E27FC236}">
                <a16:creationId xmlns:a16="http://schemas.microsoft.com/office/drawing/2014/main" id="{1EC5B123-C275-C350-C059-026BBDCC754D}"/>
              </a:ext>
            </a:extLst>
          </p:cNvPr>
          <p:cNvSpPr txBox="1">
            <a:spLocks/>
          </p:cNvSpPr>
          <p:nvPr/>
        </p:nvSpPr>
        <p:spPr>
          <a:xfrm>
            <a:off x="191101" y="2179448"/>
            <a:ext cx="876179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/>
              <a:t>Asset Plot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175024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797A4-75A6-E15B-4BA5-6CEEEE3A7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D2740B94-BC79-6D85-FBCA-F7B3E5EE9D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0398512"/>
              </p:ext>
            </p:extLst>
          </p:nvPr>
        </p:nvGraphicFramePr>
        <p:xfrm>
          <a:off x="461962" y="1463197"/>
          <a:ext cx="8159794" cy="38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1226">
                  <a:extLst>
                    <a:ext uri="{9D8B030D-6E8A-4147-A177-3AD203B41FA5}">
                      <a16:colId xmlns:a16="http://schemas.microsoft.com/office/drawing/2014/main" val="1698010719"/>
                    </a:ext>
                  </a:extLst>
                </a:gridCol>
                <a:gridCol w="1334718">
                  <a:extLst>
                    <a:ext uri="{9D8B030D-6E8A-4147-A177-3AD203B41FA5}">
                      <a16:colId xmlns:a16="http://schemas.microsoft.com/office/drawing/2014/main" val="2895983903"/>
                    </a:ext>
                  </a:extLst>
                </a:gridCol>
                <a:gridCol w="887632">
                  <a:extLst>
                    <a:ext uri="{9D8B030D-6E8A-4147-A177-3AD203B41FA5}">
                      <a16:colId xmlns:a16="http://schemas.microsoft.com/office/drawing/2014/main" val="3353183135"/>
                    </a:ext>
                  </a:extLst>
                </a:gridCol>
                <a:gridCol w="812771">
                  <a:extLst>
                    <a:ext uri="{9D8B030D-6E8A-4147-A177-3AD203B41FA5}">
                      <a16:colId xmlns:a16="http://schemas.microsoft.com/office/drawing/2014/main" val="2831039483"/>
                    </a:ext>
                  </a:extLst>
                </a:gridCol>
                <a:gridCol w="823466">
                  <a:extLst>
                    <a:ext uri="{9D8B030D-6E8A-4147-A177-3AD203B41FA5}">
                      <a16:colId xmlns:a16="http://schemas.microsoft.com/office/drawing/2014/main" val="24059853"/>
                    </a:ext>
                  </a:extLst>
                </a:gridCol>
                <a:gridCol w="962493">
                  <a:extLst>
                    <a:ext uri="{9D8B030D-6E8A-4147-A177-3AD203B41FA5}">
                      <a16:colId xmlns:a16="http://schemas.microsoft.com/office/drawing/2014/main" val="3657305502"/>
                    </a:ext>
                  </a:extLst>
                </a:gridCol>
                <a:gridCol w="652355">
                  <a:extLst>
                    <a:ext uri="{9D8B030D-6E8A-4147-A177-3AD203B41FA5}">
                      <a16:colId xmlns:a16="http://schemas.microsoft.com/office/drawing/2014/main" val="855564020"/>
                    </a:ext>
                  </a:extLst>
                </a:gridCol>
                <a:gridCol w="695133">
                  <a:extLst>
                    <a:ext uri="{9D8B030D-6E8A-4147-A177-3AD203B41FA5}">
                      <a16:colId xmlns:a16="http://schemas.microsoft.com/office/drawing/2014/main" val="1704171516"/>
                    </a:ext>
                  </a:extLst>
                </a:gridCol>
              </a:tblGrid>
              <a:tr h="3720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 Nova Light" panose="020B0304020202020204" pitchFamily="34" charset="0"/>
                        </a:rPr>
                        <a:t>PRODUCT</a:t>
                      </a:r>
                    </a:p>
                  </a:txBody>
                  <a:tcPr marL="91726" marR="91726" marT="45863" marB="45863"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 Nova Light" panose="020B0304020202020204" pitchFamily="34" charset="0"/>
                        </a:rPr>
                        <a:t>SYMBOL|ISIN</a:t>
                      </a:r>
                    </a:p>
                  </a:txBody>
                  <a:tcPr marL="91726" marR="91726" marT="45863" marB="45863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mpd="sng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 Nova Light" panose="020B0304020202020204" pitchFamily="34" charset="0"/>
                        </a:rPr>
                        <a:t>QTY</a:t>
                      </a:r>
                    </a:p>
                  </a:txBody>
                  <a:tcPr marL="91726" marR="91726" marT="45863" marB="45863" anchor="ctr">
                    <a:lnB w="38100" cmpd="sng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 Nova Light" panose="020B0304020202020204" pitchFamily="34" charset="0"/>
                        </a:rPr>
                        <a:t>PRICE</a:t>
                      </a:r>
                    </a:p>
                  </a:txBody>
                  <a:tcPr marL="91726" marR="91726" marT="45863" marB="45863" anchor="ctr">
                    <a:lnB w="38100" cmpd="sng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 Nova Light" panose="020B0304020202020204" pitchFamily="34" charset="0"/>
                        </a:rPr>
                        <a:t>CURR.</a:t>
                      </a:r>
                    </a:p>
                  </a:txBody>
                  <a:tcPr marL="91726" marR="91726" marT="45863" marB="45863" anchor="ctr">
                    <a:lnB w="38100" cmpd="sng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 Nova Light" panose="020B0304020202020204" pitchFamily="34" charset="0"/>
                        </a:rPr>
                        <a:t>VALUE</a:t>
                      </a:r>
                    </a:p>
                  </a:txBody>
                  <a:tcPr marL="91726" marR="91726" marT="45863" marB="45863" anchor="ctr">
                    <a:lnB w="38100" cmpd="sng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 Nova Light" panose="020B0304020202020204" pitchFamily="34" charset="0"/>
                        </a:rPr>
                        <a:t>BEP</a:t>
                      </a:r>
                    </a:p>
                  </a:txBody>
                  <a:tcPr marL="91726" marR="91726" marT="45863" marB="45863" anchor="ctr">
                    <a:lnB w="38100" cmpd="sng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 Nova Light" panose="020B0304020202020204" pitchFamily="34" charset="0"/>
                        </a:rPr>
                        <a:t>P/L $</a:t>
                      </a:r>
                    </a:p>
                  </a:txBody>
                  <a:tcPr marL="91726" marR="91726" marT="45863" marB="45863" anchor="ctr">
                    <a:lnB w="38100" cmpd="sng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0789246"/>
                  </a:ext>
                </a:extLst>
              </a:tr>
              <a:tr h="372000">
                <a:tc>
                  <a:txBody>
                    <a:bodyPr/>
                    <a:lstStyle/>
                    <a:p>
                      <a:pPr marL="0" indent="0"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Tesla, Inc.</a:t>
                      </a:r>
                    </a:p>
                  </a:txBody>
                  <a:tcPr marL="91726" marR="91726" marT="45863" marB="45863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TSLA</a:t>
                      </a:r>
                    </a:p>
                  </a:txBody>
                  <a:tcPr marL="91726" marR="91726" marT="45863" marB="4586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10</a:t>
                      </a:r>
                    </a:p>
                  </a:txBody>
                  <a:tcPr marL="91726" marR="91726" marT="45863" marB="45863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$447,86</a:t>
                      </a:r>
                    </a:p>
                  </a:txBody>
                  <a:tcPr marL="91726" marR="91726" marT="45863" marB="45863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USD</a:t>
                      </a:r>
                    </a:p>
                  </a:txBody>
                  <a:tcPr marL="91726" marR="91726" marT="45863" marB="45863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4470,6</a:t>
                      </a:r>
                    </a:p>
                  </a:txBody>
                  <a:tcPr marL="91726" marR="91726" marT="45863" marB="45863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430</a:t>
                      </a:r>
                    </a:p>
                  </a:txBody>
                  <a:tcPr marL="91726" marR="91726" marT="45863" marB="45863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accent3"/>
                          </a:solidFill>
                          <a:latin typeface="Arial Nova Light" panose="020B0304020202020204" pitchFamily="34" charset="0"/>
                        </a:rPr>
                        <a:t>+6,8</a:t>
                      </a:r>
                    </a:p>
                  </a:txBody>
                  <a:tcPr marL="91726" marR="91726" marT="45863" marB="45863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76953"/>
                  </a:ext>
                </a:extLst>
              </a:tr>
              <a:tr h="3060000">
                <a:tc>
                  <a:txBody>
                    <a:bodyPr/>
                    <a:lstStyle/>
                    <a:p>
                      <a:pPr marL="0" indent="0" algn="l"/>
                      <a:endParaRPr lang="en-US" sz="1200" dirty="0">
                        <a:latin typeface="Arial Nova Light" panose="020B0304020202020204" pitchFamily="34" charset="0"/>
                      </a:endParaRPr>
                    </a:p>
                  </a:txBody>
                  <a:tcPr marL="91726" marR="91726" marT="45863" marB="45863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dirty="0">
                        <a:latin typeface="Arial Nova Light" panose="020B0304020202020204" pitchFamily="34" charset="0"/>
                      </a:endParaRPr>
                    </a:p>
                  </a:txBody>
                  <a:tcPr marL="91726" marR="91726" marT="45863" marB="4586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dirty="0">
                        <a:latin typeface="Arial Nova Light" panose="020B0304020202020204" pitchFamily="34" charset="0"/>
                      </a:endParaRPr>
                    </a:p>
                  </a:txBody>
                  <a:tcPr marL="91726" marR="91726" marT="45863" marB="4586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dirty="0">
                        <a:latin typeface="Arial Nova Light" panose="020B0304020202020204" pitchFamily="34" charset="0"/>
                      </a:endParaRPr>
                    </a:p>
                  </a:txBody>
                  <a:tcPr marL="91726" marR="91726" marT="45863" marB="4586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dirty="0">
                        <a:latin typeface="Arial Nova Light" panose="020B0304020202020204" pitchFamily="34" charset="0"/>
                      </a:endParaRPr>
                    </a:p>
                  </a:txBody>
                  <a:tcPr marL="91726" marR="91726" marT="45863" marB="4586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dirty="0">
                        <a:latin typeface="Arial Nova Light" panose="020B0304020202020204" pitchFamily="34" charset="0"/>
                      </a:endParaRPr>
                    </a:p>
                  </a:txBody>
                  <a:tcPr marL="91726" marR="91726" marT="45863" marB="4586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dirty="0">
                        <a:latin typeface="Arial Nova Light" panose="020B0304020202020204" pitchFamily="34" charset="0"/>
                      </a:endParaRPr>
                    </a:p>
                  </a:txBody>
                  <a:tcPr marL="91726" marR="91726" marT="45863" marB="4586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dirty="0">
                        <a:solidFill>
                          <a:schemeClr val="accent3"/>
                        </a:solidFill>
                        <a:latin typeface="Arial Nova Light" panose="020B0304020202020204" pitchFamily="34" charset="0"/>
                      </a:endParaRPr>
                    </a:p>
                  </a:txBody>
                  <a:tcPr marL="91726" marR="91726" marT="45863" marB="4586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7600035"/>
                  </a:ext>
                </a:extLst>
              </a:tr>
            </a:tbl>
          </a:graphicData>
        </a:graphic>
      </p:graphicFrame>
      <p:grpSp>
        <p:nvGrpSpPr>
          <p:cNvPr id="22" name="Gruppo 21">
            <a:extLst>
              <a:ext uri="{FF2B5EF4-FFF2-40B4-BE49-F238E27FC236}">
                <a16:creationId xmlns:a16="http://schemas.microsoft.com/office/drawing/2014/main" id="{FD751EF4-20B3-AF30-EC08-C28A063AA5D4}"/>
              </a:ext>
            </a:extLst>
          </p:cNvPr>
          <p:cNvGrpSpPr/>
          <p:nvPr/>
        </p:nvGrpSpPr>
        <p:grpSpPr>
          <a:xfrm>
            <a:off x="1355576" y="1907856"/>
            <a:ext cx="848138" cy="223202"/>
            <a:chOff x="1853641" y="3716179"/>
            <a:chExt cx="877138" cy="223202"/>
          </a:xfrm>
        </p:grpSpPr>
        <p:sp>
          <p:nvSpPr>
            <p:cNvPr id="23" name="Rettangolo con angoli arrotondati 22">
              <a:extLst>
                <a:ext uri="{FF2B5EF4-FFF2-40B4-BE49-F238E27FC236}">
                  <a16:creationId xmlns:a16="http://schemas.microsoft.com/office/drawing/2014/main" id="{249375B8-2A1F-70E1-4644-4B829535472F}"/>
                </a:ext>
              </a:extLst>
            </p:cNvPr>
            <p:cNvSpPr/>
            <p:nvPr/>
          </p:nvSpPr>
          <p:spPr>
            <a:xfrm>
              <a:off x="1853641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rial Nova Light" panose="020B0304020202020204" pitchFamily="34" charset="0"/>
                  <a:ea typeface="DengXian" panose="02010600030101010101" pitchFamily="2" charset="-122"/>
                </a:rPr>
                <a:t>B</a:t>
              </a:r>
            </a:p>
          </p:txBody>
        </p:sp>
        <p:sp>
          <p:nvSpPr>
            <p:cNvPr id="24" name="Rettangolo con angoli arrotondati 23">
              <a:extLst>
                <a:ext uri="{FF2B5EF4-FFF2-40B4-BE49-F238E27FC236}">
                  <a16:creationId xmlns:a16="http://schemas.microsoft.com/office/drawing/2014/main" id="{86F5CD78-7951-8341-7877-6ADA7447CF94}"/>
                </a:ext>
              </a:extLst>
            </p:cNvPr>
            <p:cNvSpPr/>
            <p:nvPr/>
          </p:nvSpPr>
          <p:spPr>
            <a:xfrm>
              <a:off x="2146021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rial Nova Light" panose="020B0304020202020204" pitchFamily="34" charset="0"/>
                  <a:ea typeface="DengXian" panose="02010600030101010101" pitchFamily="2" charset="-122"/>
                </a:rPr>
                <a:t>S</a:t>
              </a:r>
            </a:p>
          </p:txBody>
        </p:sp>
        <p:sp>
          <p:nvSpPr>
            <p:cNvPr id="25" name="Rettangolo con angoli arrotondati 24">
              <a:extLst>
                <a:ext uri="{FF2B5EF4-FFF2-40B4-BE49-F238E27FC236}">
                  <a16:creationId xmlns:a16="http://schemas.microsoft.com/office/drawing/2014/main" id="{98864C28-42AC-B436-EF12-A378212D1511}"/>
                </a:ext>
              </a:extLst>
            </p:cNvPr>
            <p:cNvSpPr/>
            <p:nvPr/>
          </p:nvSpPr>
          <p:spPr>
            <a:xfrm>
              <a:off x="2438400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b="1" dirty="0">
                <a:latin typeface="Arial Nova Light" panose="020B0304020202020204" pitchFamily="34" charset="0"/>
                <a:ea typeface="DengXian" panose="02010600030101010101" pitchFamily="2" charset="-122"/>
              </a:endParaRPr>
            </a:p>
          </p:txBody>
        </p:sp>
        <p:grpSp>
          <p:nvGrpSpPr>
            <p:cNvPr id="26" name="Gruppo 25">
              <a:extLst>
                <a:ext uri="{FF2B5EF4-FFF2-40B4-BE49-F238E27FC236}">
                  <a16:creationId xmlns:a16="http://schemas.microsoft.com/office/drawing/2014/main" id="{979F40A2-FBD1-E60D-E7A8-7A0FCFF3257F}"/>
                </a:ext>
              </a:extLst>
            </p:cNvPr>
            <p:cNvGrpSpPr/>
            <p:nvPr/>
          </p:nvGrpSpPr>
          <p:grpSpPr>
            <a:xfrm>
              <a:off x="2501245" y="3744436"/>
              <a:ext cx="166687" cy="166687"/>
              <a:chOff x="2224088" y="3014663"/>
              <a:chExt cx="647700" cy="647700"/>
            </a:xfrm>
          </p:grpSpPr>
          <p:sp>
            <p:nvSpPr>
              <p:cNvPr id="27" name="Figura a mano libera: forma 26">
                <a:extLst>
                  <a:ext uri="{FF2B5EF4-FFF2-40B4-BE49-F238E27FC236}">
                    <a16:creationId xmlns:a16="http://schemas.microsoft.com/office/drawing/2014/main" id="{08440E67-63C0-F5AC-ECA4-D71D82F1A030}"/>
                  </a:ext>
                </a:extLst>
              </p:cNvPr>
              <p:cNvSpPr/>
              <p:nvPr/>
            </p:nvSpPr>
            <p:spPr>
              <a:xfrm>
                <a:off x="2224088" y="3014663"/>
                <a:ext cx="647700" cy="647700"/>
              </a:xfrm>
              <a:custGeom>
                <a:avLst/>
                <a:gdLst>
                  <a:gd name="connsiteX0" fmla="*/ 57150 w 647700"/>
                  <a:gd name="connsiteY0" fmla="*/ 0 h 647700"/>
                  <a:gd name="connsiteX1" fmla="*/ 0 w 647700"/>
                  <a:gd name="connsiteY1" fmla="*/ 0 h 647700"/>
                  <a:gd name="connsiteX2" fmla="*/ 0 w 647700"/>
                  <a:gd name="connsiteY2" fmla="*/ 647700 h 647700"/>
                  <a:gd name="connsiteX3" fmla="*/ 647700 w 647700"/>
                  <a:gd name="connsiteY3" fmla="*/ 647700 h 647700"/>
                  <a:gd name="connsiteX4" fmla="*/ 647700 w 647700"/>
                  <a:gd name="connsiteY4" fmla="*/ 590550 h 647700"/>
                  <a:gd name="connsiteX5" fmla="*/ 57150 w 647700"/>
                  <a:gd name="connsiteY5" fmla="*/ 590550 h 647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7700" h="647700">
                    <a:moveTo>
                      <a:pt x="57150" y="0"/>
                    </a:moveTo>
                    <a:lnTo>
                      <a:pt x="0" y="0"/>
                    </a:lnTo>
                    <a:lnTo>
                      <a:pt x="0" y="647700"/>
                    </a:lnTo>
                    <a:lnTo>
                      <a:pt x="647700" y="647700"/>
                    </a:lnTo>
                    <a:lnTo>
                      <a:pt x="647700" y="590550"/>
                    </a:lnTo>
                    <a:lnTo>
                      <a:pt x="57150" y="59055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igura a mano libera: forma 27">
                <a:extLst>
                  <a:ext uri="{FF2B5EF4-FFF2-40B4-BE49-F238E27FC236}">
                    <a16:creationId xmlns:a16="http://schemas.microsoft.com/office/drawing/2014/main" id="{2DA13AE3-973E-DB0B-D6D0-730AA285ECD4}"/>
                  </a:ext>
                </a:extLst>
              </p:cNvPr>
              <p:cNvSpPr/>
              <p:nvPr/>
            </p:nvSpPr>
            <p:spPr>
              <a:xfrm>
                <a:off x="2318385" y="3176588"/>
                <a:ext cx="553402" cy="324802"/>
              </a:xfrm>
              <a:custGeom>
                <a:avLst/>
                <a:gdLst>
                  <a:gd name="connsiteX0" fmla="*/ 401003 w 553402"/>
                  <a:gd name="connsiteY0" fmla="*/ 0 h 324802"/>
                  <a:gd name="connsiteX1" fmla="*/ 457200 w 553402"/>
                  <a:gd name="connsiteY1" fmla="*/ 56198 h 324802"/>
                  <a:gd name="connsiteX2" fmla="*/ 381953 w 553402"/>
                  <a:gd name="connsiteY2" fmla="*/ 131445 h 324802"/>
                  <a:gd name="connsiteX3" fmla="*/ 324803 w 553402"/>
                  <a:gd name="connsiteY3" fmla="*/ 74295 h 324802"/>
                  <a:gd name="connsiteX4" fmla="*/ 229553 w 553402"/>
                  <a:gd name="connsiteY4" fmla="*/ 169545 h 324802"/>
                  <a:gd name="connsiteX5" fmla="*/ 172403 w 553402"/>
                  <a:gd name="connsiteY5" fmla="*/ 112395 h 324802"/>
                  <a:gd name="connsiteX6" fmla="*/ 0 w 553402"/>
                  <a:gd name="connsiteY6" fmla="*/ 284798 h 324802"/>
                  <a:gd name="connsiteX7" fmla="*/ 40005 w 553402"/>
                  <a:gd name="connsiteY7" fmla="*/ 324803 h 324802"/>
                  <a:gd name="connsiteX8" fmla="*/ 172403 w 553402"/>
                  <a:gd name="connsiteY8" fmla="*/ 192405 h 324802"/>
                  <a:gd name="connsiteX9" fmla="*/ 229553 w 553402"/>
                  <a:gd name="connsiteY9" fmla="*/ 249555 h 324802"/>
                  <a:gd name="connsiteX10" fmla="*/ 324803 w 553402"/>
                  <a:gd name="connsiteY10" fmla="*/ 154305 h 324802"/>
                  <a:gd name="connsiteX11" fmla="*/ 381953 w 553402"/>
                  <a:gd name="connsiteY11" fmla="*/ 211455 h 324802"/>
                  <a:gd name="connsiteX12" fmla="*/ 497205 w 553402"/>
                  <a:gd name="connsiteY12" fmla="*/ 96202 h 324802"/>
                  <a:gd name="connsiteX13" fmla="*/ 553403 w 553402"/>
                  <a:gd name="connsiteY13" fmla="*/ 152400 h 324802"/>
                  <a:gd name="connsiteX14" fmla="*/ 553403 w 553402"/>
                  <a:gd name="connsiteY14" fmla="*/ 0 h 3248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53402" h="324802">
                    <a:moveTo>
                      <a:pt x="401003" y="0"/>
                    </a:moveTo>
                    <a:lnTo>
                      <a:pt x="457200" y="56198"/>
                    </a:lnTo>
                    <a:lnTo>
                      <a:pt x="381953" y="131445"/>
                    </a:lnTo>
                    <a:lnTo>
                      <a:pt x="324803" y="74295"/>
                    </a:lnTo>
                    <a:lnTo>
                      <a:pt x="229553" y="169545"/>
                    </a:lnTo>
                    <a:lnTo>
                      <a:pt x="172403" y="112395"/>
                    </a:lnTo>
                    <a:lnTo>
                      <a:pt x="0" y="284798"/>
                    </a:lnTo>
                    <a:lnTo>
                      <a:pt x="40005" y="324803"/>
                    </a:lnTo>
                    <a:lnTo>
                      <a:pt x="172403" y="192405"/>
                    </a:lnTo>
                    <a:lnTo>
                      <a:pt x="229553" y="249555"/>
                    </a:lnTo>
                    <a:lnTo>
                      <a:pt x="324803" y="154305"/>
                    </a:lnTo>
                    <a:lnTo>
                      <a:pt x="381953" y="211455"/>
                    </a:lnTo>
                    <a:lnTo>
                      <a:pt x="497205" y="96202"/>
                    </a:lnTo>
                    <a:lnTo>
                      <a:pt x="553403" y="152400"/>
                    </a:lnTo>
                    <a:lnTo>
                      <a:pt x="553403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F067786C-D4CA-B60D-9434-67B1C7D4A169}"/>
              </a:ext>
            </a:extLst>
          </p:cNvPr>
          <p:cNvSpPr txBox="1"/>
          <p:nvPr/>
        </p:nvSpPr>
        <p:spPr>
          <a:xfrm>
            <a:off x="461962" y="1132133"/>
            <a:ext cx="18478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 Nova Light" panose="020B0304020202020204" pitchFamily="34" charset="0"/>
              </a:rPr>
              <a:t>Shares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C6854DF0-E332-5569-3C59-E211F49A5B0B}"/>
              </a:ext>
            </a:extLst>
          </p:cNvPr>
          <p:cNvSpPr txBox="1"/>
          <p:nvPr/>
        </p:nvSpPr>
        <p:spPr>
          <a:xfrm>
            <a:off x="461962" y="369947"/>
            <a:ext cx="1847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solidFill>
                  <a:srgbClr val="C00000"/>
                </a:solidFill>
                <a:latin typeface="Arial Nova Light" panose="020B0304020202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MyFuture</a:t>
            </a:r>
            <a:endParaRPr lang="en-US" sz="3200" b="1" dirty="0">
              <a:solidFill>
                <a:srgbClr val="C00000"/>
              </a:solidFill>
              <a:latin typeface="Arial Nova Light" panose="020B030402020202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FB14593F-BA5F-8B5A-0B47-D3C508E07A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076637"/>
              </p:ext>
            </p:extLst>
          </p:nvPr>
        </p:nvGraphicFramePr>
        <p:xfrm>
          <a:off x="2462212" y="476915"/>
          <a:ext cx="2886075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7725">
                  <a:extLst>
                    <a:ext uri="{9D8B030D-6E8A-4147-A177-3AD203B41FA5}">
                      <a16:colId xmlns:a16="http://schemas.microsoft.com/office/drawing/2014/main" val="526149528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151546845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35112089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ova Light" panose="020B0304020202020204" pitchFamily="34" charset="0"/>
                        </a:rPr>
                        <a:t>Trading</a:t>
                      </a:r>
                      <a:endParaRPr lang="en-US" sz="14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ova Light" panose="020B0304020202020204" pitchFamily="34" charset="0"/>
                        <a:ea typeface="DengXian" panose="020B0503020204020204" pitchFamily="2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ova Light" panose="020B0304020202020204" pitchFamily="34" charset="0"/>
                        </a:rPr>
                        <a:t>About us</a:t>
                      </a:r>
                      <a:endParaRPr lang="en-US" sz="14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ova Light" panose="020B0304020202020204" pitchFamily="34" charset="0"/>
                        <a:ea typeface="DengXian" panose="020B0503020204020204" pitchFamily="2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ova Light" panose="020B0304020202020204" pitchFamily="34" charset="0"/>
                        <a:ea typeface="DengXian" panose="020B0503020204020204" pitchFamily="2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77316309"/>
                  </a:ext>
                </a:extLst>
              </a:tr>
            </a:tbl>
          </a:graphicData>
        </a:graphic>
      </p:graphicFrame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FD18A9C7-6958-B98C-849F-F72B29F317B5}"/>
              </a:ext>
            </a:extLst>
          </p:cNvPr>
          <p:cNvSpPr/>
          <p:nvPr/>
        </p:nvSpPr>
        <p:spPr>
          <a:xfrm>
            <a:off x="5624512" y="458510"/>
            <a:ext cx="1409700" cy="370840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Arial Nova Light" panose="020B0304020202020204" pitchFamily="34" charset="0"/>
                <a:ea typeface="DengXian" panose="02010600030101010101" pitchFamily="2" charset="-122"/>
              </a:rPr>
              <a:t>Apri un </a:t>
            </a:r>
            <a:r>
              <a:rPr lang="en-US" sz="1200" b="1" dirty="0" err="1">
                <a:latin typeface="Arial Nova Light" panose="020B0304020202020204" pitchFamily="34" charset="0"/>
                <a:ea typeface="DengXian" panose="02010600030101010101" pitchFamily="2" charset="-122"/>
              </a:rPr>
              <a:t>conto</a:t>
            </a:r>
            <a:endParaRPr lang="en-US" sz="1200" b="1" dirty="0">
              <a:latin typeface="Arial Nova Light" panose="020B0304020202020204" pitchFamily="34" charset="0"/>
              <a:ea typeface="DengXian" panose="02010600030101010101" pitchFamily="2" charset="-122"/>
            </a:endParaRP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1403EBB9-420D-C555-FF6D-28DE83C5F9C0}"/>
              </a:ext>
            </a:extLst>
          </p:cNvPr>
          <p:cNvSpPr/>
          <p:nvPr/>
        </p:nvSpPr>
        <p:spPr>
          <a:xfrm>
            <a:off x="7186612" y="443915"/>
            <a:ext cx="1409700" cy="37084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Arial Nova Light" panose="020B0304020202020204" pitchFamily="34" charset="0"/>
                <a:ea typeface="DengXian" panose="02010600030101010101" pitchFamily="2" charset="-122"/>
              </a:rPr>
              <a:t>Log In</a:t>
            </a:r>
          </a:p>
        </p:txBody>
      </p:sp>
      <p:pic>
        <p:nvPicPr>
          <p:cNvPr id="6" name="Elemento grafico 5" descr="Lente di ingrandimento contorno">
            <a:extLst>
              <a:ext uri="{FF2B5EF4-FFF2-40B4-BE49-F238E27FC236}">
                <a16:creationId xmlns:a16="http://schemas.microsoft.com/office/drawing/2014/main" id="{7B3741B7-7712-1858-1267-7755BAE1C6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33962" y="557558"/>
            <a:ext cx="209552" cy="209552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275440EB-372D-868E-8CA9-60EEDE42AE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988" y="2300886"/>
            <a:ext cx="6640842" cy="2796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054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BB8CB-182A-C070-B7B3-BA5BDA016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7156A3-CC55-A76E-CA82-FD58DB176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Mock-ups (3)</a:t>
            </a:r>
          </a:p>
        </p:txBody>
      </p:sp>
      <p:sp>
        <p:nvSpPr>
          <p:cNvPr id="5" name="Titolo 1">
            <a:extLst>
              <a:ext uri="{FF2B5EF4-FFF2-40B4-BE49-F238E27FC236}">
                <a16:creationId xmlns:a16="http://schemas.microsoft.com/office/drawing/2014/main" id="{07DFF7E9-C797-FBF4-FBD6-0E317B5E0FE7}"/>
              </a:ext>
            </a:extLst>
          </p:cNvPr>
          <p:cNvSpPr txBox="1">
            <a:spLocks/>
          </p:cNvSpPr>
          <p:nvPr/>
        </p:nvSpPr>
        <p:spPr>
          <a:xfrm>
            <a:off x="191101" y="2179448"/>
            <a:ext cx="876179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Asset List (Shares)</a:t>
            </a:r>
          </a:p>
        </p:txBody>
      </p:sp>
    </p:spTree>
    <p:extLst>
      <p:ext uri="{BB962C8B-B14F-4D97-AF65-F5344CB8AC3E}">
        <p14:creationId xmlns:p14="http://schemas.microsoft.com/office/powerpoint/2010/main" val="2767174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5D4B7F95-50EE-026C-CB67-D71801D795FA}"/>
              </a:ext>
            </a:extLst>
          </p:cNvPr>
          <p:cNvGraphicFramePr>
            <a:graphicFrameLocks noGrp="1"/>
          </p:cNvGraphicFramePr>
          <p:nvPr/>
        </p:nvGraphicFramePr>
        <p:xfrm>
          <a:off x="541020" y="2016479"/>
          <a:ext cx="7955277" cy="433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0248">
                  <a:extLst>
                    <a:ext uri="{9D8B030D-6E8A-4147-A177-3AD203B41FA5}">
                      <a16:colId xmlns:a16="http://schemas.microsoft.com/office/drawing/2014/main" val="1698010719"/>
                    </a:ext>
                  </a:extLst>
                </a:gridCol>
                <a:gridCol w="826063">
                  <a:extLst>
                    <a:ext uri="{9D8B030D-6E8A-4147-A177-3AD203B41FA5}">
                      <a16:colId xmlns:a16="http://schemas.microsoft.com/office/drawing/2014/main" val="2895983903"/>
                    </a:ext>
                  </a:extLst>
                </a:gridCol>
                <a:gridCol w="2938969">
                  <a:extLst>
                    <a:ext uri="{9D8B030D-6E8A-4147-A177-3AD203B41FA5}">
                      <a16:colId xmlns:a16="http://schemas.microsoft.com/office/drawing/2014/main" val="3353183135"/>
                    </a:ext>
                  </a:extLst>
                </a:gridCol>
                <a:gridCol w="795689">
                  <a:extLst>
                    <a:ext uri="{9D8B030D-6E8A-4147-A177-3AD203B41FA5}">
                      <a16:colId xmlns:a16="http://schemas.microsoft.com/office/drawing/2014/main" val="3657305502"/>
                    </a:ext>
                  </a:extLst>
                </a:gridCol>
                <a:gridCol w="672050">
                  <a:extLst>
                    <a:ext uri="{9D8B030D-6E8A-4147-A177-3AD203B41FA5}">
                      <a16:colId xmlns:a16="http://schemas.microsoft.com/office/drawing/2014/main" val="1704171516"/>
                    </a:ext>
                  </a:extLst>
                </a:gridCol>
                <a:gridCol w="1072258">
                  <a:extLst>
                    <a:ext uri="{9D8B030D-6E8A-4147-A177-3AD203B41FA5}">
                      <a16:colId xmlns:a16="http://schemas.microsoft.com/office/drawing/2014/main" val="28272362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 Nova Light" panose="020B0304020202020204" pitchFamily="34" charset="0"/>
                        </a:rPr>
                        <a:t>PRODUCT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 Nova Light" panose="020B0304020202020204" pitchFamily="34" charset="0"/>
                        </a:rPr>
                        <a:t>SYMBOL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 Nova Light" panose="020B03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 Nova Light" panose="020B0304020202020204" pitchFamily="34" charset="0"/>
                        </a:rPr>
                        <a:t>PRICE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 Nova Light" panose="020B0304020202020204" pitchFamily="34" charset="0"/>
                        </a:rPr>
                        <a:t>VAR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 Nova Light" panose="020B0304020202020204" pitchFamily="34" charset="0"/>
                        </a:rPr>
                        <a:t>ACTION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0789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Tesla, Inc.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TSLA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Arial Nova Light" panose="020B03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$430,63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Arial Nova Light" panose="020B0304020202020204" pitchFamily="34" charset="0"/>
                        </a:rPr>
                        <a:t>6,80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dirty="0">
                        <a:solidFill>
                          <a:schemeClr val="accent3"/>
                        </a:solidFill>
                        <a:latin typeface="Arial Nova Light" panose="020B03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76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NVIDIA Corporation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NVDA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Arial Nova Light" panose="020B03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$984,88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C00000"/>
                          </a:solidFill>
                          <a:latin typeface="Arial Nova Light" panose="020B0304020202020204" pitchFamily="34" charset="0"/>
                        </a:rPr>
                        <a:t>35,00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dirty="0">
                        <a:solidFill>
                          <a:srgbClr val="C00000"/>
                        </a:solidFill>
                        <a:latin typeface="Arial Nova Light" panose="020B03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6309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Airbnb, Inc.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ABNB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Arial Nova Light" panose="020B03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$105,57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C00000"/>
                          </a:solidFill>
                          <a:latin typeface="Arial Nova Light" panose="020B0304020202020204" pitchFamily="34" charset="0"/>
                        </a:rPr>
                        <a:t>10,00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dirty="0">
                        <a:solidFill>
                          <a:srgbClr val="C00000"/>
                        </a:solidFill>
                        <a:latin typeface="Arial Nova Light" panose="020B03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0996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Coca-Cola Company (The)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KO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Arial Nova Light" panose="020B03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$60,95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C00000"/>
                          </a:solidFill>
                          <a:latin typeface="Arial Nova Light" panose="020B0304020202020204" pitchFamily="34" charset="0"/>
                        </a:rPr>
                        <a:t>0,29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dirty="0">
                        <a:solidFill>
                          <a:srgbClr val="C00000"/>
                        </a:solidFill>
                        <a:latin typeface="Arial Nova Light" panose="020B03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625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Intel Corporation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INTC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Arial Nova Light" panose="020B03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$30,88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Arial Nova Light" panose="020B0304020202020204" pitchFamily="34" charset="0"/>
                        </a:rPr>
                        <a:t>0,50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dirty="0">
                        <a:solidFill>
                          <a:srgbClr val="C00000"/>
                        </a:solidFill>
                        <a:latin typeface="Arial Nova Light" panose="020B03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4716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Pfizer, Inc.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PFE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Arial Nova Light" panose="020B03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$21,68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C00000"/>
                          </a:solidFill>
                          <a:latin typeface="Arial Nova Light" panose="020B0304020202020204" pitchFamily="34" charset="0"/>
                        </a:rPr>
                        <a:t>0,77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dirty="0">
                        <a:solidFill>
                          <a:srgbClr val="C00000"/>
                        </a:solidFill>
                        <a:latin typeface="Arial Nova Light" panose="020B03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360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Netflix, Inc.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NFLX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Arial Nova Light" panose="020B03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$96,16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C00000"/>
                          </a:solidFill>
                          <a:latin typeface="Arial Nova Light" panose="020B0304020202020204" pitchFamily="34" charset="0"/>
                        </a:rPr>
                        <a:t>3,04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dirty="0">
                        <a:solidFill>
                          <a:srgbClr val="C00000"/>
                        </a:solidFill>
                        <a:latin typeface="Arial Nova Light" panose="020B03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69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T-Mobile US, Inc.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TMUS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Arial Nova Light" panose="020B03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186,00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Arial Nova Light" panose="020B0304020202020204" pitchFamily="34" charset="0"/>
                        </a:rPr>
                        <a:t>0,18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dirty="0">
                        <a:solidFill>
                          <a:srgbClr val="C00000"/>
                        </a:solidFill>
                        <a:latin typeface="Arial Nova Light" panose="020B03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2455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Walt Disney Company (The)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DIS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dirty="0">
                        <a:latin typeface="Arial Nova Light" panose="020B03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91,38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Arial Nova Light" panose="020B0304020202020204" pitchFamily="34" charset="0"/>
                        </a:rPr>
                        <a:t>0,15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rgbClr val="C00000"/>
                        </a:solidFill>
                        <a:latin typeface="Arial Nova Light" panose="020B03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7516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Western Digital Corporation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WDC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dirty="0">
                        <a:latin typeface="Arial Nova Light" panose="020B03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157,83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Arial Nova Light" panose="020B0304020202020204" pitchFamily="34" charset="0"/>
                        </a:rPr>
                        <a:t>0,67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rgbClr val="C00000"/>
                        </a:solidFill>
                        <a:latin typeface="Arial Nova Light" panose="020B03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980044"/>
                  </a:ext>
                </a:extLst>
              </a:tr>
            </a:tbl>
          </a:graphicData>
        </a:graphic>
      </p:graphicFrame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E8384223-3AA6-494A-5AD1-88832246B2C0}"/>
              </a:ext>
            </a:extLst>
          </p:cNvPr>
          <p:cNvSpPr/>
          <p:nvPr/>
        </p:nvSpPr>
        <p:spPr>
          <a:xfrm>
            <a:off x="2178788" y="1342739"/>
            <a:ext cx="4786423" cy="483881"/>
          </a:xfrm>
          <a:prstGeom prst="roundRect">
            <a:avLst>
              <a:gd name="adj" fmla="val 50000"/>
            </a:avLst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numCol="3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 Light" panose="020B0304020202020204" pitchFamily="34" charset="0"/>
                <a:ea typeface="DengXian" panose="02010600030101010101" pitchFamily="2" charset="-122"/>
                <a:cs typeface="+mn-cs"/>
              </a:rPr>
              <a:t>Shares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 Light" panose="020B0304020202020204" pitchFamily="34" charset="0"/>
                <a:ea typeface="DengXian" panose="02010600030101010101" pitchFamily="2" charset="-122"/>
                <a:cs typeface="+mn-cs"/>
              </a:rPr>
              <a:t>ETFs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 Light" panose="020B0304020202020204" pitchFamily="34" charset="0"/>
                <a:ea typeface="DengXian" panose="02010600030101010101" pitchFamily="2" charset="-122"/>
                <a:cs typeface="+mn-cs"/>
              </a:rPr>
              <a:t>Cryptos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E914C485-EA96-C2F0-6671-B856753DD048}"/>
              </a:ext>
            </a:extLst>
          </p:cNvPr>
          <p:cNvSpPr/>
          <p:nvPr/>
        </p:nvSpPr>
        <p:spPr>
          <a:xfrm>
            <a:off x="2495549" y="1402146"/>
            <a:ext cx="1409700" cy="37084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Light" panose="020B0304020202020204" pitchFamily="34" charset="0"/>
                <a:ea typeface="DengXian" panose="02010600030101010101" pitchFamily="2" charset="-122"/>
                <a:cs typeface="+mn-cs"/>
              </a:rPr>
              <a:t>Shares</a:t>
            </a:r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892377B7-5FCE-8BBC-5E89-0798B3705FBF}"/>
              </a:ext>
            </a:extLst>
          </p:cNvPr>
          <p:cNvCxnSpPr>
            <a:cxnSpLocks/>
          </p:cNvCxnSpPr>
          <p:nvPr/>
        </p:nvCxnSpPr>
        <p:spPr>
          <a:xfrm flipV="1">
            <a:off x="7304985" y="2499045"/>
            <a:ext cx="0" cy="147637"/>
          </a:xfrm>
          <a:prstGeom prst="straightConnector1">
            <a:avLst/>
          </a:prstGeom>
          <a:ln w="1270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60028696-C332-8C01-6C1A-F77DE5B2B56A}"/>
              </a:ext>
            </a:extLst>
          </p:cNvPr>
          <p:cNvCxnSpPr>
            <a:cxnSpLocks/>
          </p:cNvCxnSpPr>
          <p:nvPr/>
        </p:nvCxnSpPr>
        <p:spPr>
          <a:xfrm>
            <a:off x="7310010" y="2860677"/>
            <a:ext cx="0" cy="147637"/>
          </a:xfrm>
          <a:prstGeom prst="straightConnector1">
            <a:avLst/>
          </a:prstGeom>
          <a:ln w="12700">
            <a:solidFill>
              <a:srgbClr val="CC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CABCC325-6AF8-398C-19B1-0F3109B67CDA}"/>
              </a:ext>
            </a:extLst>
          </p:cNvPr>
          <p:cNvSpPr txBox="1"/>
          <p:nvPr/>
        </p:nvSpPr>
        <p:spPr>
          <a:xfrm>
            <a:off x="461962" y="369947"/>
            <a:ext cx="1847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ova Light" panose="020B0304020202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MyFuture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ova Light" panose="020B030402020202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B59AB272-4C0A-1605-33A5-6CA7BE28F36D}"/>
              </a:ext>
            </a:extLst>
          </p:cNvPr>
          <p:cNvGraphicFramePr>
            <a:graphicFrameLocks noGrp="1"/>
          </p:cNvGraphicFramePr>
          <p:nvPr/>
        </p:nvGraphicFramePr>
        <p:xfrm>
          <a:off x="2462212" y="476915"/>
          <a:ext cx="2886075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7725">
                  <a:extLst>
                    <a:ext uri="{9D8B030D-6E8A-4147-A177-3AD203B41FA5}">
                      <a16:colId xmlns:a16="http://schemas.microsoft.com/office/drawing/2014/main" val="526149528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151546845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35112089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ova Light" panose="020B0304020202020204" pitchFamily="34" charset="0"/>
                        </a:rPr>
                        <a:t>Trading</a:t>
                      </a:r>
                      <a:endParaRPr lang="en-US" sz="14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ova Light" panose="020B0304020202020204" pitchFamily="34" charset="0"/>
                        <a:ea typeface="DengXian" panose="020B0503020204020204" pitchFamily="2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ova Light" panose="020B0304020202020204" pitchFamily="34" charset="0"/>
                        </a:rPr>
                        <a:t>About us</a:t>
                      </a:r>
                      <a:endParaRPr lang="en-US" sz="14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ova Light" panose="020B0304020202020204" pitchFamily="34" charset="0"/>
                        <a:ea typeface="DengXian" panose="020B0503020204020204" pitchFamily="2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ova Light" panose="020B0304020202020204" pitchFamily="34" charset="0"/>
                        <a:ea typeface="DengXian" panose="020B0503020204020204" pitchFamily="2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77316309"/>
                  </a:ext>
                </a:extLst>
              </a:tr>
            </a:tbl>
          </a:graphicData>
        </a:graphic>
      </p:graphicFrame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027AC39F-A6F6-AA03-3F66-ED3906D7A623}"/>
              </a:ext>
            </a:extLst>
          </p:cNvPr>
          <p:cNvSpPr/>
          <p:nvPr/>
        </p:nvSpPr>
        <p:spPr>
          <a:xfrm>
            <a:off x="5624512" y="458510"/>
            <a:ext cx="1409700" cy="370840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Light" panose="020B0304020202020204" pitchFamily="34" charset="0"/>
                <a:ea typeface="DengXian" panose="02010600030101010101" pitchFamily="2" charset="-122"/>
                <a:cs typeface="+mn-cs"/>
              </a:rPr>
              <a:t>Apri un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Light" panose="020B0304020202020204" pitchFamily="34" charset="0"/>
                <a:ea typeface="DengXian" panose="02010600030101010101" pitchFamily="2" charset="-122"/>
                <a:cs typeface="+mn-cs"/>
              </a:rPr>
              <a:t>conto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 Light" panose="020B0304020202020204" pitchFamily="34" charset="0"/>
              <a:ea typeface="DengXian" panose="02010600030101010101" pitchFamily="2" charset="-122"/>
              <a:cs typeface="+mn-cs"/>
            </a:endParaRP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06EBD496-54FE-5194-6E5A-EB7BB1E26B77}"/>
              </a:ext>
            </a:extLst>
          </p:cNvPr>
          <p:cNvSpPr/>
          <p:nvPr/>
        </p:nvSpPr>
        <p:spPr>
          <a:xfrm>
            <a:off x="7186612" y="443915"/>
            <a:ext cx="1409700" cy="37084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Light" panose="020B0304020202020204" pitchFamily="34" charset="0"/>
                <a:ea typeface="DengXian" panose="02010600030101010101" pitchFamily="2" charset="-122"/>
                <a:cs typeface="+mn-cs"/>
              </a:rPr>
              <a:t>Log In</a:t>
            </a:r>
          </a:p>
        </p:txBody>
      </p:sp>
      <p:pic>
        <p:nvPicPr>
          <p:cNvPr id="10" name="Elemento grafico 9" descr="Lente di ingrandimento contorno">
            <a:extLst>
              <a:ext uri="{FF2B5EF4-FFF2-40B4-BE49-F238E27FC236}">
                <a16:creationId xmlns:a16="http://schemas.microsoft.com/office/drawing/2014/main" id="{AF985AB9-9739-3478-171E-BCD6C40BF0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33962" y="557558"/>
            <a:ext cx="209552" cy="209552"/>
          </a:xfrm>
          <a:prstGeom prst="rect">
            <a:avLst/>
          </a:prstGeom>
        </p:spPr>
      </p:pic>
      <p:grpSp>
        <p:nvGrpSpPr>
          <p:cNvPr id="11" name="Gruppo 10">
            <a:extLst>
              <a:ext uri="{FF2B5EF4-FFF2-40B4-BE49-F238E27FC236}">
                <a16:creationId xmlns:a16="http://schemas.microsoft.com/office/drawing/2014/main" id="{E7CB08A8-7DEB-D6D6-F174-A4360674C6CF}"/>
              </a:ext>
            </a:extLst>
          </p:cNvPr>
          <p:cNvGrpSpPr/>
          <p:nvPr/>
        </p:nvGrpSpPr>
        <p:grpSpPr>
          <a:xfrm>
            <a:off x="7495828" y="6002416"/>
            <a:ext cx="848138" cy="223202"/>
            <a:chOff x="1853641" y="3716179"/>
            <a:chExt cx="877138" cy="223202"/>
          </a:xfrm>
        </p:grpSpPr>
        <p:sp>
          <p:nvSpPr>
            <p:cNvPr id="12" name="Rettangolo con angoli arrotondati 11">
              <a:extLst>
                <a:ext uri="{FF2B5EF4-FFF2-40B4-BE49-F238E27FC236}">
                  <a16:creationId xmlns:a16="http://schemas.microsoft.com/office/drawing/2014/main" id="{32D6BA8A-A6E6-91A9-638E-0B360B3B7C9A}"/>
                </a:ext>
              </a:extLst>
            </p:cNvPr>
            <p:cNvSpPr/>
            <p:nvPr/>
          </p:nvSpPr>
          <p:spPr>
            <a:xfrm>
              <a:off x="1853641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DengXian" panose="02010600030101010101" pitchFamily="2" charset="-122"/>
                  <a:cs typeface="+mn-cs"/>
                </a:rPr>
                <a:t>B</a:t>
              </a:r>
            </a:p>
          </p:txBody>
        </p:sp>
        <p:sp>
          <p:nvSpPr>
            <p:cNvPr id="14" name="Rettangolo con angoli arrotondati 13">
              <a:extLst>
                <a:ext uri="{FF2B5EF4-FFF2-40B4-BE49-F238E27FC236}">
                  <a16:creationId xmlns:a16="http://schemas.microsoft.com/office/drawing/2014/main" id="{11632341-7153-DA69-62E6-7B36FD0AA647}"/>
                </a:ext>
              </a:extLst>
            </p:cNvPr>
            <p:cNvSpPr/>
            <p:nvPr/>
          </p:nvSpPr>
          <p:spPr>
            <a:xfrm>
              <a:off x="2146021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DengXian" panose="02010600030101010101" pitchFamily="2" charset="-122"/>
                  <a:cs typeface="+mn-cs"/>
                </a:rPr>
                <a:t>S</a:t>
              </a:r>
            </a:p>
          </p:txBody>
        </p:sp>
        <p:sp>
          <p:nvSpPr>
            <p:cNvPr id="15" name="Rettangolo con angoli arrotondati 14">
              <a:extLst>
                <a:ext uri="{FF2B5EF4-FFF2-40B4-BE49-F238E27FC236}">
                  <a16:creationId xmlns:a16="http://schemas.microsoft.com/office/drawing/2014/main" id="{23D2F70D-6C70-2283-9241-0ABDFA9B2EC6}"/>
                </a:ext>
              </a:extLst>
            </p:cNvPr>
            <p:cNvSpPr/>
            <p:nvPr/>
          </p:nvSpPr>
          <p:spPr>
            <a:xfrm>
              <a:off x="2438400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Light" panose="020B0304020202020204" pitchFamily="34" charset="0"/>
                <a:ea typeface="DengXian" panose="02010600030101010101" pitchFamily="2" charset="-122"/>
                <a:cs typeface="+mn-cs"/>
              </a:endParaRPr>
            </a:p>
          </p:txBody>
        </p:sp>
        <p:grpSp>
          <p:nvGrpSpPr>
            <p:cNvPr id="16" name="Gruppo 15">
              <a:extLst>
                <a:ext uri="{FF2B5EF4-FFF2-40B4-BE49-F238E27FC236}">
                  <a16:creationId xmlns:a16="http://schemas.microsoft.com/office/drawing/2014/main" id="{A10069A9-2729-9A1B-336D-FAFB74A6644C}"/>
                </a:ext>
              </a:extLst>
            </p:cNvPr>
            <p:cNvGrpSpPr/>
            <p:nvPr/>
          </p:nvGrpSpPr>
          <p:grpSpPr>
            <a:xfrm>
              <a:off x="2501245" y="3744436"/>
              <a:ext cx="166687" cy="166687"/>
              <a:chOff x="2224088" y="3014663"/>
              <a:chExt cx="647700" cy="647700"/>
            </a:xfrm>
          </p:grpSpPr>
          <p:sp>
            <p:nvSpPr>
              <p:cNvPr id="17" name="Figura a mano libera: forma 16">
                <a:extLst>
                  <a:ext uri="{FF2B5EF4-FFF2-40B4-BE49-F238E27FC236}">
                    <a16:creationId xmlns:a16="http://schemas.microsoft.com/office/drawing/2014/main" id="{EC0B1B6E-BBBF-975E-8A22-67DC4141E7F9}"/>
                  </a:ext>
                </a:extLst>
              </p:cNvPr>
              <p:cNvSpPr/>
              <p:nvPr/>
            </p:nvSpPr>
            <p:spPr>
              <a:xfrm>
                <a:off x="2224088" y="3014663"/>
                <a:ext cx="647700" cy="647700"/>
              </a:xfrm>
              <a:custGeom>
                <a:avLst/>
                <a:gdLst>
                  <a:gd name="connsiteX0" fmla="*/ 57150 w 647700"/>
                  <a:gd name="connsiteY0" fmla="*/ 0 h 647700"/>
                  <a:gd name="connsiteX1" fmla="*/ 0 w 647700"/>
                  <a:gd name="connsiteY1" fmla="*/ 0 h 647700"/>
                  <a:gd name="connsiteX2" fmla="*/ 0 w 647700"/>
                  <a:gd name="connsiteY2" fmla="*/ 647700 h 647700"/>
                  <a:gd name="connsiteX3" fmla="*/ 647700 w 647700"/>
                  <a:gd name="connsiteY3" fmla="*/ 647700 h 647700"/>
                  <a:gd name="connsiteX4" fmla="*/ 647700 w 647700"/>
                  <a:gd name="connsiteY4" fmla="*/ 590550 h 647700"/>
                  <a:gd name="connsiteX5" fmla="*/ 57150 w 647700"/>
                  <a:gd name="connsiteY5" fmla="*/ 590550 h 647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7700" h="647700">
                    <a:moveTo>
                      <a:pt x="57150" y="0"/>
                    </a:moveTo>
                    <a:lnTo>
                      <a:pt x="0" y="0"/>
                    </a:lnTo>
                    <a:lnTo>
                      <a:pt x="0" y="647700"/>
                    </a:lnTo>
                    <a:lnTo>
                      <a:pt x="647700" y="647700"/>
                    </a:lnTo>
                    <a:lnTo>
                      <a:pt x="647700" y="590550"/>
                    </a:lnTo>
                    <a:lnTo>
                      <a:pt x="57150" y="59055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" name="Figura a mano libera: forma 17">
                <a:extLst>
                  <a:ext uri="{FF2B5EF4-FFF2-40B4-BE49-F238E27FC236}">
                    <a16:creationId xmlns:a16="http://schemas.microsoft.com/office/drawing/2014/main" id="{C252C365-F44D-C098-D560-6B89C5322D0A}"/>
                  </a:ext>
                </a:extLst>
              </p:cNvPr>
              <p:cNvSpPr/>
              <p:nvPr/>
            </p:nvSpPr>
            <p:spPr>
              <a:xfrm>
                <a:off x="2318385" y="3176588"/>
                <a:ext cx="553402" cy="324802"/>
              </a:xfrm>
              <a:custGeom>
                <a:avLst/>
                <a:gdLst>
                  <a:gd name="connsiteX0" fmla="*/ 401003 w 553402"/>
                  <a:gd name="connsiteY0" fmla="*/ 0 h 324802"/>
                  <a:gd name="connsiteX1" fmla="*/ 457200 w 553402"/>
                  <a:gd name="connsiteY1" fmla="*/ 56198 h 324802"/>
                  <a:gd name="connsiteX2" fmla="*/ 381953 w 553402"/>
                  <a:gd name="connsiteY2" fmla="*/ 131445 h 324802"/>
                  <a:gd name="connsiteX3" fmla="*/ 324803 w 553402"/>
                  <a:gd name="connsiteY3" fmla="*/ 74295 h 324802"/>
                  <a:gd name="connsiteX4" fmla="*/ 229553 w 553402"/>
                  <a:gd name="connsiteY4" fmla="*/ 169545 h 324802"/>
                  <a:gd name="connsiteX5" fmla="*/ 172403 w 553402"/>
                  <a:gd name="connsiteY5" fmla="*/ 112395 h 324802"/>
                  <a:gd name="connsiteX6" fmla="*/ 0 w 553402"/>
                  <a:gd name="connsiteY6" fmla="*/ 284798 h 324802"/>
                  <a:gd name="connsiteX7" fmla="*/ 40005 w 553402"/>
                  <a:gd name="connsiteY7" fmla="*/ 324803 h 324802"/>
                  <a:gd name="connsiteX8" fmla="*/ 172403 w 553402"/>
                  <a:gd name="connsiteY8" fmla="*/ 192405 h 324802"/>
                  <a:gd name="connsiteX9" fmla="*/ 229553 w 553402"/>
                  <a:gd name="connsiteY9" fmla="*/ 249555 h 324802"/>
                  <a:gd name="connsiteX10" fmla="*/ 324803 w 553402"/>
                  <a:gd name="connsiteY10" fmla="*/ 154305 h 324802"/>
                  <a:gd name="connsiteX11" fmla="*/ 381953 w 553402"/>
                  <a:gd name="connsiteY11" fmla="*/ 211455 h 324802"/>
                  <a:gd name="connsiteX12" fmla="*/ 497205 w 553402"/>
                  <a:gd name="connsiteY12" fmla="*/ 96202 h 324802"/>
                  <a:gd name="connsiteX13" fmla="*/ 553403 w 553402"/>
                  <a:gd name="connsiteY13" fmla="*/ 152400 h 324802"/>
                  <a:gd name="connsiteX14" fmla="*/ 553403 w 553402"/>
                  <a:gd name="connsiteY14" fmla="*/ 0 h 3248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53402" h="324802">
                    <a:moveTo>
                      <a:pt x="401003" y="0"/>
                    </a:moveTo>
                    <a:lnTo>
                      <a:pt x="457200" y="56198"/>
                    </a:lnTo>
                    <a:lnTo>
                      <a:pt x="381953" y="131445"/>
                    </a:lnTo>
                    <a:lnTo>
                      <a:pt x="324803" y="74295"/>
                    </a:lnTo>
                    <a:lnTo>
                      <a:pt x="229553" y="169545"/>
                    </a:lnTo>
                    <a:lnTo>
                      <a:pt x="172403" y="112395"/>
                    </a:lnTo>
                    <a:lnTo>
                      <a:pt x="0" y="284798"/>
                    </a:lnTo>
                    <a:lnTo>
                      <a:pt x="40005" y="324803"/>
                    </a:lnTo>
                    <a:lnTo>
                      <a:pt x="172403" y="192405"/>
                    </a:lnTo>
                    <a:lnTo>
                      <a:pt x="229553" y="249555"/>
                    </a:lnTo>
                    <a:lnTo>
                      <a:pt x="324803" y="154305"/>
                    </a:lnTo>
                    <a:lnTo>
                      <a:pt x="381953" y="211455"/>
                    </a:lnTo>
                    <a:lnTo>
                      <a:pt x="497205" y="96202"/>
                    </a:lnTo>
                    <a:lnTo>
                      <a:pt x="553403" y="152400"/>
                    </a:lnTo>
                    <a:lnTo>
                      <a:pt x="553403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9" name="Gruppo 18">
            <a:extLst>
              <a:ext uri="{FF2B5EF4-FFF2-40B4-BE49-F238E27FC236}">
                <a16:creationId xmlns:a16="http://schemas.microsoft.com/office/drawing/2014/main" id="{8436645A-ED95-B039-D439-98A1E7B74DE3}"/>
              </a:ext>
            </a:extLst>
          </p:cNvPr>
          <p:cNvGrpSpPr/>
          <p:nvPr/>
        </p:nvGrpSpPr>
        <p:grpSpPr>
          <a:xfrm>
            <a:off x="7467393" y="2830992"/>
            <a:ext cx="848138" cy="223202"/>
            <a:chOff x="1853641" y="3716179"/>
            <a:chExt cx="877138" cy="223202"/>
          </a:xfrm>
        </p:grpSpPr>
        <p:sp>
          <p:nvSpPr>
            <p:cNvPr id="20" name="Rettangolo con angoli arrotondati 19">
              <a:extLst>
                <a:ext uri="{FF2B5EF4-FFF2-40B4-BE49-F238E27FC236}">
                  <a16:creationId xmlns:a16="http://schemas.microsoft.com/office/drawing/2014/main" id="{881A1E9C-2765-A074-FFCC-EB0B27BF4BB8}"/>
                </a:ext>
              </a:extLst>
            </p:cNvPr>
            <p:cNvSpPr/>
            <p:nvPr/>
          </p:nvSpPr>
          <p:spPr>
            <a:xfrm>
              <a:off x="1853641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DengXian" panose="02010600030101010101" pitchFamily="2" charset="-122"/>
                  <a:cs typeface="+mn-cs"/>
                </a:rPr>
                <a:t>B</a:t>
              </a:r>
            </a:p>
          </p:txBody>
        </p:sp>
        <p:sp>
          <p:nvSpPr>
            <p:cNvPr id="21" name="Rettangolo con angoli arrotondati 20">
              <a:extLst>
                <a:ext uri="{FF2B5EF4-FFF2-40B4-BE49-F238E27FC236}">
                  <a16:creationId xmlns:a16="http://schemas.microsoft.com/office/drawing/2014/main" id="{6A0E50AE-6171-8DC1-E05C-80E4745F8115}"/>
                </a:ext>
              </a:extLst>
            </p:cNvPr>
            <p:cNvSpPr/>
            <p:nvPr/>
          </p:nvSpPr>
          <p:spPr>
            <a:xfrm>
              <a:off x="2146021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DengXian" panose="02010600030101010101" pitchFamily="2" charset="-122"/>
                  <a:cs typeface="+mn-cs"/>
                </a:rPr>
                <a:t>S</a:t>
              </a:r>
            </a:p>
          </p:txBody>
        </p:sp>
        <p:sp>
          <p:nvSpPr>
            <p:cNvPr id="22" name="Rettangolo con angoli arrotondati 21">
              <a:extLst>
                <a:ext uri="{FF2B5EF4-FFF2-40B4-BE49-F238E27FC236}">
                  <a16:creationId xmlns:a16="http://schemas.microsoft.com/office/drawing/2014/main" id="{31385135-63E9-4A13-98F6-102102D4BFD3}"/>
                </a:ext>
              </a:extLst>
            </p:cNvPr>
            <p:cNvSpPr/>
            <p:nvPr/>
          </p:nvSpPr>
          <p:spPr>
            <a:xfrm>
              <a:off x="2438400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Light" panose="020B0304020202020204" pitchFamily="34" charset="0"/>
                <a:ea typeface="DengXian" panose="02010600030101010101" pitchFamily="2" charset="-122"/>
                <a:cs typeface="+mn-cs"/>
              </a:endParaRPr>
            </a:p>
          </p:txBody>
        </p:sp>
        <p:grpSp>
          <p:nvGrpSpPr>
            <p:cNvPr id="23" name="Gruppo 22">
              <a:extLst>
                <a:ext uri="{FF2B5EF4-FFF2-40B4-BE49-F238E27FC236}">
                  <a16:creationId xmlns:a16="http://schemas.microsoft.com/office/drawing/2014/main" id="{F382C408-6A21-0395-4FF6-A986B1B2A126}"/>
                </a:ext>
              </a:extLst>
            </p:cNvPr>
            <p:cNvGrpSpPr/>
            <p:nvPr/>
          </p:nvGrpSpPr>
          <p:grpSpPr>
            <a:xfrm>
              <a:off x="2501245" y="3744436"/>
              <a:ext cx="166687" cy="166687"/>
              <a:chOff x="2224088" y="3014663"/>
              <a:chExt cx="647700" cy="647700"/>
            </a:xfrm>
          </p:grpSpPr>
          <p:sp>
            <p:nvSpPr>
              <p:cNvPr id="24" name="Figura a mano libera: forma 23">
                <a:extLst>
                  <a:ext uri="{FF2B5EF4-FFF2-40B4-BE49-F238E27FC236}">
                    <a16:creationId xmlns:a16="http://schemas.microsoft.com/office/drawing/2014/main" id="{3CC1407D-43F2-9AEB-9250-977EC0D05BAF}"/>
                  </a:ext>
                </a:extLst>
              </p:cNvPr>
              <p:cNvSpPr/>
              <p:nvPr/>
            </p:nvSpPr>
            <p:spPr>
              <a:xfrm>
                <a:off x="2224088" y="3014663"/>
                <a:ext cx="647700" cy="647700"/>
              </a:xfrm>
              <a:custGeom>
                <a:avLst/>
                <a:gdLst>
                  <a:gd name="connsiteX0" fmla="*/ 57150 w 647700"/>
                  <a:gd name="connsiteY0" fmla="*/ 0 h 647700"/>
                  <a:gd name="connsiteX1" fmla="*/ 0 w 647700"/>
                  <a:gd name="connsiteY1" fmla="*/ 0 h 647700"/>
                  <a:gd name="connsiteX2" fmla="*/ 0 w 647700"/>
                  <a:gd name="connsiteY2" fmla="*/ 647700 h 647700"/>
                  <a:gd name="connsiteX3" fmla="*/ 647700 w 647700"/>
                  <a:gd name="connsiteY3" fmla="*/ 647700 h 647700"/>
                  <a:gd name="connsiteX4" fmla="*/ 647700 w 647700"/>
                  <a:gd name="connsiteY4" fmla="*/ 590550 h 647700"/>
                  <a:gd name="connsiteX5" fmla="*/ 57150 w 647700"/>
                  <a:gd name="connsiteY5" fmla="*/ 590550 h 647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7700" h="647700">
                    <a:moveTo>
                      <a:pt x="57150" y="0"/>
                    </a:moveTo>
                    <a:lnTo>
                      <a:pt x="0" y="0"/>
                    </a:lnTo>
                    <a:lnTo>
                      <a:pt x="0" y="647700"/>
                    </a:lnTo>
                    <a:lnTo>
                      <a:pt x="647700" y="647700"/>
                    </a:lnTo>
                    <a:lnTo>
                      <a:pt x="647700" y="590550"/>
                    </a:lnTo>
                    <a:lnTo>
                      <a:pt x="57150" y="59055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5" name="Figura a mano libera: forma 24">
                <a:extLst>
                  <a:ext uri="{FF2B5EF4-FFF2-40B4-BE49-F238E27FC236}">
                    <a16:creationId xmlns:a16="http://schemas.microsoft.com/office/drawing/2014/main" id="{590E8DD8-4A05-AA2E-F581-13E11E69525B}"/>
                  </a:ext>
                </a:extLst>
              </p:cNvPr>
              <p:cNvSpPr/>
              <p:nvPr/>
            </p:nvSpPr>
            <p:spPr>
              <a:xfrm>
                <a:off x="2318385" y="3176588"/>
                <a:ext cx="553402" cy="324802"/>
              </a:xfrm>
              <a:custGeom>
                <a:avLst/>
                <a:gdLst>
                  <a:gd name="connsiteX0" fmla="*/ 401003 w 553402"/>
                  <a:gd name="connsiteY0" fmla="*/ 0 h 324802"/>
                  <a:gd name="connsiteX1" fmla="*/ 457200 w 553402"/>
                  <a:gd name="connsiteY1" fmla="*/ 56198 h 324802"/>
                  <a:gd name="connsiteX2" fmla="*/ 381953 w 553402"/>
                  <a:gd name="connsiteY2" fmla="*/ 131445 h 324802"/>
                  <a:gd name="connsiteX3" fmla="*/ 324803 w 553402"/>
                  <a:gd name="connsiteY3" fmla="*/ 74295 h 324802"/>
                  <a:gd name="connsiteX4" fmla="*/ 229553 w 553402"/>
                  <a:gd name="connsiteY4" fmla="*/ 169545 h 324802"/>
                  <a:gd name="connsiteX5" fmla="*/ 172403 w 553402"/>
                  <a:gd name="connsiteY5" fmla="*/ 112395 h 324802"/>
                  <a:gd name="connsiteX6" fmla="*/ 0 w 553402"/>
                  <a:gd name="connsiteY6" fmla="*/ 284798 h 324802"/>
                  <a:gd name="connsiteX7" fmla="*/ 40005 w 553402"/>
                  <a:gd name="connsiteY7" fmla="*/ 324803 h 324802"/>
                  <a:gd name="connsiteX8" fmla="*/ 172403 w 553402"/>
                  <a:gd name="connsiteY8" fmla="*/ 192405 h 324802"/>
                  <a:gd name="connsiteX9" fmla="*/ 229553 w 553402"/>
                  <a:gd name="connsiteY9" fmla="*/ 249555 h 324802"/>
                  <a:gd name="connsiteX10" fmla="*/ 324803 w 553402"/>
                  <a:gd name="connsiteY10" fmla="*/ 154305 h 324802"/>
                  <a:gd name="connsiteX11" fmla="*/ 381953 w 553402"/>
                  <a:gd name="connsiteY11" fmla="*/ 211455 h 324802"/>
                  <a:gd name="connsiteX12" fmla="*/ 497205 w 553402"/>
                  <a:gd name="connsiteY12" fmla="*/ 96202 h 324802"/>
                  <a:gd name="connsiteX13" fmla="*/ 553403 w 553402"/>
                  <a:gd name="connsiteY13" fmla="*/ 152400 h 324802"/>
                  <a:gd name="connsiteX14" fmla="*/ 553403 w 553402"/>
                  <a:gd name="connsiteY14" fmla="*/ 0 h 3248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53402" h="324802">
                    <a:moveTo>
                      <a:pt x="401003" y="0"/>
                    </a:moveTo>
                    <a:lnTo>
                      <a:pt x="457200" y="56198"/>
                    </a:lnTo>
                    <a:lnTo>
                      <a:pt x="381953" y="131445"/>
                    </a:lnTo>
                    <a:lnTo>
                      <a:pt x="324803" y="74295"/>
                    </a:lnTo>
                    <a:lnTo>
                      <a:pt x="229553" y="169545"/>
                    </a:lnTo>
                    <a:lnTo>
                      <a:pt x="172403" y="112395"/>
                    </a:lnTo>
                    <a:lnTo>
                      <a:pt x="0" y="284798"/>
                    </a:lnTo>
                    <a:lnTo>
                      <a:pt x="40005" y="324803"/>
                    </a:lnTo>
                    <a:lnTo>
                      <a:pt x="172403" y="192405"/>
                    </a:lnTo>
                    <a:lnTo>
                      <a:pt x="229553" y="249555"/>
                    </a:lnTo>
                    <a:lnTo>
                      <a:pt x="324803" y="154305"/>
                    </a:lnTo>
                    <a:lnTo>
                      <a:pt x="381953" y="211455"/>
                    </a:lnTo>
                    <a:lnTo>
                      <a:pt x="497205" y="96202"/>
                    </a:lnTo>
                    <a:lnTo>
                      <a:pt x="553403" y="152400"/>
                    </a:lnTo>
                    <a:lnTo>
                      <a:pt x="553403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88FBABE8-D8BC-BAA1-144E-9DE961794831}"/>
              </a:ext>
            </a:extLst>
          </p:cNvPr>
          <p:cNvCxnSpPr>
            <a:cxnSpLocks/>
          </p:cNvCxnSpPr>
          <p:nvPr/>
        </p:nvCxnSpPr>
        <p:spPr>
          <a:xfrm>
            <a:off x="7317630" y="3246123"/>
            <a:ext cx="0" cy="147637"/>
          </a:xfrm>
          <a:prstGeom prst="straightConnector1">
            <a:avLst/>
          </a:prstGeom>
          <a:ln w="12700">
            <a:solidFill>
              <a:srgbClr val="CC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09B96AC4-B119-3204-2D5C-087A66266D07}"/>
              </a:ext>
            </a:extLst>
          </p:cNvPr>
          <p:cNvCxnSpPr>
            <a:cxnSpLocks/>
          </p:cNvCxnSpPr>
          <p:nvPr/>
        </p:nvCxnSpPr>
        <p:spPr>
          <a:xfrm>
            <a:off x="7304985" y="3676016"/>
            <a:ext cx="0" cy="147637"/>
          </a:xfrm>
          <a:prstGeom prst="straightConnector1">
            <a:avLst/>
          </a:prstGeom>
          <a:ln w="12700">
            <a:solidFill>
              <a:srgbClr val="CC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DA7E7EBA-ED72-03EF-7BD1-8CDC4C44F5EC}"/>
              </a:ext>
            </a:extLst>
          </p:cNvPr>
          <p:cNvCxnSpPr>
            <a:cxnSpLocks/>
          </p:cNvCxnSpPr>
          <p:nvPr/>
        </p:nvCxnSpPr>
        <p:spPr>
          <a:xfrm flipV="1">
            <a:off x="7311335" y="4073845"/>
            <a:ext cx="0" cy="147637"/>
          </a:xfrm>
          <a:prstGeom prst="straightConnector1">
            <a:avLst/>
          </a:prstGeom>
          <a:ln w="1270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88ED5624-1E12-952F-24FB-D81FCDDC04C9}"/>
              </a:ext>
            </a:extLst>
          </p:cNvPr>
          <p:cNvCxnSpPr>
            <a:cxnSpLocks/>
          </p:cNvCxnSpPr>
          <p:nvPr/>
        </p:nvCxnSpPr>
        <p:spPr>
          <a:xfrm flipV="1">
            <a:off x="7304985" y="5185095"/>
            <a:ext cx="0" cy="147637"/>
          </a:xfrm>
          <a:prstGeom prst="straightConnector1">
            <a:avLst/>
          </a:prstGeom>
          <a:ln w="1270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044B97EC-0913-8FF2-0B5F-9F61E2FEDA85}"/>
              </a:ext>
            </a:extLst>
          </p:cNvPr>
          <p:cNvCxnSpPr>
            <a:cxnSpLocks/>
          </p:cNvCxnSpPr>
          <p:nvPr/>
        </p:nvCxnSpPr>
        <p:spPr>
          <a:xfrm flipV="1">
            <a:off x="7311335" y="5585145"/>
            <a:ext cx="0" cy="147637"/>
          </a:xfrm>
          <a:prstGeom prst="straightConnector1">
            <a:avLst/>
          </a:prstGeom>
          <a:ln w="1270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8CA23699-381E-9143-F502-555AB19F1D8A}"/>
              </a:ext>
            </a:extLst>
          </p:cNvPr>
          <p:cNvCxnSpPr>
            <a:cxnSpLocks/>
          </p:cNvCxnSpPr>
          <p:nvPr/>
        </p:nvCxnSpPr>
        <p:spPr>
          <a:xfrm flipV="1">
            <a:off x="7317630" y="6035995"/>
            <a:ext cx="0" cy="147637"/>
          </a:xfrm>
          <a:prstGeom prst="straightConnector1">
            <a:avLst/>
          </a:prstGeom>
          <a:ln w="1270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B97EFFC2-ADCC-781E-DB81-8DD5961977C7}"/>
              </a:ext>
            </a:extLst>
          </p:cNvPr>
          <p:cNvCxnSpPr>
            <a:cxnSpLocks/>
          </p:cNvCxnSpPr>
          <p:nvPr/>
        </p:nvCxnSpPr>
        <p:spPr>
          <a:xfrm>
            <a:off x="7317630" y="4435477"/>
            <a:ext cx="0" cy="147637"/>
          </a:xfrm>
          <a:prstGeom prst="straightConnector1">
            <a:avLst/>
          </a:prstGeom>
          <a:ln w="12700">
            <a:solidFill>
              <a:srgbClr val="CC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Connettore 2 32">
            <a:extLst>
              <a:ext uri="{FF2B5EF4-FFF2-40B4-BE49-F238E27FC236}">
                <a16:creationId xmlns:a16="http://schemas.microsoft.com/office/drawing/2014/main" id="{EB75A683-9F4A-ABBA-B015-F70302FA97D0}"/>
              </a:ext>
            </a:extLst>
          </p:cNvPr>
          <p:cNvCxnSpPr>
            <a:cxnSpLocks/>
          </p:cNvCxnSpPr>
          <p:nvPr/>
        </p:nvCxnSpPr>
        <p:spPr>
          <a:xfrm>
            <a:off x="7317630" y="4822827"/>
            <a:ext cx="0" cy="147637"/>
          </a:xfrm>
          <a:prstGeom prst="straightConnector1">
            <a:avLst/>
          </a:prstGeom>
          <a:ln w="12700">
            <a:solidFill>
              <a:srgbClr val="CC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4" name="Gruppo 33">
            <a:extLst>
              <a:ext uri="{FF2B5EF4-FFF2-40B4-BE49-F238E27FC236}">
                <a16:creationId xmlns:a16="http://schemas.microsoft.com/office/drawing/2014/main" id="{4E539E03-ED1F-0E85-DCF0-0AABD61EBC55}"/>
              </a:ext>
            </a:extLst>
          </p:cNvPr>
          <p:cNvGrpSpPr/>
          <p:nvPr/>
        </p:nvGrpSpPr>
        <p:grpSpPr>
          <a:xfrm>
            <a:off x="7467393" y="3213106"/>
            <a:ext cx="848138" cy="223202"/>
            <a:chOff x="1853641" y="3716179"/>
            <a:chExt cx="877138" cy="223202"/>
          </a:xfrm>
        </p:grpSpPr>
        <p:sp>
          <p:nvSpPr>
            <p:cNvPr id="35" name="Rettangolo con angoli arrotondati 34">
              <a:extLst>
                <a:ext uri="{FF2B5EF4-FFF2-40B4-BE49-F238E27FC236}">
                  <a16:creationId xmlns:a16="http://schemas.microsoft.com/office/drawing/2014/main" id="{4B36B7FC-B853-010D-8D50-16868D24AD53}"/>
                </a:ext>
              </a:extLst>
            </p:cNvPr>
            <p:cNvSpPr/>
            <p:nvPr/>
          </p:nvSpPr>
          <p:spPr>
            <a:xfrm>
              <a:off x="1853641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DengXian" panose="02010600030101010101" pitchFamily="2" charset="-122"/>
                  <a:cs typeface="+mn-cs"/>
                </a:rPr>
                <a:t>B</a:t>
              </a:r>
            </a:p>
          </p:txBody>
        </p:sp>
        <p:sp>
          <p:nvSpPr>
            <p:cNvPr id="36" name="Rettangolo con angoli arrotondati 35">
              <a:extLst>
                <a:ext uri="{FF2B5EF4-FFF2-40B4-BE49-F238E27FC236}">
                  <a16:creationId xmlns:a16="http://schemas.microsoft.com/office/drawing/2014/main" id="{3AB6514C-5682-700E-0561-859FB0C1AE41}"/>
                </a:ext>
              </a:extLst>
            </p:cNvPr>
            <p:cNvSpPr/>
            <p:nvPr/>
          </p:nvSpPr>
          <p:spPr>
            <a:xfrm>
              <a:off x="2146021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DengXian" panose="02010600030101010101" pitchFamily="2" charset="-122"/>
                  <a:cs typeface="+mn-cs"/>
                </a:rPr>
                <a:t>S</a:t>
              </a:r>
            </a:p>
          </p:txBody>
        </p:sp>
        <p:sp>
          <p:nvSpPr>
            <p:cNvPr id="37" name="Rettangolo con angoli arrotondati 36">
              <a:extLst>
                <a:ext uri="{FF2B5EF4-FFF2-40B4-BE49-F238E27FC236}">
                  <a16:creationId xmlns:a16="http://schemas.microsoft.com/office/drawing/2014/main" id="{2E96F1B8-0883-6C56-316D-02384AA520A5}"/>
                </a:ext>
              </a:extLst>
            </p:cNvPr>
            <p:cNvSpPr/>
            <p:nvPr/>
          </p:nvSpPr>
          <p:spPr>
            <a:xfrm>
              <a:off x="2438400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Light" panose="020B0304020202020204" pitchFamily="34" charset="0"/>
                <a:ea typeface="DengXian" panose="02010600030101010101" pitchFamily="2" charset="-122"/>
                <a:cs typeface="+mn-cs"/>
              </a:endParaRPr>
            </a:p>
          </p:txBody>
        </p:sp>
        <p:grpSp>
          <p:nvGrpSpPr>
            <p:cNvPr id="38" name="Gruppo 37">
              <a:extLst>
                <a:ext uri="{FF2B5EF4-FFF2-40B4-BE49-F238E27FC236}">
                  <a16:creationId xmlns:a16="http://schemas.microsoft.com/office/drawing/2014/main" id="{F834AF93-38E5-9A00-98A4-ECDF5158AAC9}"/>
                </a:ext>
              </a:extLst>
            </p:cNvPr>
            <p:cNvGrpSpPr/>
            <p:nvPr/>
          </p:nvGrpSpPr>
          <p:grpSpPr>
            <a:xfrm>
              <a:off x="2501245" y="3744436"/>
              <a:ext cx="166687" cy="166687"/>
              <a:chOff x="2224088" y="3014663"/>
              <a:chExt cx="647700" cy="647700"/>
            </a:xfrm>
          </p:grpSpPr>
          <p:sp>
            <p:nvSpPr>
              <p:cNvPr id="39" name="Figura a mano libera: forma 38">
                <a:extLst>
                  <a:ext uri="{FF2B5EF4-FFF2-40B4-BE49-F238E27FC236}">
                    <a16:creationId xmlns:a16="http://schemas.microsoft.com/office/drawing/2014/main" id="{D9B79D7A-8966-9031-779F-BC7D0BEA1B25}"/>
                  </a:ext>
                </a:extLst>
              </p:cNvPr>
              <p:cNvSpPr/>
              <p:nvPr/>
            </p:nvSpPr>
            <p:spPr>
              <a:xfrm>
                <a:off x="2224088" y="3014663"/>
                <a:ext cx="647700" cy="647700"/>
              </a:xfrm>
              <a:custGeom>
                <a:avLst/>
                <a:gdLst>
                  <a:gd name="connsiteX0" fmla="*/ 57150 w 647700"/>
                  <a:gd name="connsiteY0" fmla="*/ 0 h 647700"/>
                  <a:gd name="connsiteX1" fmla="*/ 0 w 647700"/>
                  <a:gd name="connsiteY1" fmla="*/ 0 h 647700"/>
                  <a:gd name="connsiteX2" fmla="*/ 0 w 647700"/>
                  <a:gd name="connsiteY2" fmla="*/ 647700 h 647700"/>
                  <a:gd name="connsiteX3" fmla="*/ 647700 w 647700"/>
                  <a:gd name="connsiteY3" fmla="*/ 647700 h 647700"/>
                  <a:gd name="connsiteX4" fmla="*/ 647700 w 647700"/>
                  <a:gd name="connsiteY4" fmla="*/ 590550 h 647700"/>
                  <a:gd name="connsiteX5" fmla="*/ 57150 w 647700"/>
                  <a:gd name="connsiteY5" fmla="*/ 590550 h 647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7700" h="647700">
                    <a:moveTo>
                      <a:pt x="57150" y="0"/>
                    </a:moveTo>
                    <a:lnTo>
                      <a:pt x="0" y="0"/>
                    </a:lnTo>
                    <a:lnTo>
                      <a:pt x="0" y="647700"/>
                    </a:lnTo>
                    <a:lnTo>
                      <a:pt x="647700" y="647700"/>
                    </a:lnTo>
                    <a:lnTo>
                      <a:pt x="647700" y="590550"/>
                    </a:lnTo>
                    <a:lnTo>
                      <a:pt x="57150" y="59055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0" name="Figura a mano libera: forma 39">
                <a:extLst>
                  <a:ext uri="{FF2B5EF4-FFF2-40B4-BE49-F238E27FC236}">
                    <a16:creationId xmlns:a16="http://schemas.microsoft.com/office/drawing/2014/main" id="{42007A04-6808-2F17-4A87-538A82EE0D66}"/>
                  </a:ext>
                </a:extLst>
              </p:cNvPr>
              <p:cNvSpPr/>
              <p:nvPr/>
            </p:nvSpPr>
            <p:spPr>
              <a:xfrm>
                <a:off x="2318385" y="3176588"/>
                <a:ext cx="553402" cy="324802"/>
              </a:xfrm>
              <a:custGeom>
                <a:avLst/>
                <a:gdLst>
                  <a:gd name="connsiteX0" fmla="*/ 401003 w 553402"/>
                  <a:gd name="connsiteY0" fmla="*/ 0 h 324802"/>
                  <a:gd name="connsiteX1" fmla="*/ 457200 w 553402"/>
                  <a:gd name="connsiteY1" fmla="*/ 56198 h 324802"/>
                  <a:gd name="connsiteX2" fmla="*/ 381953 w 553402"/>
                  <a:gd name="connsiteY2" fmla="*/ 131445 h 324802"/>
                  <a:gd name="connsiteX3" fmla="*/ 324803 w 553402"/>
                  <a:gd name="connsiteY3" fmla="*/ 74295 h 324802"/>
                  <a:gd name="connsiteX4" fmla="*/ 229553 w 553402"/>
                  <a:gd name="connsiteY4" fmla="*/ 169545 h 324802"/>
                  <a:gd name="connsiteX5" fmla="*/ 172403 w 553402"/>
                  <a:gd name="connsiteY5" fmla="*/ 112395 h 324802"/>
                  <a:gd name="connsiteX6" fmla="*/ 0 w 553402"/>
                  <a:gd name="connsiteY6" fmla="*/ 284798 h 324802"/>
                  <a:gd name="connsiteX7" fmla="*/ 40005 w 553402"/>
                  <a:gd name="connsiteY7" fmla="*/ 324803 h 324802"/>
                  <a:gd name="connsiteX8" fmla="*/ 172403 w 553402"/>
                  <a:gd name="connsiteY8" fmla="*/ 192405 h 324802"/>
                  <a:gd name="connsiteX9" fmla="*/ 229553 w 553402"/>
                  <a:gd name="connsiteY9" fmla="*/ 249555 h 324802"/>
                  <a:gd name="connsiteX10" fmla="*/ 324803 w 553402"/>
                  <a:gd name="connsiteY10" fmla="*/ 154305 h 324802"/>
                  <a:gd name="connsiteX11" fmla="*/ 381953 w 553402"/>
                  <a:gd name="connsiteY11" fmla="*/ 211455 h 324802"/>
                  <a:gd name="connsiteX12" fmla="*/ 497205 w 553402"/>
                  <a:gd name="connsiteY12" fmla="*/ 96202 h 324802"/>
                  <a:gd name="connsiteX13" fmla="*/ 553403 w 553402"/>
                  <a:gd name="connsiteY13" fmla="*/ 152400 h 324802"/>
                  <a:gd name="connsiteX14" fmla="*/ 553403 w 553402"/>
                  <a:gd name="connsiteY14" fmla="*/ 0 h 3248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53402" h="324802">
                    <a:moveTo>
                      <a:pt x="401003" y="0"/>
                    </a:moveTo>
                    <a:lnTo>
                      <a:pt x="457200" y="56198"/>
                    </a:lnTo>
                    <a:lnTo>
                      <a:pt x="381953" y="131445"/>
                    </a:lnTo>
                    <a:lnTo>
                      <a:pt x="324803" y="74295"/>
                    </a:lnTo>
                    <a:lnTo>
                      <a:pt x="229553" y="169545"/>
                    </a:lnTo>
                    <a:lnTo>
                      <a:pt x="172403" y="112395"/>
                    </a:lnTo>
                    <a:lnTo>
                      <a:pt x="0" y="284798"/>
                    </a:lnTo>
                    <a:lnTo>
                      <a:pt x="40005" y="324803"/>
                    </a:lnTo>
                    <a:lnTo>
                      <a:pt x="172403" y="192405"/>
                    </a:lnTo>
                    <a:lnTo>
                      <a:pt x="229553" y="249555"/>
                    </a:lnTo>
                    <a:lnTo>
                      <a:pt x="324803" y="154305"/>
                    </a:lnTo>
                    <a:lnTo>
                      <a:pt x="381953" y="211455"/>
                    </a:lnTo>
                    <a:lnTo>
                      <a:pt x="497205" y="96202"/>
                    </a:lnTo>
                    <a:lnTo>
                      <a:pt x="553403" y="152400"/>
                    </a:lnTo>
                    <a:lnTo>
                      <a:pt x="553403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1" name="Gruppo 40">
            <a:extLst>
              <a:ext uri="{FF2B5EF4-FFF2-40B4-BE49-F238E27FC236}">
                <a16:creationId xmlns:a16="http://schemas.microsoft.com/office/drawing/2014/main" id="{C3E91659-339C-F346-D272-697F4EDEF551}"/>
              </a:ext>
            </a:extLst>
          </p:cNvPr>
          <p:cNvGrpSpPr/>
          <p:nvPr/>
        </p:nvGrpSpPr>
        <p:grpSpPr>
          <a:xfrm>
            <a:off x="7467393" y="3639157"/>
            <a:ext cx="848138" cy="223202"/>
            <a:chOff x="1853641" y="3716179"/>
            <a:chExt cx="877138" cy="223202"/>
          </a:xfrm>
        </p:grpSpPr>
        <p:sp>
          <p:nvSpPr>
            <p:cNvPr id="42" name="Rettangolo con angoli arrotondati 41">
              <a:extLst>
                <a:ext uri="{FF2B5EF4-FFF2-40B4-BE49-F238E27FC236}">
                  <a16:creationId xmlns:a16="http://schemas.microsoft.com/office/drawing/2014/main" id="{87DB583B-FE37-A9E5-27EC-1A0FE509EA59}"/>
                </a:ext>
              </a:extLst>
            </p:cNvPr>
            <p:cNvSpPr/>
            <p:nvPr/>
          </p:nvSpPr>
          <p:spPr>
            <a:xfrm>
              <a:off x="1853641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DengXian" panose="02010600030101010101" pitchFamily="2" charset="-122"/>
                  <a:cs typeface="+mn-cs"/>
                </a:rPr>
                <a:t>B</a:t>
              </a:r>
            </a:p>
          </p:txBody>
        </p:sp>
        <p:sp>
          <p:nvSpPr>
            <p:cNvPr id="43" name="Rettangolo con angoli arrotondati 42">
              <a:extLst>
                <a:ext uri="{FF2B5EF4-FFF2-40B4-BE49-F238E27FC236}">
                  <a16:creationId xmlns:a16="http://schemas.microsoft.com/office/drawing/2014/main" id="{48DBD5A1-A392-0AB7-4814-3E4389D44DFE}"/>
                </a:ext>
              </a:extLst>
            </p:cNvPr>
            <p:cNvSpPr/>
            <p:nvPr/>
          </p:nvSpPr>
          <p:spPr>
            <a:xfrm>
              <a:off x="2146021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DengXian" panose="02010600030101010101" pitchFamily="2" charset="-122"/>
                  <a:cs typeface="+mn-cs"/>
                </a:rPr>
                <a:t>S</a:t>
              </a:r>
            </a:p>
          </p:txBody>
        </p:sp>
        <p:sp>
          <p:nvSpPr>
            <p:cNvPr id="44" name="Rettangolo con angoli arrotondati 43">
              <a:extLst>
                <a:ext uri="{FF2B5EF4-FFF2-40B4-BE49-F238E27FC236}">
                  <a16:creationId xmlns:a16="http://schemas.microsoft.com/office/drawing/2014/main" id="{E5C7AA08-B8A1-3F5E-3DF2-27C44CB468BB}"/>
                </a:ext>
              </a:extLst>
            </p:cNvPr>
            <p:cNvSpPr/>
            <p:nvPr/>
          </p:nvSpPr>
          <p:spPr>
            <a:xfrm>
              <a:off x="2438400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Light" panose="020B0304020202020204" pitchFamily="34" charset="0"/>
                <a:ea typeface="DengXian" panose="02010600030101010101" pitchFamily="2" charset="-122"/>
                <a:cs typeface="+mn-cs"/>
              </a:endParaRPr>
            </a:p>
          </p:txBody>
        </p:sp>
        <p:grpSp>
          <p:nvGrpSpPr>
            <p:cNvPr id="45" name="Gruppo 44">
              <a:extLst>
                <a:ext uri="{FF2B5EF4-FFF2-40B4-BE49-F238E27FC236}">
                  <a16:creationId xmlns:a16="http://schemas.microsoft.com/office/drawing/2014/main" id="{4032CD96-ABA1-B754-6A43-4204E5B7A50D}"/>
                </a:ext>
              </a:extLst>
            </p:cNvPr>
            <p:cNvGrpSpPr/>
            <p:nvPr/>
          </p:nvGrpSpPr>
          <p:grpSpPr>
            <a:xfrm>
              <a:off x="2501245" y="3744436"/>
              <a:ext cx="166687" cy="166687"/>
              <a:chOff x="2224088" y="3014663"/>
              <a:chExt cx="647700" cy="647700"/>
            </a:xfrm>
          </p:grpSpPr>
          <p:sp>
            <p:nvSpPr>
              <p:cNvPr id="46" name="Figura a mano libera: forma 45">
                <a:extLst>
                  <a:ext uri="{FF2B5EF4-FFF2-40B4-BE49-F238E27FC236}">
                    <a16:creationId xmlns:a16="http://schemas.microsoft.com/office/drawing/2014/main" id="{9E9DB704-9E6B-5163-19F8-482315FACAC1}"/>
                  </a:ext>
                </a:extLst>
              </p:cNvPr>
              <p:cNvSpPr/>
              <p:nvPr/>
            </p:nvSpPr>
            <p:spPr>
              <a:xfrm>
                <a:off x="2224088" y="3014663"/>
                <a:ext cx="647700" cy="647700"/>
              </a:xfrm>
              <a:custGeom>
                <a:avLst/>
                <a:gdLst>
                  <a:gd name="connsiteX0" fmla="*/ 57150 w 647700"/>
                  <a:gd name="connsiteY0" fmla="*/ 0 h 647700"/>
                  <a:gd name="connsiteX1" fmla="*/ 0 w 647700"/>
                  <a:gd name="connsiteY1" fmla="*/ 0 h 647700"/>
                  <a:gd name="connsiteX2" fmla="*/ 0 w 647700"/>
                  <a:gd name="connsiteY2" fmla="*/ 647700 h 647700"/>
                  <a:gd name="connsiteX3" fmla="*/ 647700 w 647700"/>
                  <a:gd name="connsiteY3" fmla="*/ 647700 h 647700"/>
                  <a:gd name="connsiteX4" fmla="*/ 647700 w 647700"/>
                  <a:gd name="connsiteY4" fmla="*/ 590550 h 647700"/>
                  <a:gd name="connsiteX5" fmla="*/ 57150 w 647700"/>
                  <a:gd name="connsiteY5" fmla="*/ 590550 h 647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7700" h="647700">
                    <a:moveTo>
                      <a:pt x="57150" y="0"/>
                    </a:moveTo>
                    <a:lnTo>
                      <a:pt x="0" y="0"/>
                    </a:lnTo>
                    <a:lnTo>
                      <a:pt x="0" y="647700"/>
                    </a:lnTo>
                    <a:lnTo>
                      <a:pt x="647700" y="647700"/>
                    </a:lnTo>
                    <a:lnTo>
                      <a:pt x="647700" y="590550"/>
                    </a:lnTo>
                    <a:lnTo>
                      <a:pt x="57150" y="59055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7" name="Figura a mano libera: forma 46">
                <a:extLst>
                  <a:ext uri="{FF2B5EF4-FFF2-40B4-BE49-F238E27FC236}">
                    <a16:creationId xmlns:a16="http://schemas.microsoft.com/office/drawing/2014/main" id="{AE8C8F2E-4912-06AB-6DF1-5E62955BD912}"/>
                  </a:ext>
                </a:extLst>
              </p:cNvPr>
              <p:cNvSpPr/>
              <p:nvPr/>
            </p:nvSpPr>
            <p:spPr>
              <a:xfrm>
                <a:off x="2318385" y="3176588"/>
                <a:ext cx="553402" cy="324802"/>
              </a:xfrm>
              <a:custGeom>
                <a:avLst/>
                <a:gdLst>
                  <a:gd name="connsiteX0" fmla="*/ 401003 w 553402"/>
                  <a:gd name="connsiteY0" fmla="*/ 0 h 324802"/>
                  <a:gd name="connsiteX1" fmla="*/ 457200 w 553402"/>
                  <a:gd name="connsiteY1" fmla="*/ 56198 h 324802"/>
                  <a:gd name="connsiteX2" fmla="*/ 381953 w 553402"/>
                  <a:gd name="connsiteY2" fmla="*/ 131445 h 324802"/>
                  <a:gd name="connsiteX3" fmla="*/ 324803 w 553402"/>
                  <a:gd name="connsiteY3" fmla="*/ 74295 h 324802"/>
                  <a:gd name="connsiteX4" fmla="*/ 229553 w 553402"/>
                  <a:gd name="connsiteY4" fmla="*/ 169545 h 324802"/>
                  <a:gd name="connsiteX5" fmla="*/ 172403 w 553402"/>
                  <a:gd name="connsiteY5" fmla="*/ 112395 h 324802"/>
                  <a:gd name="connsiteX6" fmla="*/ 0 w 553402"/>
                  <a:gd name="connsiteY6" fmla="*/ 284798 h 324802"/>
                  <a:gd name="connsiteX7" fmla="*/ 40005 w 553402"/>
                  <a:gd name="connsiteY7" fmla="*/ 324803 h 324802"/>
                  <a:gd name="connsiteX8" fmla="*/ 172403 w 553402"/>
                  <a:gd name="connsiteY8" fmla="*/ 192405 h 324802"/>
                  <a:gd name="connsiteX9" fmla="*/ 229553 w 553402"/>
                  <a:gd name="connsiteY9" fmla="*/ 249555 h 324802"/>
                  <a:gd name="connsiteX10" fmla="*/ 324803 w 553402"/>
                  <a:gd name="connsiteY10" fmla="*/ 154305 h 324802"/>
                  <a:gd name="connsiteX11" fmla="*/ 381953 w 553402"/>
                  <a:gd name="connsiteY11" fmla="*/ 211455 h 324802"/>
                  <a:gd name="connsiteX12" fmla="*/ 497205 w 553402"/>
                  <a:gd name="connsiteY12" fmla="*/ 96202 h 324802"/>
                  <a:gd name="connsiteX13" fmla="*/ 553403 w 553402"/>
                  <a:gd name="connsiteY13" fmla="*/ 152400 h 324802"/>
                  <a:gd name="connsiteX14" fmla="*/ 553403 w 553402"/>
                  <a:gd name="connsiteY14" fmla="*/ 0 h 3248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53402" h="324802">
                    <a:moveTo>
                      <a:pt x="401003" y="0"/>
                    </a:moveTo>
                    <a:lnTo>
                      <a:pt x="457200" y="56198"/>
                    </a:lnTo>
                    <a:lnTo>
                      <a:pt x="381953" y="131445"/>
                    </a:lnTo>
                    <a:lnTo>
                      <a:pt x="324803" y="74295"/>
                    </a:lnTo>
                    <a:lnTo>
                      <a:pt x="229553" y="169545"/>
                    </a:lnTo>
                    <a:lnTo>
                      <a:pt x="172403" y="112395"/>
                    </a:lnTo>
                    <a:lnTo>
                      <a:pt x="0" y="284798"/>
                    </a:lnTo>
                    <a:lnTo>
                      <a:pt x="40005" y="324803"/>
                    </a:lnTo>
                    <a:lnTo>
                      <a:pt x="172403" y="192405"/>
                    </a:lnTo>
                    <a:lnTo>
                      <a:pt x="229553" y="249555"/>
                    </a:lnTo>
                    <a:lnTo>
                      <a:pt x="324803" y="154305"/>
                    </a:lnTo>
                    <a:lnTo>
                      <a:pt x="381953" y="211455"/>
                    </a:lnTo>
                    <a:lnTo>
                      <a:pt x="497205" y="96202"/>
                    </a:lnTo>
                    <a:lnTo>
                      <a:pt x="553403" y="152400"/>
                    </a:lnTo>
                    <a:lnTo>
                      <a:pt x="553403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8" name="Gruppo 47">
            <a:extLst>
              <a:ext uri="{FF2B5EF4-FFF2-40B4-BE49-F238E27FC236}">
                <a16:creationId xmlns:a16="http://schemas.microsoft.com/office/drawing/2014/main" id="{A9BA0D88-DC05-7669-00EF-88B30E77C7EE}"/>
              </a:ext>
            </a:extLst>
          </p:cNvPr>
          <p:cNvGrpSpPr/>
          <p:nvPr/>
        </p:nvGrpSpPr>
        <p:grpSpPr>
          <a:xfrm>
            <a:off x="7479747" y="4038379"/>
            <a:ext cx="848138" cy="223202"/>
            <a:chOff x="1853641" y="3716179"/>
            <a:chExt cx="877138" cy="223202"/>
          </a:xfrm>
        </p:grpSpPr>
        <p:sp>
          <p:nvSpPr>
            <p:cNvPr id="49" name="Rettangolo con angoli arrotondati 48">
              <a:extLst>
                <a:ext uri="{FF2B5EF4-FFF2-40B4-BE49-F238E27FC236}">
                  <a16:creationId xmlns:a16="http://schemas.microsoft.com/office/drawing/2014/main" id="{970EF9F3-7A80-7F0D-DE3A-4942A6DB2C88}"/>
                </a:ext>
              </a:extLst>
            </p:cNvPr>
            <p:cNvSpPr/>
            <p:nvPr/>
          </p:nvSpPr>
          <p:spPr>
            <a:xfrm>
              <a:off x="1853641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DengXian" panose="02010600030101010101" pitchFamily="2" charset="-122"/>
                  <a:cs typeface="+mn-cs"/>
                </a:rPr>
                <a:t>B</a:t>
              </a:r>
            </a:p>
          </p:txBody>
        </p:sp>
        <p:sp>
          <p:nvSpPr>
            <p:cNvPr id="50" name="Rettangolo con angoli arrotondati 49">
              <a:extLst>
                <a:ext uri="{FF2B5EF4-FFF2-40B4-BE49-F238E27FC236}">
                  <a16:creationId xmlns:a16="http://schemas.microsoft.com/office/drawing/2014/main" id="{55452FC9-A13F-9FB3-D1BF-2FA1AF541CCA}"/>
                </a:ext>
              </a:extLst>
            </p:cNvPr>
            <p:cNvSpPr/>
            <p:nvPr/>
          </p:nvSpPr>
          <p:spPr>
            <a:xfrm>
              <a:off x="2146021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DengXian" panose="02010600030101010101" pitchFamily="2" charset="-122"/>
                  <a:cs typeface="+mn-cs"/>
                </a:rPr>
                <a:t>S</a:t>
              </a:r>
            </a:p>
          </p:txBody>
        </p:sp>
        <p:sp>
          <p:nvSpPr>
            <p:cNvPr id="51" name="Rettangolo con angoli arrotondati 50">
              <a:extLst>
                <a:ext uri="{FF2B5EF4-FFF2-40B4-BE49-F238E27FC236}">
                  <a16:creationId xmlns:a16="http://schemas.microsoft.com/office/drawing/2014/main" id="{931DC256-788A-0DAC-56B3-B27EC52AFB20}"/>
                </a:ext>
              </a:extLst>
            </p:cNvPr>
            <p:cNvSpPr/>
            <p:nvPr/>
          </p:nvSpPr>
          <p:spPr>
            <a:xfrm>
              <a:off x="2438400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Light" panose="020B0304020202020204" pitchFamily="34" charset="0"/>
                <a:ea typeface="DengXian" panose="02010600030101010101" pitchFamily="2" charset="-122"/>
                <a:cs typeface="+mn-cs"/>
              </a:endParaRPr>
            </a:p>
          </p:txBody>
        </p:sp>
        <p:grpSp>
          <p:nvGrpSpPr>
            <p:cNvPr id="52" name="Gruppo 51">
              <a:extLst>
                <a:ext uri="{FF2B5EF4-FFF2-40B4-BE49-F238E27FC236}">
                  <a16:creationId xmlns:a16="http://schemas.microsoft.com/office/drawing/2014/main" id="{DECE7F1C-E911-F350-45FB-8343BF87D3CB}"/>
                </a:ext>
              </a:extLst>
            </p:cNvPr>
            <p:cNvGrpSpPr/>
            <p:nvPr/>
          </p:nvGrpSpPr>
          <p:grpSpPr>
            <a:xfrm>
              <a:off x="2501245" y="3744436"/>
              <a:ext cx="166687" cy="166687"/>
              <a:chOff x="2224088" y="3014663"/>
              <a:chExt cx="647700" cy="647700"/>
            </a:xfrm>
          </p:grpSpPr>
          <p:sp>
            <p:nvSpPr>
              <p:cNvPr id="53" name="Figura a mano libera: forma 52">
                <a:extLst>
                  <a:ext uri="{FF2B5EF4-FFF2-40B4-BE49-F238E27FC236}">
                    <a16:creationId xmlns:a16="http://schemas.microsoft.com/office/drawing/2014/main" id="{038F2570-8D89-58A3-F748-D8B4F21CAB57}"/>
                  </a:ext>
                </a:extLst>
              </p:cNvPr>
              <p:cNvSpPr/>
              <p:nvPr/>
            </p:nvSpPr>
            <p:spPr>
              <a:xfrm>
                <a:off x="2224088" y="3014663"/>
                <a:ext cx="647700" cy="647700"/>
              </a:xfrm>
              <a:custGeom>
                <a:avLst/>
                <a:gdLst>
                  <a:gd name="connsiteX0" fmla="*/ 57150 w 647700"/>
                  <a:gd name="connsiteY0" fmla="*/ 0 h 647700"/>
                  <a:gd name="connsiteX1" fmla="*/ 0 w 647700"/>
                  <a:gd name="connsiteY1" fmla="*/ 0 h 647700"/>
                  <a:gd name="connsiteX2" fmla="*/ 0 w 647700"/>
                  <a:gd name="connsiteY2" fmla="*/ 647700 h 647700"/>
                  <a:gd name="connsiteX3" fmla="*/ 647700 w 647700"/>
                  <a:gd name="connsiteY3" fmla="*/ 647700 h 647700"/>
                  <a:gd name="connsiteX4" fmla="*/ 647700 w 647700"/>
                  <a:gd name="connsiteY4" fmla="*/ 590550 h 647700"/>
                  <a:gd name="connsiteX5" fmla="*/ 57150 w 647700"/>
                  <a:gd name="connsiteY5" fmla="*/ 590550 h 647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7700" h="647700">
                    <a:moveTo>
                      <a:pt x="57150" y="0"/>
                    </a:moveTo>
                    <a:lnTo>
                      <a:pt x="0" y="0"/>
                    </a:lnTo>
                    <a:lnTo>
                      <a:pt x="0" y="647700"/>
                    </a:lnTo>
                    <a:lnTo>
                      <a:pt x="647700" y="647700"/>
                    </a:lnTo>
                    <a:lnTo>
                      <a:pt x="647700" y="590550"/>
                    </a:lnTo>
                    <a:lnTo>
                      <a:pt x="57150" y="59055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4" name="Figura a mano libera: forma 53">
                <a:extLst>
                  <a:ext uri="{FF2B5EF4-FFF2-40B4-BE49-F238E27FC236}">
                    <a16:creationId xmlns:a16="http://schemas.microsoft.com/office/drawing/2014/main" id="{8A20E003-6A64-6406-CC43-78B81D35226F}"/>
                  </a:ext>
                </a:extLst>
              </p:cNvPr>
              <p:cNvSpPr/>
              <p:nvPr/>
            </p:nvSpPr>
            <p:spPr>
              <a:xfrm>
                <a:off x="2318385" y="3176588"/>
                <a:ext cx="553402" cy="324802"/>
              </a:xfrm>
              <a:custGeom>
                <a:avLst/>
                <a:gdLst>
                  <a:gd name="connsiteX0" fmla="*/ 401003 w 553402"/>
                  <a:gd name="connsiteY0" fmla="*/ 0 h 324802"/>
                  <a:gd name="connsiteX1" fmla="*/ 457200 w 553402"/>
                  <a:gd name="connsiteY1" fmla="*/ 56198 h 324802"/>
                  <a:gd name="connsiteX2" fmla="*/ 381953 w 553402"/>
                  <a:gd name="connsiteY2" fmla="*/ 131445 h 324802"/>
                  <a:gd name="connsiteX3" fmla="*/ 324803 w 553402"/>
                  <a:gd name="connsiteY3" fmla="*/ 74295 h 324802"/>
                  <a:gd name="connsiteX4" fmla="*/ 229553 w 553402"/>
                  <a:gd name="connsiteY4" fmla="*/ 169545 h 324802"/>
                  <a:gd name="connsiteX5" fmla="*/ 172403 w 553402"/>
                  <a:gd name="connsiteY5" fmla="*/ 112395 h 324802"/>
                  <a:gd name="connsiteX6" fmla="*/ 0 w 553402"/>
                  <a:gd name="connsiteY6" fmla="*/ 284798 h 324802"/>
                  <a:gd name="connsiteX7" fmla="*/ 40005 w 553402"/>
                  <a:gd name="connsiteY7" fmla="*/ 324803 h 324802"/>
                  <a:gd name="connsiteX8" fmla="*/ 172403 w 553402"/>
                  <a:gd name="connsiteY8" fmla="*/ 192405 h 324802"/>
                  <a:gd name="connsiteX9" fmla="*/ 229553 w 553402"/>
                  <a:gd name="connsiteY9" fmla="*/ 249555 h 324802"/>
                  <a:gd name="connsiteX10" fmla="*/ 324803 w 553402"/>
                  <a:gd name="connsiteY10" fmla="*/ 154305 h 324802"/>
                  <a:gd name="connsiteX11" fmla="*/ 381953 w 553402"/>
                  <a:gd name="connsiteY11" fmla="*/ 211455 h 324802"/>
                  <a:gd name="connsiteX12" fmla="*/ 497205 w 553402"/>
                  <a:gd name="connsiteY12" fmla="*/ 96202 h 324802"/>
                  <a:gd name="connsiteX13" fmla="*/ 553403 w 553402"/>
                  <a:gd name="connsiteY13" fmla="*/ 152400 h 324802"/>
                  <a:gd name="connsiteX14" fmla="*/ 553403 w 553402"/>
                  <a:gd name="connsiteY14" fmla="*/ 0 h 3248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53402" h="324802">
                    <a:moveTo>
                      <a:pt x="401003" y="0"/>
                    </a:moveTo>
                    <a:lnTo>
                      <a:pt x="457200" y="56198"/>
                    </a:lnTo>
                    <a:lnTo>
                      <a:pt x="381953" y="131445"/>
                    </a:lnTo>
                    <a:lnTo>
                      <a:pt x="324803" y="74295"/>
                    </a:lnTo>
                    <a:lnTo>
                      <a:pt x="229553" y="169545"/>
                    </a:lnTo>
                    <a:lnTo>
                      <a:pt x="172403" y="112395"/>
                    </a:lnTo>
                    <a:lnTo>
                      <a:pt x="0" y="284798"/>
                    </a:lnTo>
                    <a:lnTo>
                      <a:pt x="40005" y="324803"/>
                    </a:lnTo>
                    <a:lnTo>
                      <a:pt x="172403" y="192405"/>
                    </a:lnTo>
                    <a:lnTo>
                      <a:pt x="229553" y="249555"/>
                    </a:lnTo>
                    <a:lnTo>
                      <a:pt x="324803" y="154305"/>
                    </a:lnTo>
                    <a:lnTo>
                      <a:pt x="381953" y="211455"/>
                    </a:lnTo>
                    <a:lnTo>
                      <a:pt x="497205" y="96202"/>
                    </a:lnTo>
                    <a:lnTo>
                      <a:pt x="553403" y="152400"/>
                    </a:lnTo>
                    <a:lnTo>
                      <a:pt x="553403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5" name="Gruppo 54">
            <a:extLst>
              <a:ext uri="{FF2B5EF4-FFF2-40B4-BE49-F238E27FC236}">
                <a16:creationId xmlns:a16="http://schemas.microsoft.com/office/drawing/2014/main" id="{05339292-B0F4-516C-C1F6-9FB27D5C4FF7}"/>
              </a:ext>
            </a:extLst>
          </p:cNvPr>
          <p:cNvGrpSpPr/>
          <p:nvPr/>
        </p:nvGrpSpPr>
        <p:grpSpPr>
          <a:xfrm>
            <a:off x="7478436" y="4400235"/>
            <a:ext cx="848138" cy="223202"/>
            <a:chOff x="1853641" y="3716179"/>
            <a:chExt cx="877138" cy="223202"/>
          </a:xfrm>
        </p:grpSpPr>
        <p:sp>
          <p:nvSpPr>
            <p:cNvPr id="56" name="Rettangolo con angoli arrotondati 55">
              <a:extLst>
                <a:ext uri="{FF2B5EF4-FFF2-40B4-BE49-F238E27FC236}">
                  <a16:creationId xmlns:a16="http://schemas.microsoft.com/office/drawing/2014/main" id="{36BFA12E-66C1-C295-1208-DA91BEE7FBCB}"/>
                </a:ext>
              </a:extLst>
            </p:cNvPr>
            <p:cNvSpPr/>
            <p:nvPr/>
          </p:nvSpPr>
          <p:spPr>
            <a:xfrm>
              <a:off x="1853641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DengXian" panose="02010600030101010101" pitchFamily="2" charset="-122"/>
                  <a:cs typeface="+mn-cs"/>
                </a:rPr>
                <a:t>B</a:t>
              </a:r>
            </a:p>
          </p:txBody>
        </p:sp>
        <p:sp>
          <p:nvSpPr>
            <p:cNvPr id="57" name="Rettangolo con angoli arrotondati 56">
              <a:extLst>
                <a:ext uri="{FF2B5EF4-FFF2-40B4-BE49-F238E27FC236}">
                  <a16:creationId xmlns:a16="http://schemas.microsoft.com/office/drawing/2014/main" id="{5EE356B9-C115-07F8-F3E8-6A35BA7F871F}"/>
                </a:ext>
              </a:extLst>
            </p:cNvPr>
            <p:cNvSpPr/>
            <p:nvPr/>
          </p:nvSpPr>
          <p:spPr>
            <a:xfrm>
              <a:off x="2146021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DengXian" panose="02010600030101010101" pitchFamily="2" charset="-122"/>
                  <a:cs typeface="+mn-cs"/>
                </a:rPr>
                <a:t>S</a:t>
              </a:r>
            </a:p>
          </p:txBody>
        </p:sp>
        <p:sp>
          <p:nvSpPr>
            <p:cNvPr id="58" name="Rettangolo con angoli arrotondati 57">
              <a:extLst>
                <a:ext uri="{FF2B5EF4-FFF2-40B4-BE49-F238E27FC236}">
                  <a16:creationId xmlns:a16="http://schemas.microsoft.com/office/drawing/2014/main" id="{41EBDD1D-C624-18BD-E911-C2D45351C990}"/>
                </a:ext>
              </a:extLst>
            </p:cNvPr>
            <p:cNvSpPr/>
            <p:nvPr/>
          </p:nvSpPr>
          <p:spPr>
            <a:xfrm>
              <a:off x="2438400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Light" panose="020B0304020202020204" pitchFamily="34" charset="0"/>
                <a:ea typeface="DengXian" panose="02010600030101010101" pitchFamily="2" charset="-122"/>
                <a:cs typeface="+mn-cs"/>
              </a:endParaRPr>
            </a:p>
          </p:txBody>
        </p:sp>
        <p:grpSp>
          <p:nvGrpSpPr>
            <p:cNvPr id="59" name="Gruppo 58">
              <a:extLst>
                <a:ext uri="{FF2B5EF4-FFF2-40B4-BE49-F238E27FC236}">
                  <a16:creationId xmlns:a16="http://schemas.microsoft.com/office/drawing/2014/main" id="{E253766F-D6BC-6326-7B51-3FB45F130C1C}"/>
                </a:ext>
              </a:extLst>
            </p:cNvPr>
            <p:cNvGrpSpPr/>
            <p:nvPr/>
          </p:nvGrpSpPr>
          <p:grpSpPr>
            <a:xfrm>
              <a:off x="2501245" y="3744436"/>
              <a:ext cx="166687" cy="166687"/>
              <a:chOff x="2224088" y="3014663"/>
              <a:chExt cx="647700" cy="647700"/>
            </a:xfrm>
          </p:grpSpPr>
          <p:sp>
            <p:nvSpPr>
              <p:cNvPr id="60" name="Figura a mano libera: forma 59">
                <a:extLst>
                  <a:ext uri="{FF2B5EF4-FFF2-40B4-BE49-F238E27FC236}">
                    <a16:creationId xmlns:a16="http://schemas.microsoft.com/office/drawing/2014/main" id="{746CD298-E003-61C6-89F2-962D355B5581}"/>
                  </a:ext>
                </a:extLst>
              </p:cNvPr>
              <p:cNvSpPr/>
              <p:nvPr/>
            </p:nvSpPr>
            <p:spPr>
              <a:xfrm>
                <a:off x="2224088" y="3014663"/>
                <a:ext cx="647700" cy="647700"/>
              </a:xfrm>
              <a:custGeom>
                <a:avLst/>
                <a:gdLst>
                  <a:gd name="connsiteX0" fmla="*/ 57150 w 647700"/>
                  <a:gd name="connsiteY0" fmla="*/ 0 h 647700"/>
                  <a:gd name="connsiteX1" fmla="*/ 0 w 647700"/>
                  <a:gd name="connsiteY1" fmla="*/ 0 h 647700"/>
                  <a:gd name="connsiteX2" fmla="*/ 0 w 647700"/>
                  <a:gd name="connsiteY2" fmla="*/ 647700 h 647700"/>
                  <a:gd name="connsiteX3" fmla="*/ 647700 w 647700"/>
                  <a:gd name="connsiteY3" fmla="*/ 647700 h 647700"/>
                  <a:gd name="connsiteX4" fmla="*/ 647700 w 647700"/>
                  <a:gd name="connsiteY4" fmla="*/ 590550 h 647700"/>
                  <a:gd name="connsiteX5" fmla="*/ 57150 w 647700"/>
                  <a:gd name="connsiteY5" fmla="*/ 590550 h 647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7700" h="647700">
                    <a:moveTo>
                      <a:pt x="57150" y="0"/>
                    </a:moveTo>
                    <a:lnTo>
                      <a:pt x="0" y="0"/>
                    </a:lnTo>
                    <a:lnTo>
                      <a:pt x="0" y="647700"/>
                    </a:lnTo>
                    <a:lnTo>
                      <a:pt x="647700" y="647700"/>
                    </a:lnTo>
                    <a:lnTo>
                      <a:pt x="647700" y="590550"/>
                    </a:lnTo>
                    <a:lnTo>
                      <a:pt x="57150" y="59055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1" name="Figura a mano libera: forma 60">
                <a:extLst>
                  <a:ext uri="{FF2B5EF4-FFF2-40B4-BE49-F238E27FC236}">
                    <a16:creationId xmlns:a16="http://schemas.microsoft.com/office/drawing/2014/main" id="{0A13E114-8635-CF86-FE64-76353B8F5047}"/>
                  </a:ext>
                </a:extLst>
              </p:cNvPr>
              <p:cNvSpPr/>
              <p:nvPr/>
            </p:nvSpPr>
            <p:spPr>
              <a:xfrm>
                <a:off x="2318385" y="3176588"/>
                <a:ext cx="553402" cy="324802"/>
              </a:xfrm>
              <a:custGeom>
                <a:avLst/>
                <a:gdLst>
                  <a:gd name="connsiteX0" fmla="*/ 401003 w 553402"/>
                  <a:gd name="connsiteY0" fmla="*/ 0 h 324802"/>
                  <a:gd name="connsiteX1" fmla="*/ 457200 w 553402"/>
                  <a:gd name="connsiteY1" fmla="*/ 56198 h 324802"/>
                  <a:gd name="connsiteX2" fmla="*/ 381953 w 553402"/>
                  <a:gd name="connsiteY2" fmla="*/ 131445 h 324802"/>
                  <a:gd name="connsiteX3" fmla="*/ 324803 w 553402"/>
                  <a:gd name="connsiteY3" fmla="*/ 74295 h 324802"/>
                  <a:gd name="connsiteX4" fmla="*/ 229553 w 553402"/>
                  <a:gd name="connsiteY4" fmla="*/ 169545 h 324802"/>
                  <a:gd name="connsiteX5" fmla="*/ 172403 w 553402"/>
                  <a:gd name="connsiteY5" fmla="*/ 112395 h 324802"/>
                  <a:gd name="connsiteX6" fmla="*/ 0 w 553402"/>
                  <a:gd name="connsiteY6" fmla="*/ 284798 h 324802"/>
                  <a:gd name="connsiteX7" fmla="*/ 40005 w 553402"/>
                  <a:gd name="connsiteY7" fmla="*/ 324803 h 324802"/>
                  <a:gd name="connsiteX8" fmla="*/ 172403 w 553402"/>
                  <a:gd name="connsiteY8" fmla="*/ 192405 h 324802"/>
                  <a:gd name="connsiteX9" fmla="*/ 229553 w 553402"/>
                  <a:gd name="connsiteY9" fmla="*/ 249555 h 324802"/>
                  <a:gd name="connsiteX10" fmla="*/ 324803 w 553402"/>
                  <a:gd name="connsiteY10" fmla="*/ 154305 h 324802"/>
                  <a:gd name="connsiteX11" fmla="*/ 381953 w 553402"/>
                  <a:gd name="connsiteY11" fmla="*/ 211455 h 324802"/>
                  <a:gd name="connsiteX12" fmla="*/ 497205 w 553402"/>
                  <a:gd name="connsiteY12" fmla="*/ 96202 h 324802"/>
                  <a:gd name="connsiteX13" fmla="*/ 553403 w 553402"/>
                  <a:gd name="connsiteY13" fmla="*/ 152400 h 324802"/>
                  <a:gd name="connsiteX14" fmla="*/ 553403 w 553402"/>
                  <a:gd name="connsiteY14" fmla="*/ 0 h 3248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53402" h="324802">
                    <a:moveTo>
                      <a:pt x="401003" y="0"/>
                    </a:moveTo>
                    <a:lnTo>
                      <a:pt x="457200" y="56198"/>
                    </a:lnTo>
                    <a:lnTo>
                      <a:pt x="381953" y="131445"/>
                    </a:lnTo>
                    <a:lnTo>
                      <a:pt x="324803" y="74295"/>
                    </a:lnTo>
                    <a:lnTo>
                      <a:pt x="229553" y="169545"/>
                    </a:lnTo>
                    <a:lnTo>
                      <a:pt x="172403" y="112395"/>
                    </a:lnTo>
                    <a:lnTo>
                      <a:pt x="0" y="284798"/>
                    </a:lnTo>
                    <a:lnTo>
                      <a:pt x="40005" y="324803"/>
                    </a:lnTo>
                    <a:lnTo>
                      <a:pt x="172403" y="192405"/>
                    </a:lnTo>
                    <a:lnTo>
                      <a:pt x="229553" y="249555"/>
                    </a:lnTo>
                    <a:lnTo>
                      <a:pt x="324803" y="154305"/>
                    </a:lnTo>
                    <a:lnTo>
                      <a:pt x="381953" y="211455"/>
                    </a:lnTo>
                    <a:lnTo>
                      <a:pt x="497205" y="96202"/>
                    </a:lnTo>
                    <a:lnTo>
                      <a:pt x="553403" y="152400"/>
                    </a:lnTo>
                    <a:lnTo>
                      <a:pt x="553403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2" name="Gruppo 61">
            <a:extLst>
              <a:ext uri="{FF2B5EF4-FFF2-40B4-BE49-F238E27FC236}">
                <a16:creationId xmlns:a16="http://schemas.microsoft.com/office/drawing/2014/main" id="{7E51CB84-3558-6169-505D-24B9EEA78C11}"/>
              </a:ext>
            </a:extLst>
          </p:cNvPr>
          <p:cNvGrpSpPr/>
          <p:nvPr/>
        </p:nvGrpSpPr>
        <p:grpSpPr>
          <a:xfrm>
            <a:off x="7495828" y="4783207"/>
            <a:ext cx="848138" cy="223202"/>
            <a:chOff x="1853641" y="3716179"/>
            <a:chExt cx="877138" cy="223202"/>
          </a:xfrm>
        </p:grpSpPr>
        <p:sp>
          <p:nvSpPr>
            <p:cNvPr id="63" name="Rettangolo con angoli arrotondati 62">
              <a:extLst>
                <a:ext uri="{FF2B5EF4-FFF2-40B4-BE49-F238E27FC236}">
                  <a16:creationId xmlns:a16="http://schemas.microsoft.com/office/drawing/2014/main" id="{B0FD5454-5E78-6ACB-D310-783207BF56B6}"/>
                </a:ext>
              </a:extLst>
            </p:cNvPr>
            <p:cNvSpPr/>
            <p:nvPr/>
          </p:nvSpPr>
          <p:spPr>
            <a:xfrm>
              <a:off x="1853641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DengXian" panose="02010600030101010101" pitchFamily="2" charset="-122"/>
                  <a:cs typeface="+mn-cs"/>
                </a:rPr>
                <a:t>B</a:t>
              </a:r>
            </a:p>
          </p:txBody>
        </p:sp>
        <p:sp>
          <p:nvSpPr>
            <p:cNvPr id="64" name="Rettangolo con angoli arrotondati 63">
              <a:extLst>
                <a:ext uri="{FF2B5EF4-FFF2-40B4-BE49-F238E27FC236}">
                  <a16:creationId xmlns:a16="http://schemas.microsoft.com/office/drawing/2014/main" id="{12CF4007-31C1-6BC3-4A4A-E9C30D7EE141}"/>
                </a:ext>
              </a:extLst>
            </p:cNvPr>
            <p:cNvSpPr/>
            <p:nvPr/>
          </p:nvSpPr>
          <p:spPr>
            <a:xfrm>
              <a:off x="2146021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DengXian" panose="02010600030101010101" pitchFamily="2" charset="-122"/>
                  <a:cs typeface="+mn-cs"/>
                </a:rPr>
                <a:t>S</a:t>
              </a:r>
            </a:p>
          </p:txBody>
        </p:sp>
        <p:sp>
          <p:nvSpPr>
            <p:cNvPr id="65" name="Rettangolo con angoli arrotondati 64">
              <a:extLst>
                <a:ext uri="{FF2B5EF4-FFF2-40B4-BE49-F238E27FC236}">
                  <a16:creationId xmlns:a16="http://schemas.microsoft.com/office/drawing/2014/main" id="{13D83C70-7DA1-57D4-478D-EB2EF520B6B2}"/>
                </a:ext>
              </a:extLst>
            </p:cNvPr>
            <p:cNvSpPr/>
            <p:nvPr/>
          </p:nvSpPr>
          <p:spPr>
            <a:xfrm>
              <a:off x="2438400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Light" panose="020B0304020202020204" pitchFamily="34" charset="0"/>
                <a:ea typeface="DengXian" panose="02010600030101010101" pitchFamily="2" charset="-122"/>
                <a:cs typeface="+mn-cs"/>
              </a:endParaRPr>
            </a:p>
          </p:txBody>
        </p:sp>
        <p:grpSp>
          <p:nvGrpSpPr>
            <p:cNvPr id="66" name="Gruppo 65">
              <a:extLst>
                <a:ext uri="{FF2B5EF4-FFF2-40B4-BE49-F238E27FC236}">
                  <a16:creationId xmlns:a16="http://schemas.microsoft.com/office/drawing/2014/main" id="{3F587A9B-DCAF-9EB7-87CA-B594AFFE21D5}"/>
                </a:ext>
              </a:extLst>
            </p:cNvPr>
            <p:cNvGrpSpPr/>
            <p:nvPr/>
          </p:nvGrpSpPr>
          <p:grpSpPr>
            <a:xfrm>
              <a:off x="2501245" y="3744436"/>
              <a:ext cx="166687" cy="166687"/>
              <a:chOff x="2224088" y="3014663"/>
              <a:chExt cx="647700" cy="647700"/>
            </a:xfrm>
          </p:grpSpPr>
          <p:sp>
            <p:nvSpPr>
              <p:cNvPr id="67" name="Figura a mano libera: forma 66">
                <a:extLst>
                  <a:ext uri="{FF2B5EF4-FFF2-40B4-BE49-F238E27FC236}">
                    <a16:creationId xmlns:a16="http://schemas.microsoft.com/office/drawing/2014/main" id="{4A719F7A-300E-2438-EC8E-9F442B205883}"/>
                  </a:ext>
                </a:extLst>
              </p:cNvPr>
              <p:cNvSpPr/>
              <p:nvPr/>
            </p:nvSpPr>
            <p:spPr>
              <a:xfrm>
                <a:off x="2224088" y="3014663"/>
                <a:ext cx="647700" cy="647700"/>
              </a:xfrm>
              <a:custGeom>
                <a:avLst/>
                <a:gdLst>
                  <a:gd name="connsiteX0" fmla="*/ 57150 w 647700"/>
                  <a:gd name="connsiteY0" fmla="*/ 0 h 647700"/>
                  <a:gd name="connsiteX1" fmla="*/ 0 w 647700"/>
                  <a:gd name="connsiteY1" fmla="*/ 0 h 647700"/>
                  <a:gd name="connsiteX2" fmla="*/ 0 w 647700"/>
                  <a:gd name="connsiteY2" fmla="*/ 647700 h 647700"/>
                  <a:gd name="connsiteX3" fmla="*/ 647700 w 647700"/>
                  <a:gd name="connsiteY3" fmla="*/ 647700 h 647700"/>
                  <a:gd name="connsiteX4" fmla="*/ 647700 w 647700"/>
                  <a:gd name="connsiteY4" fmla="*/ 590550 h 647700"/>
                  <a:gd name="connsiteX5" fmla="*/ 57150 w 647700"/>
                  <a:gd name="connsiteY5" fmla="*/ 590550 h 647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7700" h="647700">
                    <a:moveTo>
                      <a:pt x="57150" y="0"/>
                    </a:moveTo>
                    <a:lnTo>
                      <a:pt x="0" y="0"/>
                    </a:lnTo>
                    <a:lnTo>
                      <a:pt x="0" y="647700"/>
                    </a:lnTo>
                    <a:lnTo>
                      <a:pt x="647700" y="647700"/>
                    </a:lnTo>
                    <a:lnTo>
                      <a:pt x="647700" y="590550"/>
                    </a:lnTo>
                    <a:lnTo>
                      <a:pt x="57150" y="59055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8" name="Figura a mano libera: forma 67">
                <a:extLst>
                  <a:ext uri="{FF2B5EF4-FFF2-40B4-BE49-F238E27FC236}">
                    <a16:creationId xmlns:a16="http://schemas.microsoft.com/office/drawing/2014/main" id="{B7CE3BE8-F5A2-C2D0-C7CE-81430966F1E8}"/>
                  </a:ext>
                </a:extLst>
              </p:cNvPr>
              <p:cNvSpPr/>
              <p:nvPr/>
            </p:nvSpPr>
            <p:spPr>
              <a:xfrm>
                <a:off x="2318385" y="3176588"/>
                <a:ext cx="553402" cy="324802"/>
              </a:xfrm>
              <a:custGeom>
                <a:avLst/>
                <a:gdLst>
                  <a:gd name="connsiteX0" fmla="*/ 401003 w 553402"/>
                  <a:gd name="connsiteY0" fmla="*/ 0 h 324802"/>
                  <a:gd name="connsiteX1" fmla="*/ 457200 w 553402"/>
                  <a:gd name="connsiteY1" fmla="*/ 56198 h 324802"/>
                  <a:gd name="connsiteX2" fmla="*/ 381953 w 553402"/>
                  <a:gd name="connsiteY2" fmla="*/ 131445 h 324802"/>
                  <a:gd name="connsiteX3" fmla="*/ 324803 w 553402"/>
                  <a:gd name="connsiteY3" fmla="*/ 74295 h 324802"/>
                  <a:gd name="connsiteX4" fmla="*/ 229553 w 553402"/>
                  <a:gd name="connsiteY4" fmla="*/ 169545 h 324802"/>
                  <a:gd name="connsiteX5" fmla="*/ 172403 w 553402"/>
                  <a:gd name="connsiteY5" fmla="*/ 112395 h 324802"/>
                  <a:gd name="connsiteX6" fmla="*/ 0 w 553402"/>
                  <a:gd name="connsiteY6" fmla="*/ 284798 h 324802"/>
                  <a:gd name="connsiteX7" fmla="*/ 40005 w 553402"/>
                  <a:gd name="connsiteY7" fmla="*/ 324803 h 324802"/>
                  <a:gd name="connsiteX8" fmla="*/ 172403 w 553402"/>
                  <a:gd name="connsiteY8" fmla="*/ 192405 h 324802"/>
                  <a:gd name="connsiteX9" fmla="*/ 229553 w 553402"/>
                  <a:gd name="connsiteY9" fmla="*/ 249555 h 324802"/>
                  <a:gd name="connsiteX10" fmla="*/ 324803 w 553402"/>
                  <a:gd name="connsiteY10" fmla="*/ 154305 h 324802"/>
                  <a:gd name="connsiteX11" fmla="*/ 381953 w 553402"/>
                  <a:gd name="connsiteY11" fmla="*/ 211455 h 324802"/>
                  <a:gd name="connsiteX12" fmla="*/ 497205 w 553402"/>
                  <a:gd name="connsiteY12" fmla="*/ 96202 h 324802"/>
                  <a:gd name="connsiteX13" fmla="*/ 553403 w 553402"/>
                  <a:gd name="connsiteY13" fmla="*/ 152400 h 324802"/>
                  <a:gd name="connsiteX14" fmla="*/ 553403 w 553402"/>
                  <a:gd name="connsiteY14" fmla="*/ 0 h 3248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53402" h="324802">
                    <a:moveTo>
                      <a:pt x="401003" y="0"/>
                    </a:moveTo>
                    <a:lnTo>
                      <a:pt x="457200" y="56198"/>
                    </a:lnTo>
                    <a:lnTo>
                      <a:pt x="381953" y="131445"/>
                    </a:lnTo>
                    <a:lnTo>
                      <a:pt x="324803" y="74295"/>
                    </a:lnTo>
                    <a:lnTo>
                      <a:pt x="229553" y="169545"/>
                    </a:lnTo>
                    <a:lnTo>
                      <a:pt x="172403" y="112395"/>
                    </a:lnTo>
                    <a:lnTo>
                      <a:pt x="0" y="284798"/>
                    </a:lnTo>
                    <a:lnTo>
                      <a:pt x="40005" y="324803"/>
                    </a:lnTo>
                    <a:lnTo>
                      <a:pt x="172403" y="192405"/>
                    </a:lnTo>
                    <a:lnTo>
                      <a:pt x="229553" y="249555"/>
                    </a:lnTo>
                    <a:lnTo>
                      <a:pt x="324803" y="154305"/>
                    </a:lnTo>
                    <a:lnTo>
                      <a:pt x="381953" y="211455"/>
                    </a:lnTo>
                    <a:lnTo>
                      <a:pt x="497205" y="96202"/>
                    </a:lnTo>
                    <a:lnTo>
                      <a:pt x="553403" y="152400"/>
                    </a:lnTo>
                    <a:lnTo>
                      <a:pt x="553403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9" name="Gruppo 68">
            <a:extLst>
              <a:ext uri="{FF2B5EF4-FFF2-40B4-BE49-F238E27FC236}">
                <a16:creationId xmlns:a16="http://schemas.microsoft.com/office/drawing/2014/main" id="{B42F30A1-DF15-0FAE-EFB7-714EB3C52D79}"/>
              </a:ext>
            </a:extLst>
          </p:cNvPr>
          <p:cNvGrpSpPr/>
          <p:nvPr/>
        </p:nvGrpSpPr>
        <p:grpSpPr>
          <a:xfrm>
            <a:off x="7495828" y="5148158"/>
            <a:ext cx="848138" cy="223202"/>
            <a:chOff x="1853641" y="3716179"/>
            <a:chExt cx="877138" cy="223202"/>
          </a:xfrm>
        </p:grpSpPr>
        <p:sp>
          <p:nvSpPr>
            <p:cNvPr id="70" name="Rettangolo con angoli arrotondati 69">
              <a:extLst>
                <a:ext uri="{FF2B5EF4-FFF2-40B4-BE49-F238E27FC236}">
                  <a16:creationId xmlns:a16="http://schemas.microsoft.com/office/drawing/2014/main" id="{610F7C62-C2CA-AA65-D277-863C04952751}"/>
                </a:ext>
              </a:extLst>
            </p:cNvPr>
            <p:cNvSpPr/>
            <p:nvPr/>
          </p:nvSpPr>
          <p:spPr>
            <a:xfrm>
              <a:off x="1853641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DengXian" panose="02010600030101010101" pitchFamily="2" charset="-122"/>
                  <a:cs typeface="+mn-cs"/>
                </a:rPr>
                <a:t>B</a:t>
              </a:r>
            </a:p>
          </p:txBody>
        </p:sp>
        <p:sp>
          <p:nvSpPr>
            <p:cNvPr id="71" name="Rettangolo con angoli arrotondati 70">
              <a:extLst>
                <a:ext uri="{FF2B5EF4-FFF2-40B4-BE49-F238E27FC236}">
                  <a16:creationId xmlns:a16="http://schemas.microsoft.com/office/drawing/2014/main" id="{D0F57B16-E1C8-1F1C-A091-D3B314C80C1F}"/>
                </a:ext>
              </a:extLst>
            </p:cNvPr>
            <p:cNvSpPr/>
            <p:nvPr/>
          </p:nvSpPr>
          <p:spPr>
            <a:xfrm>
              <a:off x="2146021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DengXian" panose="02010600030101010101" pitchFamily="2" charset="-122"/>
                  <a:cs typeface="+mn-cs"/>
                </a:rPr>
                <a:t>S</a:t>
              </a:r>
            </a:p>
          </p:txBody>
        </p:sp>
        <p:sp>
          <p:nvSpPr>
            <p:cNvPr id="72" name="Rettangolo con angoli arrotondati 71">
              <a:extLst>
                <a:ext uri="{FF2B5EF4-FFF2-40B4-BE49-F238E27FC236}">
                  <a16:creationId xmlns:a16="http://schemas.microsoft.com/office/drawing/2014/main" id="{1F0884D2-8189-C8E3-0A6D-7D662780BFB6}"/>
                </a:ext>
              </a:extLst>
            </p:cNvPr>
            <p:cNvSpPr/>
            <p:nvPr/>
          </p:nvSpPr>
          <p:spPr>
            <a:xfrm>
              <a:off x="2438400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Light" panose="020B0304020202020204" pitchFamily="34" charset="0"/>
                <a:ea typeface="DengXian" panose="02010600030101010101" pitchFamily="2" charset="-122"/>
                <a:cs typeface="+mn-cs"/>
              </a:endParaRPr>
            </a:p>
          </p:txBody>
        </p:sp>
        <p:grpSp>
          <p:nvGrpSpPr>
            <p:cNvPr id="73" name="Gruppo 72">
              <a:extLst>
                <a:ext uri="{FF2B5EF4-FFF2-40B4-BE49-F238E27FC236}">
                  <a16:creationId xmlns:a16="http://schemas.microsoft.com/office/drawing/2014/main" id="{B21E89FA-5B2A-0DC9-D749-76F1C217063D}"/>
                </a:ext>
              </a:extLst>
            </p:cNvPr>
            <p:cNvGrpSpPr/>
            <p:nvPr/>
          </p:nvGrpSpPr>
          <p:grpSpPr>
            <a:xfrm>
              <a:off x="2501245" y="3744436"/>
              <a:ext cx="166687" cy="166687"/>
              <a:chOff x="2224088" y="3014663"/>
              <a:chExt cx="647700" cy="647700"/>
            </a:xfrm>
          </p:grpSpPr>
          <p:sp>
            <p:nvSpPr>
              <p:cNvPr id="74" name="Figura a mano libera: forma 73">
                <a:extLst>
                  <a:ext uri="{FF2B5EF4-FFF2-40B4-BE49-F238E27FC236}">
                    <a16:creationId xmlns:a16="http://schemas.microsoft.com/office/drawing/2014/main" id="{28CF4AB5-5BE9-842A-6D6B-5B66B4113D2F}"/>
                  </a:ext>
                </a:extLst>
              </p:cNvPr>
              <p:cNvSpPr/>
              <p:nvPr/>
            </p:nvSpPr>
            <p:spPr>
              <a:xfrm>
                <a:off x="2224088" y="3014663"/>
                <a:ext cx="647700" cy="647700"/>
              </a:xfrm>
              <a:custGeom>
                <a:avLst/>
                <a:gdLst>
                  <a:gd name="connsiteX0" fmla="*/ 57150 w 647700"/>
                  <a:gd name="connsiteY0" fmla="*/ 0 h 647700"/>
                  <a:gd name="connsiteX1" fmla="*/ 0 w 647700"/>
                  <a:gd name="connsiteY1" fmla="*/ 0 h 647700"/>
                  <a:gd name="connsiteX2" fmla="*/ 0 w 647700"/>
                  <a:gd name="connsiteY2" fmla="*/ 647700 h 647700"/>
                  <a:gd name="connsiteX3" fmla="*/ 647700 w 647700"/>
                  <a:gd name="connsiteY3" fmla="*/ 647700 h 647700"/>
                  <a:gd name="connsiteX4" fmla="*/ 647700 w 647700"/>
                  <a:gd name="connsiteY4" fmla="*/ 590550 h 647700"/>
                  <a:gd name="connsiteX5" fmla="*/ 57150 w 647700"/>
                  <a:gd name="connsiteY5" fmla="*/ 590550 h 647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7700" h="647700">
                    <a:moveTo>
                      <a:pt x="57150" y="0"/>
                    </a:moveTo>
                    <a:lnTo>
                      <a:pt x="0" y="0"/>
                    </a:lnTo>
                    <a:lnTo>
                      <a:pt x="0" y="647700"/>
                    </a:lnTo>
                    <a:lnTo>
                      <a:pt x="647700" y="647700"/>
                    </a:lnTo>
                    <a:lnTo>
                      <a:pt x="647700" y="590550"/>
                    </a:lnTo>
                    <a:lnTo>
                      <a:pt x="57150" y="59055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5" name="Figura a mano libera: forma 74">
                <a:extLst>
                  <a:ext uri="{FF2B5EF4-FFF2-40B4-BE49-F238E27FC236}">
                    <a16:creationId xmlns:a16="http://schemas.microsoft.com/office/drawing/2014/main" id="{52A9A196-1066-9001-A468-C9887BBC72AA}"/>
                  </a:ext>
                </a:extLst>
              </p:cNvPr>
              <p:cNvSpPr/>
              <p:nvPr/>
            </p:nvSpPr>
            <p:spPr>
              <a:xfrm>
                <a:off x="2318385" y="3176588"/>
                <a:ext cx="553402" cy="324802"/>
              </a:xfrm>
              <a:custGeom>
                <a:avLst/>
                <a:gdLst>
                  <a:gd name="connsiteX0" fmla="*/ 401003 w 553402"/>
                  <a:gd name="connsiteY0" fmla="*/ 0 h 324802"/>
                  <a:gd name="connsiteX1" fmla="*/ 457200 w 553402"/>
                  <a:gd name="connsiteY1" fmla="*/ 56198 h 324802"/>
                  <a:gd name="connsiteX2" fmla="*/ 381953 w 553402"/>
                  <a:gd name="connsiteY2" fmla="*/ 131445 h 324802"/>
                  <a:gd name="connsiteX3" fmla="*/ 324803 w 553402"/>
                  <a:gd name="connsiteY3" fmla="*/ 74295 h 324802"/>
                  <a:gd name="connsiteX4" fmla="*/ 229553 w 553402"/>
                  <a:gd name="connsiteY4" fmla="*/ 169545 h 324802"/>
                  <a:gd name="connsiteX5" fmla="*/ 172403 w 553402"/>
                  <a:gd name="connsiteY5" fmla="*/ 112395 h 324802"/>
                  <a:gd name="connsiteX6" fmla="*/ 0 w 553402"/>
                  <a:gd name="connsiteY6" fmla="*/ 284798 h 324802"/>
                  <a:gd name="connsiteX7" fmla="*/ 40005 w 553402"/>
                  <a:gd name="connsiteY7" fmla="*/ 324803 h 324802"/>
                  <a:gd name="connsiteX8" fmla="*/ 172403 w 553402"/>
                  <a:gd name="connsiteY8" fmla="*/ 192405 h 324802"/>
                  <a:gd name="connsiteX9" fmla="*/ 229553 w 553402"/>
                  <a:gd name="connsiteY9" fmla="*/ 249555 h 324802"/>
                  <a:gd name="connsiteX10" fmla="*/ 324803 w 553402"/>
                  <a:gd name="connsiteY10" fmla="*/ 154305 h 324802"/>
                  <a:gd name="connsiteX11" fmla="*/ 381953 w 553402"/>
                  <a:gd name="connsiteY11" fmla="*/ 211455 h 324802"/>
                  <a:gd name="connsiteX12" fmla="*/ 497205 w 553402"/>
                  <a:gd name="connsiteY12" fmla="*/ 96202 h 324802"/>
                  <a:gd name="connsiteX13" fmla="*/ 553403 w 553402"/>
                  <a:gd name="connsiteY13" fmla="*/ 152400 h 324802"/>
                  <a:gd name="connsiteX14" fmla="*/ 553403 w 553402"/>
                  <a:gd name="connsiteY14" fmla="*/ 0 h 3248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53402" h="324802">
                    <a:moveTo>
                      <a:pt x="401003" y="0"/>
                    </a:moveTo>
                    <a:lnTo>
                      <a:pt x="457200" y="56198"/>
                    </a:lnTo>
                    <a:lnTo>
                      <a:pt x="381953" y="131445"/>
                    </a:lnTo>
                    <a:lnTo>
                      <a:pt x="324803" y="74295"/>
                    </a:lnTo>
                    <a:lnTo>
                      <a:pt x="229553" y="169545"/>
                    </a:lnTo>
                    <a:lnTo>
                      <a:pt x="172403" y="112395"/>
                    </a:lnTo>
                    <a:lnTo>
                      <a:pt x="0" y="284798"/>
                    </a:lnTo>
                    <a:lnTo>
                      <a:pt x="40005" y="324803"/>
                    </a:lnTo>
                    <a:lnTo>
                      <a:pt x="172403" y="192405"/>
                    </a:lnTo>
                    <a:lnTo>
                      <a:pt x="229553" y="249555"/>
                    </a:lnTo>
                    <a:lnTo>
                      <a:pt x="324803" y="154305"/>
                    </a:lnTo>
                    <a:lnTo>
                      <a:pt x="381953" y="211455"/>
                    </a:lnTo>
                    <a:lnTo>
                      <a:pt x="497205" y="96202"/>
                    </a:lnTo>
                    <a:lnTo>
                      <a:pt x="553403" y="152400"/>
                    </a:lnTo>
                    <a:lnTo>
                      <a:pt x="553403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6" name="Gruppo 75">
            <a:extLst>
              <a:ext uri="{FF2B5EF4-FFF2-40B4-BE49-F238E27FC236}">
                <a16:creationId xmlns:a16="http://schemas.microsoft.com/office/drawing/2014/main" id="{ED30D212-4B9B-62B7-E93E-72A76931D091}"/>
              </a:ext>
            </a:extLst>
          </p:cNvPr>
          <p:cNvGrpSpPr/>
          <p:nvPr/>
        </p:nvGrpSpPr>
        <p:grpSpPr>
          <a:xfrm>
            <a:off x="7495828" y="5547380"/>
            <a:ext cx="848138" cy="223202"/>
            <a:chOff x="1853641" y="3716179"/>
            <a:chExt cx="877138" cy="223202"/>
          </a:xfrm>
        </p:grpSpPr>
        <p:sp>
          <p:nvSpPr>
            <p:cNvPr id="77" name="Rettangolo con angoli arrotondati 76">
              <a:extLst>
                <a:ext uri="{FF2B5EF4-FFF2-40B4-BE49-F238E27FC236}">
                  <a16:creationId xmlns:a16="http://schemas.microsoft.com/office/drawing/2014/main" id="{83E654BF-C8EE-32E8-C2B3-E2B5742BC8AD}"/>
                </a:ext>
              </a:extLst>
            </p:cNvPr>
            <p:cNvSpPr/>
            <p:nvPr/>
          </p:nvSpPr>
          <p:spPr>
            <a:xfrm>
              <a:off x="1853641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DengXian" panose="02010600030101010101" pitchFamily="2" charset="-122"/>
                  <a:cs typeface="+mn-cs"/>
                </a:rPr>
                <a:t>B</a:t>
              </a:r>
            </a:p>
          </p:txBody>
        </p:sp>
        <p:sp>
          <p:nvSpPr>
            <p:cNvPr id="78" name="Rettangolo con angoli arrotondati 77">
              <a:extLst>
                <a:ext uri="{FF2B5EF4-FFF2-40B4-BE49-F238E27FC236}">
                  <a16:creationId xmlns:a16="http://schemas.microsoft.com/office/drawing/2014/main" id="{8C09C1FD-90AB-3328-1511-8399D259A503}"/>
                </a:ext>
              </a:extLst>
            </p:cNvPr>
            <p:cNvSpPr/>
            <p:nvPr/>
          </p:nvSpPr>
          <p:spPr>
            <a:xfrm>
              <a:off x="2146021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DengXian" panose="02010600030101010101" pitchFamily="2" charset="-122"/>
                  <a:cs typeface="+mn-cs"/>
                </a:rPr>
                <a:t>S</a:t>
              </a:r>
            </a:p>
          </p:txBody>
        </p:sp>
        <p:sp>
          <p:nvSpPr>
            <p:cNvPr id="79" name="Rettangolo con angoli arrotondati 78">
              <a:extLst>
                <a:ext uri="{FF2B5EF4-FFF2-40B4-BE49-F238E27FC236}">
                  <a16:creationId xmlns:a16="http://schemas.microsoft.com/office/drawing/2014/main" id="{3E05B6D4-EA1D-9749-FCEE-994C6D0ED71C}"/>
                </a:ext>
              </a:extLst>
            </p:cNvPr>
            <p:cNvSpPr/>
            <p:nvPr/>
          </p:nvSpPr>
          <p:spPr>
            <a:xfrm>
              <a:off x="2438400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Light" panose="020B0304020202020204" pitchFamily="34" charset="0"/>
                <a:ea typeface="DengXian" panose="02010600030101010101" pitchFamily="2" charset="-122"/>
                <a:cs typeface="+mn-cs"/>
              </a:endParaRPr>
            </a:p>
          </p:txBody>
        </p:sp>
        <p:grpSp>
          <p:nvGrpSpPr>
            <p:cNvPr id="80" name="Gruppo 79">
              <a:extLst>
                <a:ext uri="{FF2B5EF4-FFF2-40B4-BE49-F238E27FC236}">
                  <a16:creationId xmlns:a16="http://schemas.microsoft.com/office/drawing/2014/main" id="{70A6D080-1768-4DCF-82E1-061B73587991}"/>
                </a:ext>
              </a:extLst>
            </p:cNvPr>
            <p:cNvGrpSpPr/>
            <p:nvPr/>
          </p:nvGrpSpPr>
          <p:grpSpPr>
            <a:xfrm>
              <a:off x="2501245" y="3744436"/>
              <a:ext cx="166687" cy="166687"/>
              <a:chOff x="2224088" y="3014663"/>
              <a:chExt cx="647700" cy="647700"/>
            </a:xfrm>
          </p:grpSpPr>
          <p:sp>
            <p:nvSpPr>
              <p:cNvPr id="81" name="Figura a mano libera: forma 80">
                <a:extLst>
                  <a:ext uri="{FF2B5EF4-FFF2-40B4-BE49-F238E27FC236}">
                    <a16:creationId xmlns:a16="http://schemas.microsoft.com/office/drawing/2014/main" id="{01337CED-90CB-DC19-A3EA-07B90EDB29AC}"/>
                  </a:ext>
                </a:extLst>
              </p:cNvPr>
              <p:cNvSpPr/>
              <p:nvPr/>
            </p:nvSpPr>
            <p:spPr>
              <a:xfrm>
                <a:off x="2224088" y="3014663"/>
                <a:ext cx="647700" cy="647700"/>
              </a:xfrm>
              <a:custGeom>
                <a:avLst/>
                <a:gdLst>
                  <a:gd name="connsiteX0" fmla="*/ 57150 w 647700"/>
                  <a:gd name="connsiteY0" fmla="*/ 0 h 647700"/>
                  <a:gd name="connsiteX1" fmla="*/ 0 w 647700"/>
                  <a:gd name="connsiteY1" fmla="*/ 0 h 647700"/>
                  <a:gd name="connsiteX2" fmla="*/ 0 w 647700"/>
                  <a:gd name="connsiteY2" fmla="*/ 647700 h 647700"/>
                  <a:gd name="connsiteX3" fmla="*/ 647700 w 647700"/>
                  <a:gd name="connsiteY3" fmla="*/ 647700 h 647700"/>
                  <a:gd name="connsiteX4" fmla="*/ 647700 w 647700"/>
                  <a:gd name="connsiteY4" fmla="*/ 590550 h 647700"/>
                  <a:gd name="connsiteX5" fmla="*/ 57150 w 647700"/>
                  <a:gd name="connsiteY5" fmla="*/ 590550 h 647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7700" h="647700">
                    <a:moveTo>
                      <a:pt x="57150" y="0"/>
                    </a:moveTo>
                    <a:lnTo>
                      <a:pt x="0" y="0"/>
                    </a:lnTo>
                    <a:lnTo>
                      <a:pt x="0" y="647700"/>
                    </a:lnTo>
                    <a:lnTo>
                      <a:pt x="647700" y="647700"/>
                    </a:lnTo>
                    <a:lnTo>
                      <a:pt x="647700" y="590550"/>
                    </a:lnTo>
                    <a:lnTo>
                      <a:pt x="57150" y="59055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2" name="Figura a mano libera: forma 81">
                <a:extLst>
                  <a:ext uri="{FF2B5EF4-FFF2-40B4-BE49-F238E27FC236}">
                    <a16:creationId xmlns:a16="http://schemas.microsoft.com/office/drawing/2014/main" id="{013B2C33-FC4A-34E5-9BBD-F0A79CBC637A}"/>
                  </a:ext>
                </a:extLst>
              </p:cNvPr>
              <p:cNvSpPr/>
              <p:nvPr/>
            </p:nvSpPr>
            <p:spPr>
              <a:xfrm>
                <a:off x="2318385" y="3176588"/>
                <a:ext cx="553402" cy="324802"/>
              </a:xfrm>
              <a:custGeom>
                <a:avLst/>
                <a:gdLst>
                  <a:gd name="connsiteX0" fmla="*/ 401003 w 553402"/>
                  <a:gd name="connsiteY0" fmla="*/ 0 h 324802"/>
                  <a:gd name="connsiteX1" fmla="*/ 457200 w 553402"/>
                  <a:gd name="connsiteY1" fmla="*/ 56198 h 324802"/>
                  <a:gd name="connsiteX2" fmla="*/ 381953 w 553402"/>
                  <a:gd name="connsiteY2" fmla="*/ 131445 h 324802"/>
                  <a:gd name="connsiteX3" fmla="*/ 324803 w 553402"/>
                  <a:gd name="connsiteY3" fmla="*/ 74295 h 324802"/>
                  <a:gd name="connsiteX4" fmla="*/ 229553 w 553402"/>
                  <a:gd name="connsiteY4" fmla="*/ 169545 h 324802"/>
                  <a:gd name="connsiteX5" fmla="*/ 172403 w 553402"/>
                  <a:gd name="connsiteY5" fmla="*/ 112395 h 324802"/>
                  <a:gd name="connsiteX6" fmla="*/ 0 w 553402"/>
                  <a:gd name="connsiteY6" fmla="*/ 284798 h 324802"/>
                  <a:gd name="connsiteX7" fmla="*/ 40005 w 553402"/>
                  <a:gd name="connsiteY7" fmla="*/ 324803 h 324802"/>
                  <a:gd name="connsiteX8" fmla="*/ 172403 w 553402"/>
                  <a:gd name="connsiteY8" fmla="*/ 192405 h 324802"/>
                  <a:gd name="connsiteX9" fmla="*/ 229553 w 553402"/>
                  <a:gd name="connsiteY9" fmla="*/ 249555 h 324802"/>
                  <a:gd name="connsiteX10" fmla="*/ 324803 w 553402"/>
                  <a:gd name="connsiteY10" fmla="*/ 154305 h 324802"/>
                  <a:gd name="connsiteX11" fmla="*/ 381953 w 553402"/>
                  <a:gd name="connsiteY11" fmla="*/ 211455 h 324802"/>
                  <a:gd name="connsiteX12" fmla="*/ 497205 w 553402"/>
                  <a:gd name="connsiteY12" fmla="*/ 96202 h 324802"/>
                  <a:gd name="connsiteX13" fmla="*/ 553403 w 553402"/>
                  <a:gd name="connsiteY13" fmla="*/ 152400 h 324802"/>
                  <a:gd name="connsiteX14" fmla="*/ 553403 w 553402"/>
                  <a:gd name="connsiteY14" fmla="*/ 0 h 3248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53402" h="324802">
                    <a:moveTo>
                      <a:pt x="401003" y="0"/>
                    </a:moveTo>
                    <a:lnTo>
                      <a:pt x="457200" y="56198"/>
                    </a:lnTo>
                    <a:lnTo>
                      <a:pt x="381953" y="131445"/>
                    </a:lnTo>
                    <a:lnTo>
                      <a:pt x="324803" y="74295"/>
                    </a:lnTo>
                    <a:lnTo>
                      <a:pt x="229553" y="169545"/>
                    </a:lnTo>
                    <a:lnTo>
                      <a:pt x="172403" y="112395"/>
                    </a:lnTo>
                    <a:lnTo>
                      <a:pt x="0" y="284798"/>
                    </a:lnTo>
                    <a:lnTo>
                      <a:pt x="40005" y="324803"/>
                    </a:lnTo>
                    <a:lnTo>
                      <a:pt x="172403" y="192405"/>
                    </a:lnTo>
                    <a:lnTo>
                      <a:pt x="229553" y="249555"/>
                    </a:lnTo>
                    <a:lnTo>
                      <a:pt x="324803" y="154305"/>
                    </a:lnTo>
                    <a:lnTo>
                      <a:pt x="381953" y="211455"/>
                    </a:lnTo>
                    <a:lnTo>
                      <a:pt x="497205" y="96202"/>
                    </a:lnTo>
                    <a:lnTo>
                      <a:pt x="553403" y="152400"/>
                    </a:lnTo>
                    <a:lnTo>
                      <a:pt x="553403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3" name="Gruppo 82">
            <a:extLst>
              <a:ext uri="{FF2B5EF4-FFF2-40B4-BE49-F238E27FC236}">
                <a16:creationId xmlns:a16="http://schemas.microsoft.com/office/drawing/2014/main" id="{4F2C334B-F1C4-059A-103C-B2270F444B32}"/>
              </a:ext>
            </a:extLst>
          </p:cNvPr>
          <p:cNvGrpSpPr/>
          <p:nvPr/>
        </p:nvGrpSpPr>
        <p:grpSpPr>
          <a:xfrm>
            <a:off x="7471571" y="2458971"/>
            <a:ext cx="848138" cy="223202"/>
            <a:chOff x="1853641" y="3716179"/>
            <a:chExt cx="877138" cy="223202"/>
          </a:xfrm>
        </p:grpSpPr>
        <p:sp>
          <p:nvSpPr>
            <p:cNvPr id="84" name="Rettangolo con angoli arrotondati 83">
              <a:extLst>
                <a:ext uri="{FF2B5EF4-FFF2-40B4-BE49-F238E27FC236}">
                  <a16:creationId xmlns:a16="http://schemas.microsoft.com/office/drawing/2014/main" id="{FCB11959-BCDD-F23D-EEEE-DE0D8CF51E7B}"/>
                </a:ext>
              </a:extLst>
            </p:cNvPr>
            <p:cNvSpPr/>
            <p:nvPr/>
          </p:nvSpPr>
          <p:spPr>
            <a:xfrm>
              <a:off x="1853641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DengXian" panose="02010600030101010101" pitchFamily="2" charset="-122"/>
                  <a:cs typeface="+mn-cs"/>
                </a:rPr>
                <a:t>B</a:t>
              </a:r>
            </a:p>
          </p:txBody>
        </p:sp>
        <p:sp>
          <p:nvSpPr>
            <p:cNvPr id="85" name="Rettangolo con angoli arrotondati 84">
              <a:extLst>
                <a:ext uri="{FF2B5EF4-FFF2-40B4-BE49-F238E27FC236}">
                  <a16:creationId xmlns:a16="http://schemas.microsoft.com/office/drawing/2014/main" id="{C8CA47FB-99D3-93A7-F304-E77803AD072C}"/>
                </a:ext>
              </a:extLst>
            </p:cNvPr>
            <p:cNvSpPr/>
            <p:nvPr/>
          </p:nvSpPr>
          <p:spPr>
            <a:xfrm>
              <a:off x="2146021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DengXian" panose="02010600030101010101" pitchFamily="2" charset="-122"/>
                  <a:cs typeface="+mn-cs"/>
                </a:rPr>
                <a:t>S</a:t>
              </a:r>
            </a:p>
          </p:txBody>
        </p:sp>
        <p:sp>
          <p:nvSpPr>
            <p:cNvPr id="86" name="Rettangolo con angoli arrotondati 85">
              <a:extLst>
                <a:ext uri="{FF2B5EF4-FFF2-40B4-BE49-F238E27FC236}">
                  <a16:creationId xmlns:a16="http://schemas.microsoft.com/office/drawing/2014/main" id="{AE9ADC1D-BBDD-7112-C24D-1360AFAF5D22}"/>
                </a:ext>
              </a:extLst>
            </p:cNvPr>
            <p:cNvSpPr/>
            <p:nvPr/>
          </p:nvSpPr>
          <p:spPr>
            <a:xfrm>
              <a:off x="2438400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Light" panose="020B0304020202020204" pitchFamily="34" charset="0"/>
                <a:ea typeface="DengXian" panose="02010600030101010101" pitchFamily="2" charset="-122"/>
                <a:cs typeface="+mn-cs"/>
              </a:endParaRPr>
            </a:p>
          </p:txBody>
        </p:sp>
        <p:grpSp>
          <p:nvGrpSpPr>
            <p:cNvPr id="87" name="Gruppo 86">
              <a:extLst>
                <a:ext uri="{FF2B5EF4-FFF2-40B4-BE49-F238E27FC236}">
                  <a16:creationId xmlns:a16="http://schemas.microsoft.com/office/drawing/2014/main" id="{63EB5FF2-8681-2D9E-3866-D9D9B6AEBC40}"/>
                </a:ext>
              </a:extLst>
            </p:cNvPr>
            <p:cNvGrpSpPr/>
            <p:nvPr/>
          </p:nvGrpSpPr>
          <p:grpSpPr>
            <a:xfrm>
              <a:off x="2501245" y="3744436"/>
              <a:ext cx="166687" cy="166687"/>
              <a:chOff x="2224088" y="3014663"/>
              <a:chExt cx="647700" cy="647700"/>
            </a:xfrm>
          </p:grpSpPr>
          <p:sp>
            <p:nvSpPr>
              <p:cNvPr id="88" name="Figura a mano libera: forma 87">
                <a:extLst>
                  <a:ext uri="{FF2B5EF4-FFF2-40B4-BE49-F238E27FC236}">
                    <a16:creationId xmlns:a16="http://schemas.microsoft.com/office/drawing/2014/main" id="{DE2989C1-816D-AA9B-F10E-BF0EAAE4D392}"/>
                  </a:ext>
                </a:extLst>
              </p:cNvPr>
              <p:cNvSpPr/>
              <p:nvPr/>
            </p:nvSpPr>
            <p:spPr>
              <a:xfrm>
                <a:off x="2224088" y="3014663"/>
                <a:ext cx="647700" cy="647700"/>
              </a:xfrm>
              <a:custGeom>
                <a:avLst/>
                <a:gdLst>
                  <a:gd name="connsiteX0" fmla="*/ 57150 w 647700"/>
                  <a:gd name="connsiteY0" fmla="*/ 0 h 647700"/>
                  <a:gd name="connsiteX1" fmla="*/ 0 w 647700"/>
                  <a:gd name="connsiteY1" fmla="*/ 0 h 647700"/>
                  <a:gd name="connsiteX2" fmla="*/ 0 w 647700"/>
                  <a:gd name="connsiteY2" fmla="*/ 647700 h 647700"/>
                  <a:gd name="connsiteX3" fmla="*/ 647700 w 647700"/>
                  <a:gd name="connsiteY3" fmla="*/ 647700 h 647700"/>
                  <a:gd name="connsiteX4" fmla="*/ 647700 w 647700"/>
                  <a:gd name="connsiteY4" fmla="*/ 590550 h 647700"/>
                  <a:gd name="connsiteX5" fmla="*/ 57150 w 647700"/>
                  <a:gd name="connsiteY5" fmla="*/ 590550 h 647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7700" h="647700">
                    <a:moveTo>
                      <a:pt x="57150" y="0"/>
                    </a:moveTo>
                    <a:lnTo>
                      <a:pt x="0" y="0"/>
                    </a:lnTo>
                    <a:lnTo>
                      <a:pt x="0" y="647700"/>
                    </a:lnTo>
                    <a:lnTo>
                      <a:pt x="647700" y="647700"/>
                    </a:lnTo>
                    <a:lnTo>
                      <a:pt x="647700" y="590550"/>
                    </a:lnTo>
                    <a:lnTo>
                      <a:pt x="57150" y="59055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9" name="Figura a mano libera: forma 88">
                <a:extLst>
                  <a:ext uri="{FF2B5EF4-FFF2-40B4-BE49-F238E27FC236}">
                    <a16:creationId xmlns:a16="http://schemas.microsoft.com/office/drawing/2014/main" id="{772EF72C-082E-7C94-D4A5-2A6DBE23B9F9}"/>
                  </a:ext>
                </a:extLst>
              </p:cNvPr>
              <p:cNvSpPr/>
              <p:nvPr/>
            </p:nvSpPr>
            <p:spPr>
              <a:xfrm>
                <a:off x="2318385" y="3176588"/>
                <a:ext cx="553402" cy="324802"/>
              </a:xfrm>
              <a:custGeom>
                <a:avLst/>
                <a:gdLst>
                  <a:gd name="connsiteX0" fmla="*/ 401003 w 553402"/>
                  <a:gd name="connsiteY0" fmla="*/ 0 h 324802"/>
                  <a:gd name="connsiteX1" fmla="*/ 457200 w 553402"/>
                  <a:gd name="connsiteY1" fmla="*/ 56198 h 324802"/>
                  <a:gd name="connsiteX2" fmla="*/ 381953 w 553402"/>
                  <a:gd name="connsiteY2" fmla="*/ 131445 h 324802"/>
                  <a:gd name="connsiteX3" fmla="*/ 324803 w 553402"/>
                  <a:gd name="connsiteY3" fmla="*/ 74295 h 324802"/>
                  <a:gd name="connsiteX4" fmla="*/ 229553 w 553402"/>
                  <a:gd name="connsiteY4" fmla="*/ 169545 h 324802"/>
                  <a:gd name="connsiteX5" fmla="*/ 172403 w 553402"/>
                  <a:gd name="connsiteY5" fmla="*/ 112395 h 324802"/>
                  <a:gd name="connsiteX6" fmla="*/ 0 w 553402"/>
                  <a:gd name="connsiteY6" fmla="*/ 284798 h 324802"/>
                  <a:gd name="connsiteX7" fmla="*/ 40005 w 553402"/>
                  <a:gd name="connsiteY7" fmla="*/ 324803 h 324802"/>
                  <a:gd name="connsiteX8" fmla="*/ 172403 w 553402"/>
                  <a:gd name="connsiteY8" fmla="*/ 192405 h 324802"/>
                  <a:gd name="connsiteX9" fmla="*/ 229553 w 553402"/>
                  <a:gd name="connsiteY9" fmla="*/ 249555 h 324802"/>
                  <a:gd name="connsiteX10" fmla="*/ 324803 w 553402"/>
                  <a:gd name="connsiteY10" fmla="*/ 154305 h 324802"/>
                  <a:gd name="connsiteX11" fmla="*/ 381953 w 553402"/>
                  <a:gd name="connsiteY11" fmla="*/ 211455 h 324802"/>
                  <a:gd name="connsiteX12" fmla="*/ 497205 w 553402"/>
                  <a:gd name="connsiteY12" fmla="*/ 96202 h 324802"/>
                  <a:gd name="connsiteX13" fmla="*/ 553403 w 553402"/>
                  <a:gd name="connsiteY13" fmla="*/ 152400 h 324802"/>
                  <a:gd name="connsiteX14" fmla="*/ 553403 w 553402"/>
                  <a:gd name="connsiteY14" fmla="*/ 0 h 3248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53402" h="324802">
                    <a:moveTo>
                      <a:pt x="401003" y="0"/>
                    </a:moveTo>
                    <a:lnTo>
                      <a:pt x="457200" y="56198"/>
                    </a:lnTo>
                    <a:lnTo>
                      <a:pt x="381953" y="131445"/>
                    </a:lnTo>
                    <a:lnTo>
                      <a:pt x="324803" y="74295"/>
                    </a:lnTo>
                    <a:lnTo>
                      <a:pt x="229553" y="169545"/>
                    </a:lnTo>
                    <a:lnTo>
                      <a:pt x="172403" y="112395"/>
                    </a:lnTo>
                    <a:lnTo>
                      <a:pt x="0" y="284798"/>
                    </a:lnTo>
                    <a:lnTo>
                      <a:pt x="40005" y="324803"/>
                    </a:lnTo>
                    <a:lnTo>
                      <a:pt x="172403" y="192405"/>
                    </a:lnTo>
                    <a:lnTo>
                      <a:pt x="229553" y="249555"/>
                    </a:lnTo>
                    <a:lnTo>
                      <a:pt x="324803" y="154305"/>
                    </a:lnTo>
                    <a:lnTo>
                      <a:pt x="381953" y="211455"/>
                    </a:lnTo>
                    <a:lnTo>
                      <a:pt x="497205" y="96202"/>
                    </a:lnTo>
                    <a:lnTo>
                      <a:pt x="553403" y="152400"/>
                    </a:lnTo>
                    <a:lnTo>
                      <a:pt x="553403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62719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FEE29-8CB9-B6FF-C5A2-8FFE51D07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9B6D0D2-2DD3-9037-CDA2-F934D66DE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Mock-ups (4)</a:t>
            </a:r>
          </a:p>
        </p:txBody>
      </p:sp>
      <p:sp>
        <p:nvSpPr>
          <p:cNvPr id="5" name="Titolo 1">
            <a:extLst>
              <a:ext uri="{FF2B5EF4-FFF2-40B4-BE49-F238E27FC236}">
                <a16:creationId xmlns:a16="http://schemas.microsoft.com/office/drawing/2014/main" id="{6DE91705-1BEB-D4B2-3AB5-997240FD41EB}"/>
              </a:ext>
            </a:extLst>
          </p:cNvPr>
          <p:cNvSpPr txBox="1">
            <a:spLocks/>
          </p:cNvSpPr>
          <p:nvPr/>
        </p:nvSpPr>
        <p:spPr>
          <a:xfrm>
            <a:off x="191101" y="2179448"/>
            <a:ext cx="876179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Asset List (ETF)</a:t>
            </a:r>
          </a:p>
        </p:txBody>
      </p:sp>
    </p:spTree>
    <p:extLst>
      <p:ext uri="{BB962C8B-B14F-4D97-AF65-F5344CB8AC3E}">
        <p14:creationId xmlns:p14="http://schemas.microsoft.com/office/powerpoint/2010/main" val="2471766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5D4B7F95-50EE-026C-CB67-D71801D795FA}"/>
              </a:ext>
            </a:extLst>
          </p:cNvPr>
          <p:cNvGraphicFramePr>
            <a:graphicFrameLocks noGrp="1"/>
          </p:cNvGraphicFramePr>
          <p:nvPr/>
        </p:nvGraphicFramePr>
        <p:xfrm>
          <a:off x="541020" y="2097324"/>
          <a:ext cx="7955277" cy="366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302">
                  <a:extLst>
                    <a:ext uri="{9D8B030D-6E8A-4147-A177-3AD203B41FA5}">
                      <a16:colId xmlns:a16="http://schemas.microsoft.com/office/drawing/2014/main" val="169801071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895983903"/>
                    </a:ext>
                  </a:extLst>
                </a:gridCol>
                <a:gridCol w="2712228">
                  <a:extLst>
                    <a:ext uri="{9D8B030D-6E8A-4147-A177-3AD203B41FA5}">
                      <a16:colId xmlns:a16="http://schemas.microsoft.com/office/drawing/2014/main" val="3353183135"/>
                    </a:ext>
                  </a:extLst>
                </a:gridCol>
                <a:gridCol w="802039">
                  <a:extLst>
                    <a:ext uri="{9D8B030D-6E8A-4147-A177-3AD203B41FA5}">
                      <a16:colId xmlns:a16="http://schemas.microsoft.com/office/drawing/2014/main" val="3657305502"/>
                    </a:ext>
                  </a:extLst>
                </a:gridCol>
                <a:gridCol w="672050">
                  <a:extLst>
                    <a:ext uri="{9D8B030D-6E8A-4147-A177-3AD203B41FA5}">
                      <a16:colId xmlns:a16="http://schemas.microsoft.com/office/drawing/2014/main" val="1704171516"/>
                    </a:ext>
                  </a:extLst>
                </a:gridCol>
                <a:gridCol w="1072258">
                  <a:extLst>
                    <a:ext uri="{9D8B030D-6E8A-4147-A177-3AD203B41FA5}">
                      <a16:colId xmlns:a16="http://schemas.microsoft.com/office/drawing/2014/main" val="28272362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 Nova Light" panose="020B0304020202020204" pitchFamily="34" charset="0"/>
                        </a:rPr>
                        <a:t>PRODUCT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 Nova Light" panose="020B0304020202020204" pitchFamily="34" charset="0"/>
                        </a:rPr>
                        <a:t>SYMBOL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 Nova Light" panose="020B03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 Nova Light" panose="020B0304020202020204" pitchFamily="34" charset="0"/>
                        </a:rPr>
                        <a:t>PRICE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 Nova Light" panose="020B0304020202020204" pitchFamily="34" charset="0"/>
                        </a:rPr>
                        <a:t>VAR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 Nova Light" panose="020B0304020202020204" pitchFamily="34" charset="0"/>
                        </a:rPr>
                        <a:t>ACTION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0789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Vanguard S&amp;P 500 ETF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VOO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Arial Nova Light" panose="020B03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$110,32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CC0000"/>
                          </a:solidFill>
                          <a:latin typeface="Arial Nova Light" panose="020B0304020202020204" pitchFamily="34" charset="0"/>
                        </a:rPr>
                        <a:t>0,18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dirty="0">
                        <a:solidFill>
                          <a:schemeClr val="accent3"/>
                        </a:solidFill>
                        <a:latin typeface="Arial Nova Light" panose="020B03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76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iShares Core MSCI EAFE ETF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ITOT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Arial Nova Light" panose="020B03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$88,62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C00000"/>
                          </a:solidFill>
                          <a:latin typeface="Arial Nova Light" panose="020B0304020202020204" pitchFamily="34" charset="0"/>
                        </a:rPr>
                        <a:t>0,19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dirty="0">
                        <a:solidFill>
                          <a:srgbClr val="C00000"/>
                        </a:solidFill>
                        <a:latin typeface="Arial Nova Light" panose="020B03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6309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GB" sz="1200" dirty="0">
                          <a:latin typeface="Arial Nova Light" panose="020B0304020202020204" pitchFamily="34" charset="0"/>
                        </a:rPr>
                        <a:t>Invesco S&amp;P 500 Equal Weight ETF</a:t>
                      </a:r>
                      <a:endParaRPr lang="en-US" sz="1200" dirty="0">
                        <a:latin typeface="Arial Nova Light" panose="020B03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RSP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Arial Nova Light" panose="020B03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$54,55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C00000"/>
                          </a:solidFill>
                          <a:latin typeface="Arial Nova Light" panose="020B0304020202020204" pitchFamily="34" charset="0"/>
                        </a:rPr>
                        <a:t>0,08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dirty="0">
                        <a:solidFill>
                          <a:srgbClr val="C00000"/>
                        </a:solidFill>
                        <a:latin typeface="Arial Nova Light" panose="020B03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0996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GB" sz="1200" dirty="0">
                          <a:latin typeface="Arial Nova Light" panose="020B0304020202020204" pitchFamily="34" charset="0"/>
                        </a:rPr>
                        <a:t>iShares </a:t>
                      </a:r>
                      <a:r>
                        <a:rPr lang="en-GB" sz="1200" dirty="0" err="1">
                          <a:latin typeface="Arial Nova Light" panose="020B0304020202020204" pitchFamily="34" charset="0"/>
                        </a:rPr>
                        <a:t>iBoxx</a:t>
                      </a:r>
                      <a:r>
                        <a:rPr lang="en-GB" sz="1200" dirty="0">
                          <a:latin typeface="Arial Nova Light" panose="020B0304020202020204" pitchFamily="34" charset="0"/>
                        </a:rPr>
                        <a:t> $ Investment Grade Corporate Bond ETF</a:t>
                      </a:r>
                      <a:endParaRPr lang="en-US" sz="1200" dirty="0">
                        <a:latin typeface="Arial Nova Light" panose="020B03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LQD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Arial Nova Light" panose="020B03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$110,30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C00000"/>
                          </a:solidFill>
                          <a:latin typeface="Arial Nova Light" panose="020B0304020202020204" pitchFamily="34" charset="0"/>
                        </a:rPr>
                        <a:t>0,23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dirty="0">
                        <a:solidFill>
                          <a:srgbClr val="C00000"/>
                        </a:solidFill>
                        <a:latin typeface="Arial Nova Light" panose="020B03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625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Vanguard Real Estate ETF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VNQ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Arial Nova Light" panose="020B03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$89,59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Arial Nova Light" panose="020B0304020202020204" pitchFamily="34" charset="0"/>
                        </a:rPr>
                        <a:t>0,19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dirty="0">
                        <a:solidFill>
                          <a:srgbClr val="C00000"/>
                        </a:solidFill>
                        <a:latin typeface="Arial Nova Light" panose="020B03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4716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GB" sz="1200" dirty="0">
                          <a:latin typeface="Arial Nova Light" panose="020B0304020202020204" pitchFamily="34" charset="0"/>
                        </a:rPr>
                        <a:t>Vanguard High Dividend Yield ETF</a:t>
                      </a:r>
                      <a:endParaRPr lang="en-US" sz="1200" dirty="0">
                        <a:latin typeface="Arial Nova Light" panose="020B03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VYM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Arial Nova Light" panose="020B03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$141,01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C00000"/>
                          </a:solidFill>
                          <a:latin typeface="Arial Nova Light" panose="020B0304020202020204" pitchFamily="34" charset="0"/>
                        </a:rPr>
                        <a:t>0,24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dirty="0">
                        <a:solidFill>
                          <a:srgbClr val="C00000"/>
                        </a:solidFill>
                        <a:latin typeface="Arial Nova Light" panose="020B03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398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GB" sz="1200" dirty="0">
                          <a:latin typeface="Arial Nova Light" panose="020B0304020202020204" pitchFamily="34" charset="0"/>
                        </a:rPr>
                        <a:t>Schwab U.S. Broad Market ETF</a:t>
                      </a:r>
                      <a:endParaRPr lang="en-US" sz="1200" dirty="0">
                        <a:latin typeface="Arial Nova Light" panose="020B03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SCHB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Arial Nova Light" panose="020B03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 Nova Light" panose="020B0304020202020204" pitchFamily="34" charset="0"/>
                        </a:rPr>
                        <a:t>$25,82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Arial Nova Light" panose="020B0304020202020204" pitchFamily="34" charset="0"/>
                        </a:rPr>
                        <a:t>0,06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dirty="0">
                        <a:solidFill>
                          <a:srgbClr val="C00000"/>
                        </a:solidFill>
                        <a:latin typeface="Arial Nova Light" panose="020B03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8048070"/>
                  </a:ext>
                </a:extLst>
              </a:tr>
            </a:tbl>
          </a:graphicData>
        </a:graphic>
      </p:graphicFrame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E8384223-3AA6-494A-5AD1-88832246B2C0}"/>
              </a:ext>
            </a:extLst>
          </p:cNvPr>
          <p:cNvSpPr/>
          <p:nvPr/>
        </p:nvSpPr>
        <p:spPr>
          <a:xfrm>
            <a:off x="2178788" y="1342739"/>
            <a:ext cx="4786423" cy="483881"/>
          </a:xfrm>
          <a:prstGeom prst="roundRect">
            <a:avLst>
              <a:gd name="adj" fmla="val 50000"/>
            </a:avLst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numCol="3" rtlCol="0" anchor="ctr"/>
          <a:lstStyle/>
          <a:p>
            <a:pPr algn="ctr"/>
            <a:r>
              <a:rPr lang="en-US" sz="1200" b="1" dirty="0">
                <a:latin typeface="Arial Nova Light" panose="020B0304020202020204" pitchFamily="34" charset="0"/>
                <a:ea typeface="DengXian" panose="02010600030101010101" pitchFamily="2" charset="-122"/>
              </a:rPr>
              <a:t>Shares</a:t>
            </a:r>
          </a:p>
          <a:p>
            <a:pPr algn="ctr"/>
            <a:r>
              <a:rPr lang="en-US" sz="1200" b="1" dirty="0">
                <a:latin typeface="Arial Nova Light" panose="020B0304020202020204" pitchFamily="34" charset="0"/>
                <a:ea typeface="DengXian" panose="02010600030101010101" pitchFamily="2" charset="-122"/>
              </a:rPr>
              <a:t>ETFs</a:t>
            </a:r>
          </a:p>
          <a:p>
            <a:pPr algn="ctr"/>
            <a:r>
              <a:rPr lang="en-US" sz="1200" b="1" dirty="0">
                <a:latin typeface="Arial Nova Light" panose="020B0304020202020204" pitchFamily="34" charset="0"/>
                <a:ea typeface="DengXian" panose="02010600030101010101" pitchFamily="2" charset="-122"/>
              </a:rPr>
              <a:t>Cryptos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E914C485-EA96-C2F0-6671-B856753DD048}"/>
              </a:ext>
            </a:extLst>
          </p:cNvPr>
          <p:cNvSpPr/>
          <p:nvPr/>
        </p:nvSpPr>
        <p:spPr>
          <a:xfrm>
            <a:off x="3867149" y="1399259"/>
            <a:ext cx="1409700" cy="37084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Arial Nova Light" panose="020B0304020202020204" pitchFamily="34" charset="0"/>
                <a:ea typeface="DengXian" panose="02010600030101010101" pitchFamily="2" charset="-122"/>
              </a:rPr>
              <a:t>ETFs</a:t>
            </a:r>
          </a:p>
        </p:txBody>
      </p: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60028696-C332-8C01-6C1A-F77DE5B2B56A}"/>
              </a:ext>
            </a:extLst>
          </p:cNvPr>
          <p:cNvCxnSpPr>
            <a:cxnSpLocks/>
          </p:cNvCxnSpPr>
          <p:nvPr/>
        </p:nvCxnSpPr>
        <p:spPr>
          <a:xfrm>
            <a:off x="7311335" y="2587123"/>
            <a:ext cx="0" cy="147637"/>
          </a:xfrm>
          <a:prstGeom prst="straightConnector1">
            <a:avLst/>
          </a:prstGeom>
          <a:ln w="12700">
            <a:solidFill>
              <a:srgbClr val="CC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CABCC325-6AF8-398C-19B1-0F3109B67CDA}"/>
              </a:ext>
            </a:extLst>
          </p:cNvPr>
          <p:cNvSpPr txBox="1"/>
          <p:nvPr/>
        </p:nvSpPr>
        <p:spPr>
          <a:xfrm>
            <a:off x="461962" y="369947"/>
            <a:ext cx="1847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solidFill>
                  <a:srgbClr val="C00000"/>
                </a:solidFill>
                <a:latin typeface="Arial Nova Light" panose="020B0304020202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MyFuture</a:t>
            </a:r>
            <a:endParaRPr lang="en-US" sz="3200" b="1" dirty="0">
              <a:solidFill>
                <a:srgbClr val="C00000"/>
              </a:solidFill>
              <a:latin typeface="Arial Nova Light" panose="020B030402020202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B59AB272-4C0A-1605-33A5-6CA7BE28F36D}"/>
              </a:ext>
            </a:extLst>
          </p:cNvPr>
          <p:cNvGraphicFramePr>
            <a:graphicFrameLocks noGrp="1"/>
          </p:cNvGraphicFramePr>
          <p:nvPr/>
        </p:nvGraphicFramePr>
        <p:xfrm>
          <a:off x="2462212" y="476915"/>
          <a:ext cx="2886075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7725">
                  <a:extLst>
                    <a:ext uri="{9D8B030D-6E8A-4147-A177-3AD203B41FA5}">
                      <a16:colId xmlns:a16="http://schemas.microsoft.com/office/drawing/2014/main" val="526149528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151546845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35112089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ova Light" panose="020B0304020202020204" pitchFamily="34" charset="0"/>
                        </a:rPr>
                        <a:t>Trading</a:t>
                      </a:r>
                      <a:endParaRPr lang="en-US" sz="14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ova Light" panose="020B0304020202020204" pitchFamily="34" charset="0"/>
                        <a:ea typeface="DengXian" panose="020B0503020204020204" pitchFamily="2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ova Light" panose="020B0304020202020204" pitchFamily="34" charset="0"/>
                        </a:rPr>
                        <a:t>About us</a:t>
                      </a:r>
                      <a:endParaRPr lang="en-US" sz="14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ova Light" panose="020B0304020202020204" pitchFamily="34" charset="0"/>
                        <a:ea typeface="DengXian" panose="020B0503020204020204" pitchFamily="2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ova Light" panose="020B0304020202020204" pitchFamily="34" charset="0"/>
                        <a:ea typeface="DengXian" panose="020B0503020204020204" pitchFamily="2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77316309"/>
                  </a:ext>
                </a:extLst>
              </a:tr>
            </a:tbl>
          </a:graphicData>
        </a:graphic>
      </p:graphicFrame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027AC39F-A6F6-AA03-3F66-ED3906D7A623}"/>
              </a:ext>
            </a:extLst>
          </p:cNvPr>
          <p:cNvSpPr/>
          <p:nvPr/>
        </p:nvSpPr>
        <p:spPr>
          <a:xfrm>
            <a:off x="5624512" y="458510"/>
            <a:ext cx="1409700" cy="370840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Arial Nova Light" panose="020B0304020202020204" pitchFamily="34" charset="0"/>
                <a:ea typeface="DengXian" panose="02010600030101010101" pitchFamily="2" charset="-122"/>
              </a:rPr>
              <a:t>Apri un </a:t>
            </a:r>
            <a:r>
              <a:rPr lang="en-US" sz="1200" b="1" dirty="0" err="1">
                <a:latin typeface="Arial Nova Light" panose="020B0304020202020204" pitchFamily="34" charset="0"/>
                <a:ea typeface="DengXian" panose="02010600030101010101" pitchFamily="2" charset="-122"/>
              </a:rPr>
              <a:t>conto</a:t>
            </a:r>
            <a:endParaRPr lang="en-US" sz="1200" b="1" dirty="0">
              <a:latin typeface="Arial Nova Light" panose="020B0304020202020204" pitchFamily="34" charset="0"/>
              <a:ea typeface="DengXian" panose="02010600030101010101" pitchFamily="2" charset="-122"/>
            </a:endParaRP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06EBD496-54FE-5194-6E5A-EB7BB1E26B77}"/>
              </a:ext>
            </a:extLst>
          </p:cNvPr>
          <p:cNvSpPr/>
          <p:nvPr/>
        </p:nvSpPr>
        <p:spPr>
          <a:xfrm>
            <a:off x="7186612" y="443915"/>
            <a:ext cx="1409700" cy="37084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Arial Nova Light" panose="020B0304020202020204" pitchFamily="34" charset="0"/>
                <a:ea typeface="DengXian" panose="02010600030101010101" pitchFamily="2" charset="-122"/>
              </a:rPr>
              <a:t>Log In</a:t>
            </a:r>
          </a:p>
        </p:txBody>
      </p:sp>
      <p:pic>
        <p:nvPicPr>
          <p:cNvPr id="10" name="Elemento grafico 9" descr="Lente di ingrandimento contorno">
            <a:extLst>
              <a:ext uri="{FF2B5EF4-FFF2-40B4-BE49-F238E27FC236}">
                <a16:creationId xmlns:a16="http://schemas.microsoft.com/office/drawing/2014/main" id="{AF985AB9-9739-3478-171E-BCD6C40BF0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33962" y="557558"/>
            <a:ext cx="209552" cy="209552"/>
          </a:xfrm>
          <a:prstGeom prst="rect">
            <a:avLst/>
          </a:prstGeom>
        </p:spPr>
      </p:pic>
      <p:grpSp>
        <p:nvGrpSpPr>
          <p:cNvPr id="19" name="Gruppo 18">
            <a:extLst>
              <a:ext uri="{FF2B5EF4-FFF2-40B4-BE49-F238E27FC236}">
                <a16:creationId xmlns:a16="http://schemas.microsoft.com/office/drawing/2014/main" id="{8436645A-ED95-B039-D439-98A1E7B74DE3}"/>
              </a:ext>
            </a:extLst>
          </p:cNvPr>
          <p:cNvGrpSpPr/>
          <p:nvPr/>
        </p:nvGrpSpPr>
        <p:grpSpPr>
          <a:xfrm>
            <a:off x="7467393" y="2943983"/>
            <a:ext cx="848138" cy="223202"/>
            <a:chOff x="1853641" y="3716179"/>
            <a:chExt cx="877138" cy="223202"/>
          </a:xfrm>
        </p:grpSpPr>
        <p:sp>
          <p:nvSpPr>
            <p:cNvPr id="20" name="Rettangolo con angoli arrotondati 19">
              <a:extLst>
                <a:ext uri="{FF2B5EF4-FFF2-40B4-BE49-F238E27FC236}">
                  <a16:creationId xmlns:a16="http://schemas.microsoft.com/office/drawing/2014/main" id="{881A1E9C-2765-A074-FFCC-EB0B27BF4BB8}"/>
                </a:ext>
              </a:extLst>
            </p:cNvPr>
            <p:cNvSpPr/>
            <p:nvPr/>
          </p:nvSpPr>
          <p:spPr>
            <a:xfrm>
              <a:off x="1853641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rial Nova Light" panose="020B0304020202020204" pitchFamily="34" charset="0"/>
                  <a:ea typeface="DengXian" panose="02010600030101010101" pitchFamily="2" charset="-122"/>
                </a:rPr>
                <a:t>B</a:t>
              </a:r>
            </a:p>
          </p:txBody>
        </p:sp>
        <p:sp>
          <p:nvSpPr>
            <p:cNvPr id="21" name="Rettangolo con angoli arrotondati 20">
              <a:extLst>
                <a:ext uri="{FF2B5EF4-FFF2-40B4-BE49-F238E27FC236}">
                  <a16:creationId xmlns:a16="http://schemas.microsoft.com/office/drawing/2014/main" id="{6A0E50AE-6171-8DC1-E05C-80E4745F8115}"/>
                </a:ext>
              </a:extLst>
            </p:cNvPr>
            <p:cNvSpPr/>
            <p:nvPr/>
          </p:nvSpPr>
          <p:spPr>
            <a:xfrm>
              <a:off x="2146021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rial Nova Light" panose="020B0304020202020204" pitchFamily="34" charset="0"/>
                  <a:ea typeface="DengXian" panose="02010600030101010101" pitchFamily="2" charset="-122"/>
                </a:rPr>
                <a:t>S</a:t>
              </a:r>
            </a:p>
          </p:txBody>
        </p:sp>
        <p:sp>
          <p:nvSpPr>
            <p:cNvPr id="22" name="Rettangolo con angoli arrotondati 21">
              <a:extLst>
                <a:ext uri="{FF2B5EF4-FFF2-40B4-BE49-F238E27FC236}">
                  <a16:creationId xmlns:a16="http://schemas.microsoft.com/office/drawing/2014/main" id="{31385135-63E9-4A13-98F6-102102D4BFD3}"/>
                </a:ext>
              </a:extLst>
            </p:cNvPr>
            <p:cNvSpPr/>
            <p:nvPr/>
          </p:nvSpPr>
          <p:spPr>
            <a:xfrm>
              <a:off x="2438400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b="1" dirty="0">
                <a:latin typeface="Arial Nova Light" panose="020B0304020202020204" pitchFamily="34" charset="0"/>
                <a:ea typeface="DengXian" panose="02010600030101010101" pitchFamily="2" charset="-122"/>
              </a:endParaRPr>
            </a:p>
          </p:txBody>
        </p:sp>
        <p:grpSp>
          <p:nvGrpSpPr>
            <p:cNvPr id="23" name="Gruppo 22">
              <a:extLst>
                <a:ext uri="{FF2B5EF4-FFF2-40B4-BE49-F238E27FC236}">
                  <a16:creationId xmlns:a16="http://schemas.microsoft.com/office/drawing/2014/main" id="{F382C408-6A21-0395-4FF6-A986B1B2A126}"/>
                </a:ext>
              </a:extLst>
            </p:cNvPr>
            <p:cNvGrpSpPr/>
            <p:nvPr/>
          </p:nvGrpSpPr>
          <p:grpSpPr>
            <a:xfrm>
              <a:off x="2501245" y="3744436"/>
              <a:ext cx="166687" cy="166687"/>
              <a:chOff x="2224088" y="3014663"/>
              <a:chExt cx="647700" cy="647700"/>
            </a:xfrm>
          </p:grpSpPr>
          <p:sp>
            <p:nvSpPr>
              <p:cNvPr id="24" name="Figura a mano libera: forma 23">
                <a:extLst>
                  <a:ext uri="{FF2B5EF4-FFF2-40B4-BE49-F238E27FC236}">
                    <a16:creationId xmlns:a16="http://schemas.microsoft.com/office/drawing/2014/main" id="{3CC1407D-43F2-9AEB-9250-977EC0D05BAF}"/>
                  </a:ext>
                </a:extLst>
              </p:cNvPr>
              <p:cNvSpPr/>
              <p:nvPr/>
            </p:nvSpPr>
            <p:spPr>
              <a:xfrm>
                <a:off x="2224088" y="3014663"/>
                <a:ext cx="647700" cy="647700"/>
              </a:xfrm>
              <a:custGeom>
                <a:avLst/>
                <a:gdLst>
                  <a:gd name="connsiteX0" fmla="*/ 57150 w 647700"/>
                  <a:gd name="connsiteY0" fmla="*/ 0 h 647700"/>
                  <a:gd name="connsiteX1" fmla="*/ 0 w 647700"/>
                  <a:gd name="connsiteY1" fmla="*/ 0 h 647700"/>
                  <a:gd name="connsiteX2" fmla="*/ 0 w 647700"/>
                  <a:gd name="connsiteY2" fmla="*/ 647700 h 647700"/>
                  <a:gd name="connsiteX3" fmla="*/ 647700 w 647700"/>
                  <a:gd name="connsiteY3" fmla="*/ 647700 h 647700"/>
                  <a:gd name="connsiteX4" fmla="*/ 647700 w 647700"/>
                  <a:gd name="connsiteY4" fmla="*/ 590550 h 647700"/>
                  <a:gd name="connsiteX5" fmla="*/ 57150 w 647700"/>
                  <a:gd name="connsiteY5" fmla="*/ 590550 h 647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7700" h="647700">
                    <a:moveTo>
                      <a:pt x="57150" y="0"/>
                    </a:moveTo>
                    <a:lnTo>
                      <a:pt x="0" y="0"/>
                    </a:lnTo>
                    <a:lnTo>
                      <a:pt x="0" y="647700"/>
                    </a:lnTo>
                    <a:lnTo>
                      <a:pt x="647700" y="647700"/>
                    </a:lnTo>
                    <a:lnTo>
                      <a:pt x="647700" y="590550"/>
                    </a:lnTo>
                    <a:lnTo>
                      <a:pt x="57150" y="59055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igura a mano libera: forma 24">
                <a:extLst>
                  <a:ext uri="{FF2B5EF4-FFF2-40B4-BE49-F238E27FC236}">
                    <a16:creationId xmlns:a16="http://schemas.microsoft.com/office/drawing/2014/main" id="{590E8DD8-4A05-AA2E-F581-13E11E69525B}"/>
                  </a:ext>
                </a:extLst>
              </p:cNvPr>
              <p:cNvSpPr/>
              <p:nvPr/>
            </p:nvSpPr>
            <p:spPr>
              <a:xfrm>
                <a:off x="2318385" y="3176588"/>
                <a:ext cx="553402" cy="324802"/>
              </a:xfrm>
              <a:custGeom>
                <a:avLst/>
                <a:gdLst>
                  <a:gd name="connsiteX0" fmla="*/ 401003 w 553402"/>
                  <a:gd name="connsiteY0" fmla="*/ 0 h 324802"/>
                  <a:gd name="connsiteX1" fmla="*/ 457200 w 553402"/>
                  <a:gd name="connsiteY1" fmla="*/ 56198 h 324802"/>
                  <a:gd name="connsiteX2" fmla="*/ 381953 w 553402"/>
                  <a:gd name="connsiteY2" fmla="*/ 131445 h 324802"/>
                  <a:gd name="connsiteX3" fmla="*/ 324803 w 553402"/>
                  <a:gd name="connsiteY3" fmla="*/ 74295 h 324802"/>
                  <a:gd name="connsiteX4" fmla="*/ 229553 w 553402"/>
                  <a:gd name="connsiteY4" fmla="*/ 169545 h 324802"/>
                  <a:gd name="connsiteX5" fmla="*/ 172403 w 553402"/>
                  <a:gd name="connsiteY5" fmla="*/ 112395 h 324802"/>
                  <a:gd name="connsiteX6" fmla="*/ 0 w 553402"/>
                  <a:gd name="connsiteY6" fmla="*/ 284798 h 324802"/>
                  <a:gd name="connsiteX7" fmla="*/ 40005 w 553402"/>
                  <a:gd name="connsiteY7" fmla="*/ 324803 h 324802"/>
                  <a:gd name="connsiteX8" fmla="*/ 172403 w 553402"/>
                  <a:gd name="connsiteY8" fmla="*/ 192405 h 324802"/>
                  <a:gd name="connsiteX9" fmla="*/ 229553 w 553402"/>
                  <a:gd name="connsiteY9" fmla="*/ 249555 h 324802"/>
                  <a:gd name="connsiteX10" fmla="*/ 324803 w 553402"/>
                  <a:gd name="connsiteY10" fmla="*/ 154305 h 324802"/>
                  <a:gd name="connsiteX11" fmla="*/ 381953 w 553402"/>
                  <a:gd name="connsiteY11" fmla="*/ 211455 h 324802"/>
                  <a:gd name="connsiteX12" fmla="*/ 497205 w 553402"/>
                  <a:gd name="connsiteY12" fmla="*/ 96202 h 324802"/>
                  <a:gd name="connsiteX13" fmla="*/ 553403 w 553402"/>
                  <a:gd name="connsiteY13" fmla="*/ 152400 h 324802"/>
                  <a:gd name="connsiteX14" fmla="*/ 553403 w 553402"/>
                  <a:gd name="connsiteY14" fmla="*/ 0 h 3248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53402" h="324802">
                    <a:moveTo>
                      <a:pt x="401003" y="0"/>
                    </a:moveTo>
                    <a:lnTo>
                      <a:pt x="457200" y="56198"/>
                    </a:lnTo>
                    <a:lnTo>
                      <a:pt x="381953" y="131445"/>
                    </a:lnTo>
                    <a:lnTo>
                      <a:pt x="324803" y="74295"/>
                    </a:lnTo>
                    <a:lnTo>
                      <a:pt x="229553" y="169545"/>
                    </a:lnTo>
                    <a:lnTo>
                      <a:pt x="172403" y="112395"/>
                    </a:lnTo>
                    <a:lnTo>
                      <a:pt x="0" y="284798"/>
                    </a:lnTo>
                    <a:lnTo>
                      <a:pt x="40005" y="324803"/>
                    </a:lnTo>
                    <a:lnTo>
                      <a:pt x="172403" y="192405"/>
                    </a:lnTo>
                    <a:lnTo>
                      <a:pt x="229553" y="249555"/>
                    </a:lnTo>
                    <a:lnTo>
                      <a:pt x="324803" y="154305"/>
                    </a:lnTo>
                    <a:lnTo>
                      <a:pt x="381953" y="211455"/>
                    </a:lnTo>
                    <a:lnTo>
                      <a:pt x="497205" y="96202"/>
                    </a:lnTo>
                    <a:lnTo>
                      <a:pt x="553403" y="152400"/>
                    </a:lnTo>
                    <a:lnTo>
                      <a:pt x="553403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88FBABE8-D8BC-BAA1-144E-9DE961794831}"/>
              </a:ext>
            </a:extLst>
          </p:cNvPr>
          <p:cNvCxnSpPr>
            <a:cxnSpLocks/>
          </p:cNvCxnSpPr>
          <p:nvPr/>
        </p:nvCxnSpPr>
        <p:spPr>
          <a:xfrm>
            <a:off x="7317630" y="3458108"/>
            <a:ext cx="0" cy="147637"/>
          </a:xfrm>
          <a:prstGeom prst="straightConnector1">
            <a:avLst/>
          </a:prstGeom>
          <a:ln w="12700">
            <a:solidFill>
              <a:srgbClr val="CC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09B96AC4-B119-3204-2D5C-087A66266D07}"/>
              </a:ext>
            </a:extLst>
          </p:cNvPr>
          <p:cNvCxnSpPr>
            <a:cxnSpLocks/>
          </p:cNvCxnSpPr>
          <p:nvPr/>
        </p:nvCxnSpPr>
        <p:spPr>
          <a:xfrm>
            <a:off x="7311335" y="4012049"/>
            <a:ext cx="0" cy="147637"/>
          </a:xfrm>
          <a:prstGeom prst="straightConnector1">
            <a:avLst/>
          </a:prstGeom>
          <a:ln w="12700">
            <a:solidFill>
              <a:srgbClr val="CC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4" name="Gruppo 33">
            <a:extLst>
              <a:ext uri="{FF2B5EF4-FFF2-40B4-BE49-F238E27FC236}">
                <a16:creationId xmlns:a16="http://schemas.microsoft.com/office/drawing/2014/main" id="{4E539E03-ED1F-0E85-DCF0-0AABD61EBC55}"/>
              </a:ext>
            </a:extLst>
          </p:cNvPr>
          <p:cNvGrpSpPr/>
          <p:nvPr/>
        </p:nvGrpSpPr>
        <p:grpSpPr>
          <a:xfrm>
            <a:off x="7467393" y="3420327"/>
            <a:ext cx="848138" cy="223202"/>
            <a:chOff x="1853641" y="3716179"/>
            <a:chExt cx="877138" cy="223202"/>
          </a:xfrm>
        </p:grpSpPr>
        <p:sp>
          <p:nvSpPr>
            <p:cNvPr id="35" name="Rettangolo con angoli arrotondati 34">
              <a:extLst>
                <a:ext uri="{FF2B5EF4-FFF2-40B4-BE49-F238E27FC236}">
                  <a16:creationId xmlns:a16="http://schemas.microsoft.com/office/drawing/2014/main" id="{4B36B7FC-B853-010D-8D50-16868D24AD53}"/>
                </a:ext>
              </a:extLst>
            </p:cNvPr>
            <p:cNvSpPr/>
            <p:nvPr/>
          </p:nvSpPr>
          <p:spPr>
            <a:xfrm>
              <a:off x="1853641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rial Nova Light" panose="020B0304020202020204" pitchFamily="34" charset="0"/>
                  <a:ea typeface="DengXian" panose="02010600030101010101" pitchFamily="2" charset="-122"/>
                </a:rPr>
                <a:t>B</a:t>
              </a:r>
            </a:p>
          </p:txBody>
        </p:sp>
        <p:sp>
          <p:nvSpPr>
            <p:cNvPr id="36" name="Rettangolo con angoli arrotondati 35">
              <a:extLst>
                <a:ext uri="{FF2B5EF4-FFF2-40B4-BE49-F238E27FC236}">
                  <a16:creationId xmlns:a16="http://schemas.microsoft.com/office/drawing/2014/main" id="{3AB6514C-5682-700E-0561-859FB0C1AE41}"/>
                </a:ext>
              </a:extLst>
            </p:cNvPr>
            <p:cNvSpPr/>
            <p:nvPr/>
          </p:nvSpPr>
          <p:spPr>
            <a:xfrm>
              <a:off x="2146021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rial Nova Light" panose="020B0304020202020204" pitchFamily="34" charset="0"/>
                  <a:ea typeface="DengXian" panose="02010600030101010101" pitchFamily="2" charset="-122"/>
                </a:rPr>
                <a:t>S</a:t>
              </a:r>
            </a:p>
          </p:txBody>
        </p:sp>
        <p:sp>
          <p:nvSpPr>
            <p:cNvPr id="37" name="Rettangolo con angoli arrotondati 36">
              <a:extLst>
                <a:ext uri="{FF2B5EF4-FFF2-40B4-BE49-F238E27FC236}">
                  <a16:creationId xmlns:a16="http://schemas.microsoft.com/office/drawing/2014/main" id="{2E96F1B8-0883-6C56-316D-02384AA520A5}"/>
                </a:ext>
              </a:extLst>
            </p:cNvPr>
            <p:cNvSpPr/>
            <p:nvPr/>
          </p:nvSpPr>
          <p:spPr>
            <a:xfrm>
              <a:off x="2438400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b="1" dirty="0">
                <a:latin typeface="Arial Nova Light" panose="020B0304020202020204" pitchFamily="34" charset="0"/>
                <a:ea typeface="DengXian" panose="02010600030101010101" pitchFamily="2" charset="-122"/>
              </a:endParaRPr>
            </a:p>
          </p:txBody>
        </p:sp>
        <p:grpSp>
          <p:nvGrpSpPr>
            <p:cNvPr id="38" name="Gruppo 37">
              <a:extLst>
                <a:ext uri="{FF2B5EF4-FFF2-40B4-BE49-F238E27FC236}">
                  <a16:creationId xmlns:a16="http://schemas.microsoft.com/office/drawing/2014/main" id="{F834AF93-38E5-9A00-98A4-ECDF5158AAC9}"/>
                </a:ext>
              </a:extLst>
            </p:cNvPr>
            <p:cNvGrpSpPr/>
            <p:nvPr/>
          </p:nvGrpSpPr>
          <p:grpSpPr>
            <a:xfrm>
              <a:off x="2501245" y="3744436"/>
              <a:ext cx="166687" cy="166687"/>
              <a:chOff x="2224088" y="3014663"/>
              <a:chExt cx="647700" cy="647700"/>
            </a:xfrm>
          </p:grpSpPr>
          <p:sp>
            <p:nvSpPr>
              <p:cNvPr id="39" name="Figura a mano libera: forma 38">
                <a:extLst>
                  <a:ext uri="{FF2B5EF4-FFF2-40B4-BE49-F238E27FC236}">
                    <a16:creationId xmlns:a16="http://schemas.microsoft.com/office/drawing/2014/main" id="{D9B79D7A-8966-9031-779F-BC7D0BEA1B25}"/>
                  </a:ext>
                </a:extLst>
              </p:cNvPr>
              <p:cNvSpPr/>
              <p:nvPr/>
            </p:nvSpPr>
            <p:spPr>
              <a:xfrm>
                <a:off x="2224088" y="3014663"/>
                <a:ext cx="647700" cy="647700"/>
              </a:xfrm>
              <a:custGeom>
                <a:avLst/>
                <a:gdLst>
                  <a:gd name="connsiteX0" fmla="*/ 57150 w 647700"/>
                  <a:gd name="connsiteY0" fmla="*/ 0 h 647700"/>
                  <a:gd name="connsiteX1" fmla="*/ 0 w 647700"/>
                  <a:gd name="connsiteY1" fmla="*/ 0 h 647700"/>
                  <a:gd name="connsiteX2" fmla="*/ 0 w 647700"/>
                  <a:gd name="connsiteY2" fmla="*/ 647700 h 647700"/>
                  <a:gd name="connsiteX3" fmla="*/ 647700 w 647700"/>
                  <a:gd name="connsiteY3" fmla="*/ 647700 h 647700"/>
                  <a:gd name="connsiteX4" fmla="*/ 647700 w 647700"/>
                  <a:gd name="connsiteY4" fmla="*/ 590550 h 647700"/>
                  <a:gd name="connsiteX5" fmla="*/ 57150 w 647700"/>
                  <a:gd name="connsiteY5" fmla="*/ 590550 h 647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7700" h="647700">
                    <a:moveTo>
                      <a:pt x="57150" y="0"/>
                    </a:moveTo>
                    <a:lnTo>
                      <a:pt x="0" y="0"/>
                    </a:lnTo>
                    <a:lnTo>
                      <a:pt x="0" y="647700"/>
                    </a:lnTo>
                    <a:lnTo>
                      <a:pt x="647700" y="647700"/>
                    </a:lnTo>
                    <a:lnTo>
                      <a:pt x="647700" y="590550"/>
                    </a:lnTo>
                    <a:lnTo>
                      <a:pt x="57150" y="59055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" name="Figura a mano libera: forma 39">
                <a:extLst>
                  <a:ext uri="{FF2B5EF4-FFF2-40B4-BE49-F238E27FC236}">
                    <a16:creationId xmlns:a16="http://schemas.microsoft.com/office/drawing/2014/main" id="{42007A04-6808-2F17-4A87-538A82EE0D66}"/>
                  </a:ext>
                </a:extLst>
              </p:cNvPr>
              <p:cNvSpPr/>
              <p:nvPr/>
            </p:nvSpPr>
            <p:spPr>
              <a:xfrm>
                <a:off x="2318385" y="3176588"/>
                <a:ext cx="553402" cy="324802"/>
              </a:xfrm>
              <a:custGeom>
                <a:avLst/>
                <a:gdLst>
                  <a:gd name="connsiteX0" fmla="*/ 401003 w 553402"/>
                  <a:gd name="connsiteY0" fmla="*/ 0 h 324802"/>
                  <a:gd name="connsiteX1" fmla="*/ 457200 w 553402"/>
                  <a:gd name="connsiteY1" fmla="*/ 56198 h 324802"/>
                  <a:gd name="connsiteX2" fmla="*/ 381953 w 553402"/>
                  <a:gd name="connsiteY2" fmla="*/ 131445 h 324802"/>
                  <a:gd name="connsiteX3" fmla="*/ 324803 w 553402"/>
                  <a:gd name="connsiteY3" fmla="*/ 74295 h 324802"/>
                  <a:gd name="connsiteX4" fmla="*/ 229553 w 553402"/>
                  <a:gd name="connsiteY4" fmla="*/ 169545 h 324802"/>
                  <a:gd name="connsiteX5" fmla="*/ 172403 w 553402"/>
                  <a:gd name="connsiteY5" fmla="*/ 112395 h 324802"/>
                  <a:gd name="connsiteX6" fmla="*/ 0 w 553402"/>
                  <a:gd name="connsiteY6" fmla="*/ 284798 h 324802"/>
                  <a:gd name="connsiteX7" fmla="*/ 40005 w 553402"/>
                  <a:gd name="connsiteY7" fmla="*/ 324803 h 324802"/>
                  <a:gd name="connsiteX8" fmla="*/ 172403 w 553402"/>
                  <a:gd name="connsiteY8" fmla="*/ 192405 h 324802"/>
                  <a:gd name="connsiteX9" fmla="*/ 229553 w 553402"/>
                  <a:gd name="connsiteY9" fmla="*/ 249555 h 324802"/>
                  <a:gd name="connsiteX10" fmla="*/ 324803 w 553402"/>
                  <a:gd name="connsiteY10" fmla="*/ 154305 h 324802"/>
                  <a:gd name="connsiteX11" fmla="*/ 381953 w 553402"/>
                  <a:gd name="connsiteY11" fmla="*/ 211455 h 324802"/>
                  <a:gd name="connsiteX12" fmla="*/ 497205 w 553402"/>
                  <a:gd name="connsiteY12" fmla="*/ 96202 h 324802"/>
                  <a:gd name="connsiteX13" fmla="*/ 553403 w 553402"/>
                  <a:gd name="connsiteY13" fmla="*/ 152400 h 324802"/>
                  <a:gd name="connsiteX14" fmla="*/ 553403 w 553402"/>
                  <a:gd name="connsiteY14" fmla="*/ 0 h 3248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53402" h="324802">
                    <a:moveTo>
                      <a:pt x="401003" y="0"/>
                    </a:moveTo>
                    <a:lnTo>
                      <a:pt x="457200" y="56198"/>
                    </a:lnTo>
                    <a:lnTo>
                      <a:pt x="381953" y="131445"/>
                    </a:lnTo>
                    <a:lnTo>
                      <a:pt x="324803" y="74295"/>
                    </a:lnTo>
                    <a:lnTo>
                      <a:pt x="229553" y="169545"/>
                    </a:lnTo>
                    <a:lnTo>
                      <a:pt x="172403" y="112395"/>
                    </a:lnTo>
                    <a:lnTo>
                      <a:pt x="0" y="284798"/>
                    </a:lnTo>
                    <a:lnTo>
                      <a:pt x="40005" y="324803"/>
                    </a:lnTo>
                    <a:lnTo>
                      <a:pt x="172403" y="192405"/>
                    </a:lnTo>
                    <a:lnTo>
                      <a:pt x="229553" y="249555"/>
                    </a:lnTo>
                    <a:lnTo>
                      <a:pt x="324803" y="154305"/>
                    </a:lnTo>
                    <a:lnTo>
                      <a:pt x="381953" y="211455"/>
                    </a:lnTo>
                    <a:lnTo>
                      <a:pt x="497205" y="96202"/>
                    </a:lnTo>
                    <a:lnTo>
                      <a:pt x="553403" y="152400"/>
                    </a:lnTo>
                    <a:lnTo>
                      <a:pt x="553403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41" name="Gruppo 40">
            <a:extLst>
              <a:ext uri="{FF2B5EF4-FFF2-40B4-BE49-F238E27FC236}">
                <a16:creationId xmlns:a16="http://schemas.microsoft.com/office/drawing/2014/main" id="{C3E91659-339C-F346-D272-697F4EDEF551}"/>
              </a:ext>
            </a:extLst>
          </p:cNvPr>
          <p:cNvGrpSpPr/>
          <p:nvPr/>
        </p:nvGrpSpPr>
        <p:grpSpPr>
          <a:xfrm>
            <a:off x="7473295" y="3964742"/>
            <a:ext cx="848138" cy="223202"/>
            <a:chOff x="1853641" y="3716179"/>
            <a:chExt cx="877138" cy="223202"/>
          </a:xfrm>
        </p:grpSpPr>
        <p:sp>
          <p:nvSpPr>
            <p:cNvPr id="42" name="Rettangolo con angoli arrotondati 41">
              <a:extLst>
                <a:ext uri="{FF2B5EF4-FFF2-40B4-BE49-F238E27FC236}">
                  <a16:creationId xmlns:a16="http://schemas.microsoft.com/office/drawing/2014/main" id="{87DB583B-FE37-A9E5-27EC-1A0FE509EA59}"/>
                </a:ext>
              </a:extLst>
            </p:cNvPr>
            <p:cNvSpPr/>
            <p:nvPr/>
          </p:nvSpPr>
          <p:spPr>
            <a:xfrm>
              <a:off x="1853641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rial Nova Light" panose="020B0304020202020204" pitchFamily="34" charset="0"/>
                  <a:ea typeface="DengXian" panose="02010600030101010101" pitchFamily="2" charset="-122"/>
                </a:rPr>
                <a:t>B</a:t>
              </a:r>
            </a:p>
          </p:txBody>
        </p:sp>
        <p:sp>
          <p:nvSpPr>
            <p:cNvPr id="43" name="Rettangolo con angoli arrotondati 42">
              <a:extLst>
                <a:ext uri="{FF2B5EF4-FFF2-40B4-BE49-F238E27FC236}">
                  <a16:creationId xmlns:a16="http://schemas.microsoft.com/office/drawing/2014/main" id="{48DBD5A1-A392-0AB7-4814-3E4389D44DFE}"/>
                </a:ext>
              </a:extLst>
            </p:cNvPr>
            <p:cNvSpPr/>
            <p:nvPr/>
          </p:nvSpPr>
          <p:spPr>
            <a:xfrm>
              <a:off x="2146021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rial Nova Light" panose="020B0304020202020204" pitchFamily="34" charset="0"/>
                  <a:ea typeface="DengXian" panose="02010600030101010101" pitchFamily="2" charset="-122"/>
                </a:rPr>
                <a:t>S</a:t>
              </a:r>
            </a:p>
          </p:txBody>
        </p:sp>
        <p:sp>
          <p:nvSpPr>
            <p:cNvPr id="44" name="Rettangolo con angoli arrotondati 43">
              <a:extLst>
                <a:ext uri="{FF2B5EF4-FFF2-40B4-BE49-F238E27FC236}">
                  <a16:creationId xmlns:a16="http://schemas.microsoft.com/office/drawing/2014/main" id="{E5C7AA08-B8A1-3F5E-3DF2-27C44CB468BB}"/>
                </a:ext>
              </a:extLst>
            </p:cNvPr>
            <p:cNvSpPr/>
            <p:nvPr/>
          </p:nvSpPr>
          <p:spPr>
            <a:xfrm>
              <a:off x="2438400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b="1" dirty="0">
                <a:latin typeface="Arial Nova Light" panose="020B0304020202020204" pitchFamily="34" charset="0"/>
                <a:ea typeface="DengXian" panose="02010600030101010101" pitchFamily="2" charset="-122"/>
              </a:endParaRPr>
            </a:p>
          </p:txBody>
        </p:sp>
        <p:grpSp>
          <p:nvGrpSpPr>
            <p:cNvPr id="45" name="Gruppo 44">
              <a:extLst>
                <a:ext uri="{FF2B5EF4-FFF2-40B4-BE49-F238E27FC236}">
                  <a16:creationId xmlns:a16="http://schemas.microsoft.com/office/drawing/2014/main" id="{4032CD96-ABA1-B754-6A43-4204E5B7A50D}"/>
                </a:ext>
              </a:extLst>
            </p:cNvPr>
            <p:cNvGrpSpPr/>
            <p:nvPr/>
          </p:nvGrpSpPr>
          <p:grpSpPr>
            <a:xfrm>
              <a:off x="2501245" y="3744436"/>
              <a:ext cx="166687" cy="166687"/>
              <a:chOff x="2224088" y="3014663"/>
              <a:chExt cx="647700" cy="647700"/>
            </a:xfrm>
          </p:grpSpPr>
          <p:sp>
            <p:nvSpPr>
              <p:cNvPr id="46" name="Figura a mano libera: forma 45">
                <a:extLst>
                  <a:ext uri="{FF2B5EF4-FFF2-40B4-BE49-F238E27FC236}">
                    <a16:creationId xmlns:a16="http://schemas.microsoft.com/office/drawing/2014/main" id="{9E9DB704-9E6B-5163-19F8-482315FACAC1}"/>
                  </a:ext>
                </a:extLst>
              </p:cNvPr>
              <p:cNvSpPr/>
              <p:nvPr/>
            </p:nvSpPr>
            <p:spPr>
              <a:xfrm>
                <a:off x="2224088" y="3014663"/>
                <a:ext cx="647700" cy="647700"/>
              </a:xfrm>
              <a:custGeom>
                <a:avLst/>
                <a:gdLst>
                  <a:gd name="connsiteX0" fmla="*/ 57150 w 647700"/>
                  <a:gd name="connsiteY0" fmla="*/ 0 h 647700"/>
                  <a:gd name="connsiteX1" fmla="*/ 0 w 647700"/>
                  <a:gd name="connsiteY1" fmla="*/ 0 h 647700"/>
                  <a:gd name="connsiteX2" fmla="*/ 0 w 647700"/>
                  <a:gd name="connsiteY2" fmla="*/ 647700 h 647700"/>
                  <a:gd name="connsiteX3" fmla="*/ 647700 w 647700"/>
                  <a:gd name="connsiteY3" fmla="*/ 647700 h 647700"/>
                  <a:gd name="connsiteX4" fmla="*/ 647700 w 647700"/>
                  <a:gd name="connsiteY4" fmla="*/ 590550 h 647700"/>
                  <a:gd name="connsiteX5" fmla="*/ 57150 w 647700"/>
                  <a:gd name="connsiteY5" fmla="*/ 590550 h 647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7700" h="647700">
                    <a:moveTo>
                      <a:pt x="57150" y="0"/>
                    </a:moveTo>
                    <a:lnTo>
                      <a:pt x="0" y="0"/>
                    </a:lnTo>
                    <a:lnTo>
                      <a:pt x="0" y="647700"/>
                    </a:lnTo>
                    <a:lnTo>
                      <a:pt x="647700" y="647700"/>
                    </a:lnTo>
                    <a:lnTo>
                      <a:pt x="647700" y="590550"/>
                    </a:lnTo>
                    <a:lnTo>
                      <a:pt x="57150" y="59055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igura a mano libera: forma 46">
                <a:extLst>
                  <a:ext uri="{FF2B5EF4-FFF2-40B4-BE49-F238E27FC236}">
                    <a16:creationId xmlns:a16="http://schemas.microsoft.com/office/drawing/2014/main" id="{AE8C8F2E-4912-06AB-6DF1-5E62955BD912}"/>
                  </a:ext>
                </a:extLst>
              </p:cNvPr>
              <p:cNvSpPr/>
              <p:nvPr/>
            </p:nvSpPr>
            <p:spPr>
              <a:xfrm>
                <a:off x="2318385" y="3176588"/>
                <a:ext cx="553402" cy="324802"/>
              </a:xfrm>
              <a:custGeom>
                <a:avLst/>
                <a:gdLst>
                  <a:gd name="connsiteX0" fmla="*/ 401003 w 553402"/>
                  <a:gd name="connsiteY0" fmla="*/ 0 h 324802"/>
                  <a:gd name="connsiteX1" fmla="*/ 457200 w 553402"/>
                  <a:gd name="connsiteY1" fmla="*/ 56198 h 324802"/>
                  <a:gd name="connsiteX2" fmla="*/ 381953 w 553402"/>
                  <a:gd name="connsiteY2" fmla="*/ 131445 h 324802"/>
                  <a:gd name="connsiteX3" fmla="*/ 324803 w 553402"/>
                  <a:gd name="connsiteY3" fmla="*/ 74295 h 324802"/>
                  <a:gd name="connsiteX4" fmla="*/ 229553 w 553402"/>
                  <a:gd name="connsiteY4" fmla="*/ 169545 h 324802"/>
                  <a:gd name="connsiteX5" fmla="*/ 172403 w 553402"/>
                  <a:gd name="connsiteY5" fmla="*/ 112395 h 324802"/>
                  <a:gd name="connsiteX6" fmla="*/ 0 w 553402"/>
                  <a:gd name="connsiteY6" fmla="*/ 284798 h 324802"/>
                  <a:gd name="connsiteX7" fmla="*/ 40005 w 553402"/>
                  <a:gd name="connsiteY7" fmla="*/ 324803 h 324802"/>
                  <a:gd name="connsiteX8" fmla="*/ 172403 w 553402"/>
                  <a:gd name="connsiteY8" fmla="*/ 192405 h 324802"/>
                  <a:gd name="connsiteX9" fmla="*/ 229553 w 553402"/>
                  <a:gd name="connsiteY9" fmla="*/ 249555 h 324802"/>
                  <a:gd name="connsiteX10" fmla="*/ 324803 w 553402"/>
                  <a:gd name="connsiteY10" fmla="*/ 154305 h 324802"/>
                  <a:gd name="connsiteX11" fmla="*/ 381953 w 553402"/>
                  <a:gd name="connsiteY11" fmla="*/ 211455 h 324802"/>
                  <a:gd name="connsiteX12" fmla="*/ 497205 w 553402"/>
                  <a:gd name="connsiteY12" fmla="*/ 96202 h 324802"/>
                  <a:gd name="connsiteX13" fmla="*/ 553403 w 553402"/>
                  <a:gd name="connsiteY13" fmla="*/ 152400 h 324802"/>
                  <a:gd name="connsiteX14" fmla="*/ 553403 w 553402"/>
                  <a:gd name="connsiteY14" fmla="*/ 0 h 3248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53402" h="324802">
                    <a:moveTo>
                      <a:pt x="401003" y="0"/>
                    </a:moveTo>
                    <a:lnTo>
                      <a:pt x="457200" y="56198"/>
                    </a:lnTo>
                    <a:lnTo>
                      <a:pt x="381953" y="131445"/>
                    </a:lnTo>
                    <a:lnTo>
                      <a:pt x="324803" y="74295"/>
                    </a:lnTo>
                    <a:lnTo>
                      <a:pt x="229553" y="169545"/>
                    </a:lnTo>
                    <a:lnTo>
                      <a:pt x="172403" y="112395"/>
                    </a:lnTo>
                    <a:lnTo>
                      <a:pt x="0" y="284798"/>
                    </a:lnTo>
                    <a:lnTo>
                      <a:pt x="40005" y="324803"/>
                    </a:lnTo>
                    <a:lnTo>
                      <a:pt x="172403" y="192405"/>
                    </a:lnTo>
                    <a:lnTo>
                      <a:pt x="229553" y="249555"/>
                    </a:lnTo>
                    <a:lnTo>
                      <a:pt x="324803" y="154305"/>
                    </a:lnTo>
                    <a:lnTo>
                      <a:pt x="381953" y="211455"/>
                    </a:lnTo>
                    <a:lnTo>
                      <a:pt x="497205" y="96202"/>
                    </a:lnTo>
                    <a:lnTo>
                      <a:pt x="553403" y="152400"/>
                    </a:lnTo>
                    <a:lnTo>
                      <a:pt x="553403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48" name="Gruppo 47">
            <a:extLst>
              <a:ext uri="{FF2B5EF4-FFF2-40B4-BE49-F238E27FC236}">
                <a16:creationId xmlns:a16="http://schemas.microsoft.com/office/drawing/2014/main" id="{A9BA0D88-DC05-7669-00EF-88B30E77C7EE}"/>
              </a:ext>
            </a:extLst>
          </p:cNvPr>
          <p:cNvGrpSpPr/>
          <p:nvPr/>
        </p:nvGrpSpPr>
        <p:grpSpPr>
          <a:xfrm>
            <a:off x="7482895" y="4514861"/>
            <a:ext cx="848138" cy="223202"/>
            <a:chOff x="1853641" y="3716179"/>
            <a:chExt cx="877138" cy="223202"/>
          </a:xfrm>
        </p:grpSpPr>
        <p:sp>
          <p:nvSpPr>
            <p:cNvPr id="49" name="Rettangolo con angoli arrotondati 48">
              <a:extLst>
                <a:ext uri="{FF2B5EF4-FFF2-40B4-BE49-F238E27FC236}">
                  <a16:creationId xmlns:a16="http://schemas.microsoft.com/office/drawing/2014/main" id="{970EF9F3-7A80-7F0D-DE3A-4942A6DB2C88}"/>
                </a:ext>
              </a:extLst>
            </p:cNvPr>
            <p:cNvSpPr/>
            <p:nvPr/>
          </p:nvSpPr>
          <p:spPr>
            <a:xfrm>
              <a:off x="1853641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rial Nova Light" panose="020B0304020202020204" pitchFamily="34" charset="0"/>
                  <a:ea typeface="DengXian" panose="02010600030101010101" pitchFamily="2" charset="-122"/>
                </a:rPr>
                <a:t>B</a:t>
              </a:r>
            </a:p>
          </p:txBody>
        </p:sp>
        <p:sp>
          <p:nvSpPr>
            <p:cNvPr id="50" name="Rettangolo con angoli arrotondati 49">
              <a:extLst>
                <a:ext uri="{FF2B5EF4-FFF2-40B4-BE49-F238E27FC236}">
                  <a16:creationId xmlns:a16="http://schemas.microsoft.com/office/drawing/2014/main" id="{55452FC9-A13F-9FB3-D1BF-2FA1AF541CCA}"/>
                </a:ext>
              </a:extLst>
            </p:cNvPr>
            <p:cNvSpPr/>
            <p:nvPr/>
          </p:nvSpPr>
          <p:spPr>
            <a:xfrm>
              <a:off x="2146021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rial Nova Light" panose="020B0304020202020204" pitchFamily="34" charset="0"/>
                  <a:ea typeface="DengXian" panose="02010600030101010101" pitchFamily="2" charset="-122"/>
                </a:rPr>
                <a:t>S</a:t>
              </a:r>
            </a:p>
          </p:txBody>
        </p:sp>
        <p:sp>
          <p:nvSpPr>
            <p:cNvPr id="51" name="Rettangolo con angoli arrotondati 50">
              <a:extLst>
                <a:ext uri="{FF2B5EF4-FFF2-40B4-BE49-F238E27FC236}">
                  <a16:creationId xmlns:a16="http://schemas.microsoft.com/office/drawing/2014/main" id="{931DC256-788A-0DAC-56B3-B27EC52AFB20}"/>
                </a:ext>
              </a:extLst>
            </p:cNvPr>
            <p:cNvSpPr/>
            <p:nvPr/>
          </p:nvSpPr>
          <p:spPr>
            <a:xfrm>
              <a:off x="2438400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b="1" dirty="0">
                <a:latin typeface="Arial Nova Light" panose="020B0304020202020204" pitchFamily="34" charset="0"/>
                <a:ea typeface="DengXian" panose="02010600030101010101" pitchFamily="2" charset="-122"/>
              </a:endParaRPr>
            </a:p>
          </p:txBody>
        </p:sp>
        <p:grpSp>
          <p:nvGrpSpPr>
            <p:cNvPr id="52" name="Gruppo 51">
              <a:extLst>
                <a:ext uri="{FF2B5EF4-FFF2-40B4-BE49-F238E27FC236}">
                  <a16:creationId xmlns:a16="http://schemas.microsoft.com/office/drawing/2014/main" id="{DECE7F1C-E911-F350-45FB-8343BF87D3CB}"/>
                </a:ext>
              </a:extLst>
            </p:cNvPr>
            <p:cNvGrpSpPr/>
            <p:nvPr/>
          </p:nvGrpSpPr>
          <p:grpSpPr>
            <a:xfrm>
              <a:off x="2501245" y="3744436"/>
              <a:ext cx="166687" cy="166687"/>
              <a:chOff x="2224088" y="3014663"/>
              <a:chExt cx="647700" cy="647700"/>
            </a:xfrm>
          </p:grpSpPr>
          <p:sp>
            <p:nvSpPr>
              <p:cNvPr id="53" name="Figura a mano libera: forma 52">
                <a:extLst>
                  <a:ext uri="{FF2B5EF4-FFF2-40B4-BE49-F238E27FC236}">
                    <a16:creationId xmlns:a16="http://schemas.microsoft.com/office/drawing/2014/main" id="{038F2570-8D89-58A3-F748-D8B4F21CAB57}"/>
                  </a:ext>
                </a:extLst>
              </p:cNvPr>
              <p:cNvSpPr/>
              <p:nvPr/>
            </p:nvSpPr>
            <p:spPr>
              <a:xfrm>
                <a:off x="2224088" y="3014663"/>
                <a:ext cx="647700" cy="647700"/>
              </a:xfrm>
              <a:custGeom>
                <a:avLst/>
                <a:gdLst>
                  <a:gd name="connsiteX0" fmla="*/ 57150 w 647700"/>
                  <a:gd name="connsiteY0" fmla="*/ 0 h 647700"/>
                  <a:gd name="connsiteX1" fmla="*/ 0 w 647700"/>
                  <a:gd name="connsiteY1" fmla="*/ 0 h 647700"/>
                  <a:gd name="connsiteX2" fmla="*/ 0 w 647700"/>
                  <a:gd name="connsiteY2" fmla="*/ 647700 h 647700"/>
                  <a:gd name="connsiteX3" fmla="*/ 647700 w 647700"/>
                  <a:gd name="connsiteY3" fmla="*/ 647700 h 647700"/>
                  <a:gd name="connsiteX4" fmla="*/ 647700 w 647700"/>
                  <a:gd name="connsiteY4" fmla="*/ 590550 h 647700"/>
                  <a:gd name="connsiteX5" fmla="*/ 57150 w 647700"/>
                  <a:gd name="connsiteY5" fmla="*/ 590550 h 647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7700" h="647700">
                    <a:moveTo>
                      <a:pt x="57150" y="0"/>
                    </a:moveTo>
                    <a:lnTo>
                      <a:pt x="0" y="0"/>
                    </a:lnTo>
                    <a:lnTo>
                      <a:pt x="0" y="647700"/>
                    </a:lnTo>
                    <a:lnTo>
                      <a:pt x="647700" y="647700"/>
                    </a:lnTo>
                    <a:lnTo>
                      <a:pt x="647700" y="590550"/>
                    </a:lnTo>
                    <a:lnTo>
                      <a:pt x="57150" y="59055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igura a mano libera: forma 53">
                <a:extLst>
                  <a:ext uri="{FF2B5EF4-FFF2-40B4-BE49-F238E27FC236}">
                    <a16:creationId xmlns:a16="http://schemas.microsoft.com/office/drawing/2014/main" id="{8A20E003-6A64-6406-CC43-78B81D35226F}"/>
                  </a:ext>
                </a:extLst>
              </p:cNvPr>
              <p:cNvSpPr/>
              <p:nvPr/>
            </p:nvSpPr>
            <p:spPr>
              <a:xfrm>
                <a:off x="2318385" y="3176588"/>
                <a:ext cx="553402" cy="324802"/>
              </a:xfrm>
              <a:custGeom>
                <a:avLst/>
                <a:gdLst>
                  <a:gd name="connsiteX0" fmla="*/ 401003 w 553402"/>
                  <a:gd name="connsiteY0" fmla="*/ 0 h 324802"/>
                  <a:gd name="connsiteX1" fmla="*/ 457200 w 553402"/>
                  <a:gd name="connsiteY1" fmla="*/ 56198 h 324802"/>
                  <a:gd name="connsiteX2" fmla="*/ 381953 w 553402"/>
                  <a:gd name="connsiteY2" fmla="*/ 131445 h 324802"/>
                  <a:gd name="connsiteX3" fmla="*/ 324803 w 553402"/>
                  <a:gd name="connsiteY3" fmla="*/ 74295 h 324802"/>
                  <a:gd name="connsiteX4" fmla="*/ 229553 w 553402"/>
                  <a:gd name="connsiteY4" fmla="*/ 169545 h 324802"/>
                  <a:gd name="connsiteX5" fmla="*/ 172403 w 553402"/>
                  <a:gd name="connsiteY5" fmla="*/ 112395 h 324802"/>
                  <a:gd name="connsiteX6" fmla="*/ 0 w 553402"/>
                  <a:gd name="connsiteY6" fmla="*/ 284798 h 324802"/>
                  <a:gd name="connsiteX7" fmla="*/ 40005 w 553402"/>
                  <a:gd name="connsiteY7" fmla="*/ 324803 h 324802"/>
                  <a:gd name="connsiteX8" fmla="*/ 172403 w 553402"/>
                  <a:gd name="connsiteY8" fmla="*/ 192405 h 324802"/>
                  <a:gd name="connsiteX9" fmla="*/ 229553 w 553402"/>
                  <a:gd name="connsiteY9" fmla="*/ 249555 h 324802"/>
                  <a:gd name="connsiteX10" fmla="*/ 324803 w 553402"/>
                  <a:gd name="connsiteY10" fmla="*/ 154305 h 324802"/>
                  <a:gd name="connsiteX11" fmla="*/ 381953 w 553402"/>
                  <a:gd name="connsiteY11" fmla="*/ 211455 h 324802"/>
                  <a:gd name="connsiteX12" fmla="*/ 497205 w 553402"/>
                  <a:gd name="connsiteY12" fmla="*/ 96202 h 324802"/>
                  <a:gd name="connsiteX13" fmla="*/ 553403 w 553402"/>
                  <a:gd name="connsiteY13" fmla="*/ 152400 h 324802"/>
                  <a:gd name="connsiteX14" fmla="*/ 553403 w 553402"/>
                  <a:gd name="connsiteY14" fmla="*/ 0 h 3248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53402" h="324802">
                    <a:moveTo>
                      <a:pt x="401003" y="0"/>
                    </a:moveTo>
                    <a:lnTo>
                      <a:pt x="457200" y="56198"/>
                    </a:lnTo>
                    <a:lnTo>
                      <a:pt x="381953" y="131445"/>
                    </a:lnTo>
                    <a:lnTo>
                      <a:pt x="324803" y="74295"/>
                    </a:lnTo>
                    <a:lnTo>
                      <a:pt x="229553" y="169545"/>
                    </a:lnTo>
                    <a:lnTo>
                      <a:pt x="172403" y="112395"/>
                    </a:lnTo>
                    <a:lnTo>
                      <a:pt x="0" y="284798"/>
                    </a:lnTo>
                    <a:lnTo>
                      <a:pt x="40005" y="324803"/>
                    </a:lnTo>
                    <a:lnTo>
                      <a:pt x="172403" y="192405"/>
                    </a:lnTo>
                    <a:lnTo>
                      <a:pt x="229553" y="249555"/>
                    </a:lnTo>
                    <a:lnTo>
                      <a:pt x="324803" y="154305"/>
                    </a:lnTo>
                    <a:lnTo>
                      <a:pt x="381953" y="211455"/>
                    </a:lnTo>
                    <a:lnTo>
                      <a:pt x="497205" y="96202"/>
                    </a:lnTo>
                    <a:lnTo>
                      <a:pt x="553403" y="152400"/>
                    </a:lnTo>
                    <a:lnTo>
                      <a:pt x="553403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83" name="Gruppo 82">
            <a:extLst>
              <a:ext uri="{FF2B5EF4-FFF2-40B4-BE49-F238E27FC236}">
                <a16:creationId xmlns:a16="http://schemas.microsoft.com/office/drawing/2014/main" id="{4F2C334B-F1C4-059A-103C-B2270F444B32}"/>
              </a:ext>
            </a:extLst>
          </p:cNvPr>
          <p:cNvGrpSpPr/>
          <p:nvPr/>
        </p:nvGrpSpPr>
        <p:grpSpPr>
          <a:xfrm>
            <a:off x="7471571" y="2539816"/>
            <a:ext cx="848138" cy="223202"/>
            <a:chOff x="1853641" y="3716179"/>
            <a:chExt cx="877138" cy="223202"/>
          </a:xfrm>
        </p:grpSpPr>
        <p:sp>
          <p:nvSpPr>
            <p:cNvPr id="84" name="Rettangolo con angoli arrotondati 83">
              <a:extLst>
                <a:ext uri="{FF2B5EF4-FFF2-40B4-BE49-F238E27FC236}">
                  <a16:creationId xmlns:a16="http://schemas.microsoft.com/office/drawing/2014/main" id="{FCB11959-BCDD-F23D-EEEE-DE0D8CF51E7B}"/>
                </a:ext>
              </a:extLst>
            </p:cNvPr>
            <p:cNvSpPr/>
            <p:nvPr/>
          </p:nvSpPr>
          <p:spPr>
            <a:xfrm>
              <a:off x="1853641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rial Nova Light" panose="020B0304020202020204" pitchFamily="34" charset="0"/>
                  <a:ea typeface="DengXian" panose="02010600030101010101" pitchFamily="2" charset="-122"/>
                </a:rPr>
                <a:t>B</a:t>
              </a:r>
            </a:p>
          </p:txBody>
        </p:sp>
        <p:sp>
          <p:nvSpPr>
            <p:cNvPr id="85" name="Rettangolo con angoli arrotondati 84">
              <a:extLst>
                <a:ext uri="{FF2B5EF4-FFF2-40B4-BE49-F238E27FC236}">
                  <a16:creationId xmlns:a16="http://schemas.microsoft.com/office/drawing/2014/main" id="{C8CA47FB-99D3-93A7-F304-E77803AD072C}"/>
                </a:ext>
              </a:extLst>
            </p:cNvPr>
            <p:cNvSpPr/>
            <p:nvPr/>
          </p:nvSpPr>
          <p:spPr>
            <a:xfrm>
              <a:off x="2146021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rial Nova Light" panose="020B0304020202020204" pitchFamily="34" charset="0"/>
                  <a:ea typeface="DengXian" panose="02010600030101010101" pitchFamily="2" charset="-122"/>
                </a:rPr>
                <a:t>S</a:t>
              </a:r>
            </a:p>
          </p:txBody>
        </p:sp>
        <p:sp>
          <p:nvSpPr>
            <p:cNvPr id="86" name="Rettangolo con angoli arrotondati 85">
              <a:extLst>
                <a:ext uri="{FF2B5EF4-FFF2-40B4-BE49-F238E27FC236}">
                  <a16:creationId xmlns:a16="http://schemas.microsoft.com/office/drawing/2014/main" id="{AE9ADC1D-BBDD-7112-C24D-1360AFAF5D22}"/>
                </a:ext>
              </a:extLst>
            </p:cNvPr>
            <p:cNvSpPr/>
            <p:nvPr/>
          </p:nvSpPr>
          <p:spPr>
            <a:xfrm>
              <a:off x="2438400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b="1" dirty="0">
                <a:latin typeface="Arial Nova Light" panose="020B0304020202020204" pitchFamily="34" charset="0"/>
                <a:ea typeface="DengXian" panose="02010600030101010101" pitchFamily="2" charset="-122"/>
              </a:endParaRPr>
            </a:p>
          </p:txBody>
        </p:sp>
        <p:grpSp>
          <p:nvGrpSpPr>
            <p:cNvPr id="87" name="Gruppo 86">
              <a:extLst>
                <a:ext uri="{FF2B5EF4-FFF2-40B4-BE49-F238E27FC236}">
                  <a16:creationId xmlns:a16="http://schemas.microsoft.com/office/drawing/2014/main" id="{63EB5FF2-8681-2D9E-3866-D9D9B6AEBC40}"/>
                </a:ext>
              </a:extLst>
            </p:cNvPr>
            <p:cNvGrpSpPr/>
            <p:nvPr/>
          </p:nvGrpSpPr>
          <p:grpSpPr>
            <a:xfrm>
              <a:off x="2501245" y="3744436"/>
              <a:ext cx="166687" cy="166687"/>
              <a:chOff x="2224088" y="3014663"/>
              <a:chExt cx="647700" cy="647700"/>
            </a:xfrm>
          </p:grpSpPr>
          <p:sp>
            <p:nvSpPr>
              <p:cNvPr id="88" name="Figura a mano libera: forma 87">
                <a:extLst>
                  <a:ext uri="{FF2B5EF4-FFF2-40B4-BE49-F238E27FC236}">
                    <a16:creationId xmlns:a16="http://schemas.microsoft.com/office/drawing/2014/main" id="{DE2989C1-816D-AA9B-F10E-BF0EAAE4D392}"/>
                  </a:ext>
                </a:extLst>
              </p:cNvPr>
              <p:cNvSpPr/>
              <p:nvPr/>
            </p:nvSpPr>
            <p:spPr>
              <a:xfrm>
                <a:off x="2224088" y="3014663"/>
                <a:ext cx="647700" cy="647700"/>
              </a:xfrm>
              <a:custGeom>
                <a:avLst/>
                <a:gdLst>
                  <a:gd name="connsiteX0" fmla="*/ 57150 w 647700"/>
                  <a:gd name="connsiteY0" fmla="*/ 0 h 647700"/>
                  <a:gd name="connsiteX1" fmla="*/ 0 w 647700"/>
                  <a:gd name="connsiteY1" fmla="*/ 0 h 647700"/>
                  <a:gd name="connsiteX2" fmla="*/ 0 w 647700"/>
                  <a:gd name="connsiteY2" fmla="*/ 647700 h 647700"/>
                  <a:gd name="connsiteX3" fmla="*/ 647700 w 647700"/>
                  <a:gd name="connsiteY3" fmla="*/ 647700 h 647700"/>
                  <a:gd name="connsiteX4" fmla="*/ 647700 w 647700"/>
                  <a:gd name="connsiteY4" fmla="*/ 590550 h 647700"/>
                  <a:gd name="connsiteX5" fmla="*/ 57150 w 647700"/>
                  <a:gd name="connsiteY5" fmla="*/ 590550 h 647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7700" h="647700">
                    <a:moveTo>
                      <a:pt x="57150" y="0"/>
                    </a:moveTo>
                    <a:lnTo>
                      <a:pt x="0" y="0"/>
                    </a:lnTo>
                    <a:lnTo>
                      <a:pt x="0" y="647700"/>
                    </a:lnTo>
                    <a:lnTo>
                      <a:pt x="647700" y="647700"/>
                    </a:lnTo>
                    <a:lnTo>
                      <a:pt x="647700" y="590550"/>
                    </a:lnTo>
                    <a:lnTo>
                      <a:pt x="57150" y="59055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Figura a mano libera: forma 88">
                <a:extLst>
                  <a:ext uri="{FF2B5EF4-FFF2-40B4-BE49-F238E27FC236}">
                    <a16:creationId xmlns:a16="http://schemas.microsoft.com/office/drawing/2014/main" id="{772EF72C-082E-7C94-D4A5-2A6DBE23B9F9}"/>
                  </a:ext>
                </a:extLst>
              </p:cNvPr>
              <p:cNvSpPr/>
              <p:nvPr/>
            </p:nvSpPr>
            <p:spPr>
              <a:xfrm>
                <a:off x="2318385" y="3176588"/>
                <a:ext cx="553402" cy="324802"/>
              </a:xfrm>
              <a:custGeom>
                <a:avLst/>
                <a:gdLst>
                  <a:gd name="connsiteX0" fmla="*/ 401003 w 553402"/>
                  <a:gd name="connsiteY0" fmla="*/ 0 h 324802"/>
                  <a:gd name="connsiteX1" fmla="*/ 457200 w 553402"/>
                  <a:gd name="connsiteY1" fmla="*/ 56198 h 324802"/>
                  <a:gd name="connsiteX2" fmla="*/ 381953 w 553402"/>
                  <a:gd name="connsiteY2" fmla="*/ 131445 h 324802"/>
                  <a:gd name="connsiteX3" fmla="*/ 324803 w 553402"/>
                  <a:gd name="connsiteY3" fmla="*/ 74295 h 324802"/>
                  <a:gd name="connsiteX4" fmla="*/ 229553 w 553402"/>
                  <a:gd name="connsiteY4" fmla="*/ 169545 h 324802"/>
                  <a:gd name="connsiteX5" fmla="*/ 172403 w 553402"/>
                  <a:gd name="connsiteY5" fmla="*/ 112395 h 324802"/>
                  <a:gd name="connsiteX6" fmla="*/ 0 w 553402"/>
                  <a:gd name="connsiteY6" fmla="*/ 284798 h 324802"/>
                  <a:gd name="connsiteX7" fmla="*/ 40005 w 553402"/>
                  <a:gd name="connsiteY7" fmla="*/ 324803 h 324802"/>
                  <a:gd name="connsiteX8" fmla="*/ 172403 w 553402"/>
                  <a:gd name="connsiteY8" fmla="*/ 192405 h 324802"/>
                  <a:gd name="connsiteX9" fmla="*/ 229553 w 553402"/>
                  <a:gd name="connsiteY9" fmla="*/ 249555 h 324802"/>
                  <a:gd name="connsiteX10" fmla="*/ 324803 w 553402"/>
                  <a:gd name="connsiteY10" fmla="*/ 154305 h 324802"/>
                  <a:gd name="connsiteX11" fmla="*/ 381953 w 553402"/>
                  <a:gd name="connsiteY11" fmla="*/ 211455 h 324802"/>
                  <a:gd name="connsiteX12" fmla="*/ 497205 w 553402"/>
                  <a:gd name="connsiteY12" fmla="*/ 96202 h 324802"/>
                  <a:gd name="connsiteX13" fmla="*/ 553403 w 553402"/>
                  <a:gd name="connsiteY13" fmla="*/ 152400 h 324802"/>
                  <a:gd name="connsiteX14" fmla="*/ 553403 w 553402"/>
                  <a:gd name="connsiteY14" fmla="*/ 0 h 3248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53402" h="324802">
                    <a:moveTo>
                      <a:pt x="401003" y="0"/>
                    </a:moveTo>
                    <a:lnTo>
                      <a:pt x="457200" y="56198"/>
                    </a:lnTo>
                    <a:lnTo>
                      <a:pt x="381953" y="131445"/>
                    </a:lnTo>
                    <a:lnTo>
                      <a:pt x="324803" y="74295"/>
                    </a:lnTo>
                    <a:lnTo>
                      <a:pt x="229553" y="169545"/>
                    </a:lnTo>
                    <a:lnTo>
                      <a:pt x="172403" y="112395"/>
                    </a:lnTo>
                    <a:lnTo>
                      <a:pt x="0" y="284798"/>
                    </a:lnTo>
                    <a:lnTo>
                      <a:pt x="40005" y="324803"/>
                    </a:lnTo>
                    <a:lnTo>
                      <a:pt x="172403" y="192405"/>
                    </a:lnTo>
                    <a:lnTo>
                      <a:pt x="229553" y="249555"/>
                    </a:lnTo>
                    <a:lnTo>
                      <a:pt x="324803" y="154305"/>
                    </a:lnTo>
                    <a:lnTo>
                      <a:pt x="381953" y="211455"/>
                    </a:lnTo>
                    <a:lnTo>
                      <a:pt x="497205" y="96202"/>
                    </a:lnTo>
                    <a:lnTo>
                      <a:pt x="553403" y="152400"/>
                    </a:lnTo>
                    <a:lnTo>
                      <a:pt x="553403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cxnSp>
        <p:nvCxnSpPr>
          <p:cNvPr id="90" name="Connettore 2 89">
            <a:extLst>
              <a:ext uri="{FF2B5EF4-FFF2-40B4-BE49-F238E27FC236}">
                <a16:creationId xmlns:a16="http://schemas.microsoft.com/office/drawing/2014/main" id="{5585D6E2-ADE6-74DB-96E8-72766FDDC528}"/>
              </a:ext>
            </a:extLst>
          </p:cNvPr>
          <p:cNvCxnSpPr>
            <a:cxnSpLocks/>
          </p:cNvCxnSpPr>
          <p:nvPr/>
        </p:nvCxnSpPr>
        <p:spPr>
          <a:xfrm>
            <a:off x="7311335" y="2981766"/>
            <a:ext cx="0" cy="147637"/>
          </a:xfrm>
          <a:prstGeom prst="straightConnector1">
            <a:avLst/>
          </a:prstGeom>
          <a:ln w="12700">
            <a:solidFill>
              <a:srgbClr val="CC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Connettore 2 90">
            <a:extLst>
              <a:ext uri="{FF2B5EF4-FFF2-40B4-BE49-F238E27FC236}">
                <a16:creationId xmlns:a16="http://schemas.microsoft.com/office/drawing/2014/main" id="{E457F32C-5911-DC4A-D400-6477BA2221D8}"/>
              </a:ext>
            </a:extLst>
          </p:cNvPr>
          <p:cNvCxnSpPr>
            <a:cxnSpLocks/>
          </p:cNvCxnSpPr>
          <p:nvPr/>
        </p:nvCxnSpPr>
        <p:spPr>
          <a:xfrm flipV="1">
            <a:off x="7311335" y="4543118"/>
            <a:ext cx="0" cy="147637"/>
          </a:xfrm>
          <a:prstGeom prst="straightConnector1">
            <a:avLst/>
          </a:prstGeom>
          <a:ln w="1270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Connettore 2 91">
            <a:extLst>
              <a:ext uri="{FF2B5EF4-FFF2-40B4-BE49-F238E27FC236}">
                <a16:creationId xmlns:a16="http://schemas.microsoft.com/office/drawing/2014/main" id="{CAF57B7F-0691-D549-FB7E-8615B9C5673D}"/>
              </a:ext>
            </a:extLst>
          </p:cNvPr>
          <p:cNvCxnSpPr>
            <a:cxnSpLocks/>
          </p:cNvCxnSpPr>
          <p:nvPr/>
        </p:nvCxnSpPr>
        <p:spPr>
          <a:xfrm>
            <a:off x="7317630" y="5021699"/>
            <a:ext cx="0" cy="147637"/>
          </a:xfrm>
          <a:prstGeom prst="straightConnector1">
            <a:avLst/>
          </a:prstGeom>
          <a:ln w="12700">
            <a:solidFill>
              <a:srgbClr val="CC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93" name="Gruppo 92">
            <a:extLst>
              <a:ext uri="{FF2B5EF4-FFF2-40B4-BE49-F238E27FC236}">
                <a16:creationId xmlns:a16="http://schemas.microsoft.com/office/drawing/2014/main" id="{94CC038A-348E-1093-034A-B6AF8307D03B}"/>
              </a:ext>
            </a:extLst>
          </p:cNvPr>
          <p:cNvGrpSpPr/>
          <p:nvPr/>
        </p:nvGrpSpPr>
        <p:grpSpPr>
          <a:xfrm>
            <a:off x="7471571" y="4968286"/>
            <a:ext cx="848138" cy="223202"/>
            <a:chOff x="1853641" y="3716179"/>
            <a:chExt cx="877138" cy="223202"/>
          </a:xfrm>
        </p:grpSpPr>
        <p:sp>
          <p:nvSpPr>
            <p:cNvPr id="94" name="Rettangolo con angoli arrotondati 93">
              <a:extLst>
                <a:ext uri="{FF2B5EF4-FFF2-40B4-BE49-F238E27FC236}">
                  <a16:creationId xmlns:a16="http://schemas.microsoft.com/office/drawing/2014/main" id="{0BB98190-042F-5ECB-9417-FB47D1BABE97}"/>
                </a:ext>
              </a:extLst>
            </p:cNvPr>
            <p:cNvSpPr/>
            <p:nvPr/>
          </p:nvSpPr>
          <p:spPr>
            <a:xfrm>
              <a:off x="1853641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rial Nova Light" panose="020B0304020202020204" pitchFamily="34" charset="0"/>
                  <a:ea typeface="DengXian" panose="02010600030101010101" pitchFamily="2" charset="-122"/>
                </a:rPr>
                <a:t>B</a:t>
              </a:r>
            </a:p>
          </p:txBody>
        </p:sp>
        <p:sp>
          <p:nvSpPr>
            <p:cNvPr id="95" name="Rettangolo con angoli arrotondati 94">
              <a:extLst>
                <a:ext uri="{FF2B5EF4-FFF2-40B4-BE49-F238E27FC236}">
                  <a16:creationId xmlns:a16="http://schemas.microsoft.com/office/drawing/2014/main" id="{D8C30921-E345-76F1-BD80-B4280F982E76}"/>
                </a:ext>
              </a:extLst>
            </p:cNvPr>
            <p:cNvSpPr/>
            <p:nvPr/>
          </p:nvSpPr>
          <p:spPr>
            <a:xfrm>
              <a:off x="2146021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rial Nova Light" panose="020B0304020202020204" pitchFamily="34" charset="0"/>
                  <a:ea typeface="DengXian" panose="02010600030101010101" pitchFamily="2" charset="-122"/>
                </a:rPr>
                <a:t>S</a:t>
              </a:r>
            </a:p>
          </p:txBody>
        </p:sp>
        <p:sp>
          <p:nvSpPr>
            <p:cNvPr id="96" name="Rettangolo con angoli arrotondati 95">
              <a:extLst>
                <a:ext uri="{FF2B5EF4-FFF2-40B4-BE49-F238E27FC236}">
                  <a16:creationId xmlns:a16="http://schemas.microsoft.com/office/drawing/2014/main" id="{4F02F474-6A2C-5CCE-04E8-B9E1F904BA6F}"/>
                </a:ext>
              </a:extLst>
            </p:cNvPr>
            <p:cNvSpPr/>
            <p:nvPr/>
          </p:nvSpPr>
          <p:spPr>
            <a:xfrm>
              <a:off x="2438400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b="1" dirty="0">
                <a:latin typeface="Arial Nova Light" panose="020B0304020202020204" pitchFamily="34" charset="0"/>
                <a:ea typeface="DengXian" panose="02010600030101010101" pitchFamily="2" charset="-122"/>
              </a:endParaRPr>
            </a:p>
          </p:txBody>
        </p:sp>
        <p:grpSp>
          <p:nvGrpSpPr>
            <p:cNvPr id="97" name="Gruppo 96">
              <a:extLst>
                <a:ext uri="{FF2B5EF4-FFF2-40B4-BE49-F238E27FC236}">
                  <a16:creationId xmlns:a16="http://schemas.microsoft.com/office/drawing/2014/main" id="{E41CF0D1-9560-727B-4F28-D87B800903E5}"/>
                </a:ext>
              </a:extLst>
            </p:cNvPr>
            <p:cNvGrpSpPr/>
            <p:nvPr/>
          </p:nvGrpSpPr>
          <p:grpSpPr>
            <a:xfrm>
              <a:off x="2501245" y="3744436"/>
              <a:ext cx="166687" cy="166687"/>
              <a:chOff x="2224088" y="3014663"/>
              <a:chExt cx="647700" cy="647700"/>
            </a:xfrm>
          </p:grpSpPr>
          <p:sp>
            <p:nvSpPr>
              <p:cNvPr id="98" name="Figura a mano libera: forma 97">
                <a:extLst>
                  <a:ext uri="{FF2B5EF4-FFF2-40B4-BE49-F238E27FC236}">
                    <a16:creationId xmlns:a16="http://schemas.microsoft.com/office/drawing/2014/main" id="{6B5C1803-6A4F-7A20-56AC-4C4F87F00151}"/>
                  </a:ext>
                </a:extLst>
              </p:cNvPr>
              <p:cNvSpPr/>
              <p:nvPr/>
            </p:nvSpPr>
            <p:spPr>
              <a:xfrm>
                <a:off x="2224088" y="3014663"/>
                <a:ext cx="647700" cy="647700"/>
              </a:xfrm>
              <a:custGeom>
                <a:avLst/>
                <a:gdLst>
                  <a:gd name="connsiteX0" fmla="*/ 57150 w 647700"/>
                  <a:gd name="connsiteY0" fmla="*/ 0 h 647700"/>
                  <a:gd name="connsiteX1" fmla="*/ 0 w 647700"/>
                  <a:gd name="connsiteY1" fmla="*/ 0 h 647700"/>
                  <a:gd name="connsiteX2" fmla="*/ 0 w 647700"/>
                  <a:gd name="connsiteY2" fmla="*/ 647700 h 647700"/>
                  <a:gd name="connsiteX3" fmla="*/ 647700 w 647700"/>
                  <a:gd name="connsiteY3" fmla="*/ 647700 h 647700"/>
                  <a:gd name="connsiteX4" fmla="*/ 647700 w 647700"/>
                  <a:gd name="connsiteY4" fmla="*/ 590550 h 647700"/>
                  <a:gd name="connsiteX5" fmla="*/ 57150 w 647700"/>
                  <a:gd name="connsiteY5" fmla="*/ 590550 h 647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7700" h="647700">
                    <a:moveTo>
                      <a:pt x="57150" y="0"/>
                    </a:moveTo>
                    <a:lnTo>
                      <a:pt x="0" y="0"/>
                    </a:lnTo>
                    <a:lnTo>
                      <a:pt x="0" y="647700"/>
                    </a:lnTo>
                    <a:lnTo>
                      <a:pt x="647700" y="647700"/>
                    </a:lnTo>
                    <a:lnTo>
                      <a:pt x="647700" y="590550"/>
                    </a:lnTo>
                    <a:lnTo>
                      <a:pt x="57150" y="59055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9" name="Figura a mano libera: forma 98">
                <a:extLst>
                  <a:ext uri="{FF2B5EF4-FFF2-40B4-BE49-F238E27FC236}">
                    <a16:creationId xmlns:a16="http://schemas.microsoft.com/office/drawing/2014/main" id="{6E8C939A-8DC2-6AA2-175D-F852C5E33F74}"/>
                  </a:ext>
                </a:extLst>
              </p:cNvPr>
              <p:cNvSpPr/>
              <p:nvPr/>
            </p:nvSpPr>
            <p:spPr>
              <a:xfrm>
                <a:off x="2318385" y="3176588"/>
                <a:ext cx="553402" cy="324802"/>
              </a:xfrm>
              <a:custGeom>
                <a:avLst/>
                <a:gdLst>
                  <a:gd name="connsiteX0" fmla="*/ 401003 w 553402"/>
                  <a:gd name="connsiteY0" fmla="*/ 0 h 324802"/>
                  <a:gd name="connsiteX1" fmla="*/ 457200 w 553402"/>
                  <a:gd name="connsiteY1" fmla="*/ 56198 h 324802"/>
                  <a:gd name="connsiteX2" fmla="*/ 381953 w 553402"/>
                  <a:gd name="connsiteY2" fmla="*/ 131445 h 324802"/>
                  <a:gd name="connsiteX3" fmla="*/ 324803 w 553402"/>
                  <a:gd name="connsiteY3" fmla="*/ 74295 h 324802"/>
                  <a:gd name="connsiteX4" fmla="*/ 229553 w 553402"/>
                  <a:gd name="connsiteY4" fmla="*/ 169545 h 324802"/>
                  <a:gd name="connsiteX5" fmla="*/ 172403 w 553402"/>
                  <a:gd name="connsiteY5" fmla="*/ 112395 h 324802"/>
                  <a:gd name="connsiteX6" fmla="*/ 0 w 553402"/>
                  <a:gd name="connsiteY6" fmla="*/ 284798 h 324802"/>
                  <a:gd name="connsiteX7" fmla="*/ 40005 w 553402"/>
                  <a:gd name="connsiteY7" fmla="*/ 324803 h 324802"/>
                  <a:gd name="connsiteX8" fmla="*/ 172403 w 553402"/>
                  <a:gd name="connsiteY8" fmla="*/ 192405 h 324802"/>
                  <a:gd name="connsiteX9" fmla="*/ 229553 w 553402"/>
                  <a:gd name="connsiteY9" fmla="*/ 249555 h 324802"/>
                  <a:gd name="connsiteX10" fmla="*/ 324803 w 553402"/>
                  <a:gd name="connsiteY10" fmla="*/ 154305 h 324802"/>
                  <a:gd name="connsiteX11" fmla="*/ 381953 w 553402"/>
                  <a:gd name="connsiteY11" fmla="*/ 211455 h 324802"/>
                  <a:gd name="connsiteX12" fmla="*/ 497205 w 553402"/>
                  <a:gd name="connsiteY12" fmla="*/ 96202 h 324802"/>
                  <a:gd name="connsiteX13" fmla="*/ 553403 w 553402"/>
                  <a:gd name="connsiteY13" fmla="*/ 152400 h 324802"/>
                  <a:gd name="connsiteX14" fmla="*/ 553403 w 553402"/>
                  <a:gd name="connsiteY14" fmla="*/ 0 h 3248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53402" h="324802">
                    <a:moveTo>
                      <a:pt x="401003" y="0"/>
                    </a:moveTo>
                    <a:lnTo>
                      <a:pt x="457200" y="56198"/>
                    </a:lnTo>
                    <a:lnTo>
                      <a:pt x="381953" y="131445"/>
                    </a:lnTo>
                    <a:lnTo>
                      <a:pt x="324803" y="74295"/>
                    </a:lnTo>
                    <a:lnTo>
                      <a:pt x="229553" y="169545"/>
                    </a:lnTo>
                    <a:lnTo>
                      <a:pt x="172403" y="112395"/>
                    </a:lnTo>
                    <a:lnTo>
                      <a:pt x="0" y="284798"/>
                    </a:lnTo>
                    <a:lnTo>
                      <a:pt x="40005" y="324803"/>
                    </a:lnTo>
                    <a:lnTo>
                      <a:pt x="172403" y="192405"/>
                    </a:lnTo>
                    <a:lnTo>
                      <a:pt x="229553" y="249555"/>
                    </a:lnTo>
                    <a:lnTo>
                      <a:pt x="324803" y="154305"/>
                    </a:lnTo>
                    <a:lnTo>
                      <a:pt x="381953" y="211455"/>
                    </a:lnTo>
                    <a:lnTo>
                      <a:pt x="497205" y="96202"/>
                    </a:lnTo>
                    <a:lnTo>
                      <a:pt x="553403" y="152400"/>
                    </a:lnTo>
                    <a:lnTo>
                      <a:pt x="553403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cxnSp>
        <p:nvCxnSpPr>
          <p:cNvPr id="100" name="Connettore 2 99">
            <a:extLst>
              <a:ext uri="{FF2B5EF4-FFF2-40B4-BE49-F238E27FC236}">
                <a16:creationId xmlns:a16="http://schemas.microsoft.com/office/drawing/2014/main" id="{145B3574-DD62-3E6B-4FBA-E840828FF420}"/>
              </a:ext>
            </a:extLst>
          </p:cNvPr>
          <p:cNvCxnSpPr>
            <a:cxnSpLocks/>
          </p:cNvCxnSpPr>
          <p:nvPr/>
        </p:nvCxnSpPr>
        <p:spPr>
          <a:xfrm flipV="1">
            <a:off x="7311335" y="5470218"/>
            <a:ext cx="0" cy="147637"/>
          </a:xfrm>
          <a:prstGeom prst="straightConnector1">
            <a:avLst/>
          </a:prstGeom>
          <a:ln w="1270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1" name="Gruppo 100">
            <a:extLst>
              <a:ext uri="{FF2B5EF4-FFF2-40B4-BE49-F238E27FC236}">
                <a16:creationId xmlns:a16="http://schemas.microsoft.com/office/drawing/2014/main" id="{E0CDE9F5-D695-39C3-09C6-AA1A5B2A8C61}"/>
              </a:ext>
            </a:extLst>
          </p:cNvPr>
          <p:cNvGrpSpPr/>
          <p:nvPr/>
        </p:nvGrpSpPr>
        <p:grpSpPr>
          <a:xfrm>
            <a:off x="7482895" y="5426582"/>
            <a:ext cx="848138" cy="223202"/>
            <a:chOff x="1853641" y="3716179"/>
            <a:chExt cx="877138" cy="223202"/>
          </a:xfrm>
        </p:grpSpPr>
        <p:sp>
          <p:nvSpPr>
            <p:cNvPr id="102" name="Rettangolo con angoli arrotondati 101">
              <a:extLst>
                <a:ext uri="{FF2B5EF4-FFF2-40B4-BE49-F238E27FC236}">
                  <a16:creationId xmlns:a16="http://schemas.microsoft.com/office/drawing/2014/main" id="{DE2FFD7D-0B59-9613-7BFE-9B5A23F95B2F}"/>
                </a:ext>
              </a:extLst>
            </p:cNvPr>
            <p:cNvSpPr/>
            <p:nvPr/>
          </p:nvSpPr>
          <p:spPr>
            <a:xfrm>
              <a:off x="1853641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rial Nova Light" panose="020B0304020202020204" pitchFamily="34" charset="0"/>
                  <a:ea typeface="DengXian" panose="02010600030101010101" pitchFamily="2" charset="-122"/>
                </a:rPr>
                <a:t>B</a:t>
              </a:r>
            </a:p>
          </p:txBody>
        </p:sp>
        <p:sp>
          <p:nvSpPr>
            <p:cNvPr id="103" name="Rettangolo con angoli arrotondati 102">
              <a:extLst>
                <a:ext uri="{FF2B5EF4-FFF2-40B4-BE49-F238E27FC236}">
                  <a16:creationId xmlns:a16="http://schemas.microsoft.com/office/drawing/2014/main" id="{9F47AE49-D79F-8AAC-C758-89B705278BB5}"/>
                </a:ext>
              </a:extLst>
            </p:cNvPr>
            <p:cNvSpPr/>
            <p:nvPr/>
          </p:nvSpPr>
          <p:spPr>
            <a:xfrm>
              <a:off x="2146021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rial Nova Light" panose="020B0304020202020204" pitchFamily="34" charset="0"/>
                  <a:ea typeface="DengXian" panose="02010600030101010101" pitchFamily="2" charset="-122"/>
                </a:rPr>
                <a:t>S</a:t>
              </a:r>
            </a:p>
          </p:txBody>
        </p:sp>
        <p:sp>
          <p:nvSpPr>
            <p:cNvPr id="104" name="Rettangolo con angoli arrotondati 103">
              <a:extLst>
                <a:ext uri="{FF2B5EF4-FFF2-40B4-BE49-F238E27FC236}">
                  <a16:creationId xmlns:a16="http://schemas.microsoft.com/office/drawing/2014/main" id="{457E5BB0-9F25-8C9D-08BB-66BCE29A488B}"/>
                </a:ext>
              </a:extLst>
            </p:cNvPr>
            <p:cNvSpPr/>
            <p:nvPr/>
          </p:nvSpPr>
          <p:spPr>
            <a:xfrm>
              <a:off x="2438400" y="3716179"/>
              <a:ext cx="292379" cy="223202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b="1" dirty="0">
                <a:latin typeface="Arial Nova Light" panose="020B0304020202020204" pitchFamily="34" charset="0"/>
                <a:ea typeface="DengXian" panose="02010600030101010101" pitchFamily="2" charset="-122"/>
              </a:endParaRPr>
            </a:p>
          </p:txBody>
        </p:sp>
        <p:grpSp>
          <p:nvGrpSpPr>
            <p:cNvPr id="105" name="Gruppo 104">
              <a:extLst>
                <a:ext uri="{FF2B5EF4-FFF2-40B4-BE49-F238E27FC236}">
                  <a16:creationId xmlns:a16="http://schemas.microsoft.com/office/drawing/2014/main" id="{181671C7-521A-0AD7-57E3-E5D1E3A75AB3}"/>
                </a:ext>
              </a:extLst>
            </p:cNvPr>
            <p:cNvGrpSpPr/>
            <p:nvPr/>
          </p:nvGrpSpPr>
          <p:grpSpPr>
            <a:xfrm>
              <a:off x="2501245" y="3744436"/>
              <a:ext cx="166687" cy="166687"/>
              <a:chOff x="2224088" y="3014663"/>
              <a:chExt cx="647700" cy="647700"/>
            </a:xfrm>
          </p:grpSpPr>
          <p:sp>
            <p:nvSpPr>
              <p:cNvPr id="106" name="Figura a mano libera: forma 105">
                <a:extLst>
                  <a:ext uri="{FF2B5EF4-FFF2-40B4-BE49-F238E27FC236}">
                    <a16:creationId xmlns:a16="http://schemas.microsoft.com/office/drawing/2014/main" id="{9EAAA7CD-D8C5-6080-E6E3-4717042DCF91}"/>
                  </a:ext>
                </a:extLst>
              </p:cNvPr>
              <p:cNvSpPr/>
              <p:nvPr/>
            </p:nvSpPr>
            <p:spPr>
              <a:xfrm>
                <a:off x="2224088" y="3014663"/>
                <a:ext cx="647700" cy="647700"/>
              </a:xfrm>
              <a:custGeom>
                <a:avLst/>
                <a:gdLst>
                  <a:gd name="connsiteX0" fmla="*/ 57150 w 647700"/>
                  <a:gd name="connsiteY0" fmla="*/ 0 h 647700"/>
                  <a:gd name="connsiteX1" fmla="*/ 0 w 647700"/>
                  <a:gd name="connsiteY1" fmla="*/ 0 h 647700"/>
                  <a:gd name="connsiteX2" fmla="*/ 0 w 647700"/>
                  <a:gd name="connsiteY2" fmla="*/ 647700 h 647700"/>
                  <a:gd name="connsiteX3" fmla="*/ 647700 w 647700"/>
                  <a:gd name="connsiteY3" fmla="*/ 647700 h 647700"/>
                  <a:gd name="connsiteX4" fmla="*/ 647700 w 647700"/>
                  <a:gd name="connsiteY4" fmla="*/ 590550 h 647700"/>
                  <a:gd name="connsiteX5" fmla="*/ 57150 w 647700"/>
                  <a:gd name="connsiteY5" fmla="*/ 590550 h 647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7700" h="647700">
                    <a:moveTo>
                      <a:pt x="57150" y="0"/>
                    </a:moveTo>
                    <a:lnTo>
                      <a:pt x="0" y="0"/>
                    </a:lnTo>
                    <a:lnTo>
                      <a:pt x="0" y="647700"/>
                    </a:lnTo>
                    <a:lnTo>
                      <a:pt x="647700" y="647700"/>
                    </a:lnTo>
                    <a:lnTo>
                      <a:pt x="647700" y="590550"/>
                    </a:lnTo>
                    <a:lnTo>
                      <a:pt x="57150" y="59055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" name="Figura a mano libera: forma 106">
                <a:extLst>
                  <a:ext uri="{FF2B5EF4-FFF2-40B4-BE49-F238E27FC236}">
                    <a16:creationId xmlns:a16="http://schemas.microsoft.com/office/drawing/2014/main" id="{D5E7DFF0-9456-790A-FD74-DAD016E547BE}"/>
                  </a:ext>
                </a:extLst>
              </p:cNvPr>
              <p:cNvSpPr/>
              <p:nvPr/>
            </p:nvSpPr>
            <p:spPr>
              <a:xfrm>
                <a:off x="2318385" y="3176588"/>
                <a:ext cx="553402" cy="324802"/>
              </a:xfrm>
              <a:custGeom>
                <a:avLst/>
                <a:gdLst>
                  <a:gd name="connsiteX0" fmla="*/ 401003 w 553402"/>
                  <a:gd name="connsiteY0" fmla="*/ 0 h 324802"/>
                  <a:gd name="connsiteX1" fmla="*/ 457200 w 553402"/>
                  <a:gd name="connsiteY1" fmla="*/ 56198 h 324802"/>
                  <a:gd name="connsiteX2" fmla="*/ 381953 w 553402"/>
                  <a:gd name="connsiteY2" fmla="*/ 131445 h 324802"/>
                  <a:gd name="connsiteX3" fmla="*/ 324803 w 553402"/>
                  <a:gd name="connsiteY3" fmla="*/ 74295 h 324802"/>
                  <a:gd name="connsiteX4" fmla="*/ 229553 w 553402"/>
                  <a:gd name="connsiteY4" fmla="*/ 169545 h 324802"/>
                  <a:gd name="connsiteX5" fmla="*/ 172403 w 553402"/>
                  <a:gd name="connsiteY5" fmla="*/ 112395 h 324802"/>
                  <a:gd name="connsiteX6" fmla="*/ 0 w 553402"/>
                  <a:gd name="connsiteY6" fmla="*/ 284798 h 324802"/>
                  <a:gd name="connsiteX7" fmla="*/ 40005 w 553402"/>
                  <a:gd name="connsiteY7" fmla="*/ 324803 h 324802"/>
                  <a:gd name="connsiteX8" fmla="*/ 172403 w 553402"/>
                  <a:gd name="connsiteY8" fmla="*/ 192405 h 324802"/>
                  <a:gd name="connsiteX9" fmla="*/ 229553 w 553402"/>
                  <a:gd name="connsiteY9" fmla="*/ 249555 h 324802"/>
                  <a:gd name="connsiteX10" fmla="*/ 324803 w 553402"/>
                  <a:gd name="connsiteY10" fmla="*/ 154305 h 324802"/>
                  <a:gd name="connsiteX11" fmla="*/ 381953 w 553402"/>
                  <a:gd name="connsiteY11" fmla="*/ 211455 h 324802"/>
                  <a:gd name="connsiteX12" fmla="*/ 497205 w 553402"/>
                  <a:gd name="connsiteY12" fmla="*/ 96202 h 324802"/>
                  <a:gd name="connsiteX13" fmla="*/ 553403 w 553402"/>
                  <a:gd name="connsiteY13" fmla="*/ 152400 h 324802"/>
                  <a:gd name="connsiteX14" fmla="*/ 553403 w 553402"/>
                  <a:gd name="connsiteY14" fmla="*/ 0 h 3248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53402" h="324802">
                    <a:moveTo>
                      <a:pt x="401003" y="0"/>
                    </a:moveTo>
                    <a:lnTo>
                      <a:pt x="457200" y="56198"/>
                    </a:lnTo>
                    <a:lnTo>
                      <a:pt x="381953" y="131445"/>
                    </a:lnTo>
                    <a:lnTo>
                      <a:pt x="324803" y="74295"/>
                    </a:lnTo>
                    <a:lnTo>
                      <a:pt x="229553" y="169545"/>
                    </a:lnTo>
                    <a:lnTo>
                      <a:pt x="172403" y="112395"/>
                    </a:lnTo>
                    <a:lnTo>
                      <a:pt x="0" y="284798"/>
                    </a:lnTo>
                    <a:lnTo>
                      <a:pt x="40005" y="324803"/>
                    </a:lnTo>
                    <a:lnTo>
                      <a:pt x="172403" y="192405"/>
                    </a:lnTo>
                    <a:lnTo>
                      <a:pt x="229553" y="249555"/>
                    </a:lnTo>
                    <a:lnTo>
                      <a:pt x="324803" y="154305"/>
                    </a:lnTo>
                    <a:lnTo>
                      <a:pt x="381953" y="211455"/>
                    </a:lnTo>
                    <a:lnTo>
                      <a:pt x="497205" y="96202"/>
                    </a:lnTo>
                    <a:lnTo>
                      <a:pt x="553403" y="152400"/>
                    </a:lnTo>
                    <a:lnTo>
                      <a:pt x="553403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99753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FA93700-7F87-6E45-9902-A8B2384A3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741" y="0"/>
            <a:ext cx="8761797" cy="600075"/>
          </a:xfrm>
        </p:spPr>
        <p:txBody>
          <a:bodyPr>
            <a:normAutofit fontScale="90000"/>
          </a:bodyPr>
          <a:lstStyle/>
          <a:p>
            <a:r>
              <a:rPr lang="en-US" dirty="0"/>
              <a:t>Dataset Description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068E8217-0879-6045-A028-80534F620714}"/>
              </a:ext>
            </a:extLst>
          </p:cNvPr>
          <p:cNvSpPr txBox="1"/>
          <p:nvPr/>
        </p:nvSpPr>
        <p:spPr>
          <a:xfrm>
            <a:off x="182740" y="258901"/>
            <a:ext cx="8961260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000" b="1" i="1" dirty="0"/>
              <a:t>Source: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Assets history collected via script using Yahoo Finance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News from Kaggle</a:t>
            </a:r>
            <a:br>
              <a:rPr lang="en-US" sz="2000" dirty="0"/>
            </a:br>
            <a:r>
              <a:rPr lang="en-US" u="sng" dirty="0">
                <a:hlinkClick r:id="rId2"/>
              </a:rPr>
              <a:t>https://www.kaggle.com/datasets/pratyushpuri/financial-news-market-events-dataset-2025</a:t>
            </a:r>
            <a:br>
              <a:rPr lang="en-US" sz="2000" dirty="0"/>
            </a:br>
            <a:r>
              <a:rPr lang="en-US" u="sng" dirty="0">
                <a:hlinkClick r:id="rId3"/>
              </a:rPr>
              <a:t>https://www.kaggle.com/datasets/aravsood7/sentiment-analysis-labelled-financial-news-data</a:t>
            </a:r>
            <a:br>
              <a:rPr lang="en-US" sz="2000" dirty="0"/>
            </a:br>
            <a:r>
              <a:rPr lang="en-US" u="sng" dirty="0">
                <a:hlinkClick r:id="rId4"/>
              </a:rPr>
              <a:t>https://www.kaggle.com/datasets/sayelabualigah/high-quality-financial-news-dataset-for-nlp-tasks?select=dataset.csv</a:t>
            </a:r>
            <a:r>
              <a:rPr lang="it-IT" dirty="0"/>
              <a:t> </a:t>
            </a: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Transaction from Kaggle</a:t>
            </a:r>
            <a:br>
              <a:rPr lang="en-US" sz="2000" dirty="0"/>
            </a:br>
            <a:r>
              <a:rPr lang="en-US" u="sng" dirty="0">
                <a:hlinkClick r:id="rId5"/>
              </a:rPr>
              <a:t>https://www.kaggle.com/datasets/mahmoudshaheen1134/trades-dataset</a:t>
            </a:r>
            <a:r>
              <a:rPr lang="it-IT" dirty="0"/>
              <a:t> </a:t>
            </a:r>
            <a:br>
              <a:rPr lang="it-IT" dirty="0"/>
            </a:br>
            <a:endParaRPr lang="en-US" sz="2000" b="1" i="1" dirty="0"/>
          </a:p>
          <a:p>
            <a:pPr lvl="0"/>
            <a:r>
              <a:rPr lang="en-US" sz="2000" b="1" i="1" dirty="0"/>
              <a:t>Description: </a:t>
            </a:r>
            <a:r>
              <a:rPr lang="en-US" sz="2000" dirty="0"/>
              <a:t>The dataset used in </a:t>
            </a:r>
            <a:r>
              <a:rPr lang="en-US" sz="2000" i="1" dirty="0" err="1"/>
              <a:t>MyFuture</a:t>
            </a:r>
            <a:r>
              <a:rPr lang="en-US" sz="2000" dirty="0"/>
              <a:t> combines historical price data of 	various financial assets, transaction, and a set of financial news articles.</a:t>
            </a:r>
            <a:endParaRPr lang="en-US" sz="2000" b="1" i="1" dirty="0"/>
          </a:p>
          <a:p>
            <a:pPr lvl="0"/>
            <a:r>
              <a:rPr lang="en-US" sz="2000" b="1" i="1" dirty="0"/>
              <a:t>Volume: </a:t>
            </a:r>
            <a:r>
              <a:rPr lang="en-US" sz="2000" dirty="0"/>
              <a:t>1625 assets (</a:t>
            </a:r>
            <a:r>
              <a:rPr lang="en-US" sz="2000" b="1" dirty="0"/>
              <a:t>964,8MB</a:t>
            </a:r>
            <a:r>
              <a:rPr lang="en-US" sz="2000" dirty="0"/>
              <a:t>), 39222 transaction (</a:t>
            </a:r>
            <a:r>
              <a:rPr lang="en-US" sz="2000" b="1" dirty="0"/>
              <a:t>1,45MB</a:t>
            </a:r>
            <a:r>
              <a:rPr lang="en-US" sz="2000" dirty="0"/>
              <a:t>), 5263 news (</a:t>
            </a:r>
            <a:r>
              <a:rPr lang="en-US" sz="2000" b="1" dirty="0"/>
              <a:t>9,88MB</a:t>
            </a:r>
            <a:r>
              <a:rPr lang="en-US" sz="2000" dirty="0"/>
              <a:t>)</a:t>
            </a:r>
          </a:p>
          <a:p>
            <a:pPr lvl="0"/>
            <a:br>
              <a:rPr lang="en-US" sz="2000" b="1" i="1" dirty="0"/>
            </a:br>
            <a:r>
              <a:rPr lang="en-US" sz="2000" b="1" i="1" dirty="0"/>
              <a:t>Variety</a:t>
            </a:r>
            <a:r>
              <a:rPr lang="en-US" sz="2000" dirty="0"/>
              <a:t>: The dataset integrates information from different and heterogeneous 	sources (Yahoo Finance and Kaggle) with diverse attributes and formats.</a:t>
            </a:r>
          </a:p>
          <a:p>
            <a:pPr lvl="0"/>
            <a:endParaRPr lang="en-US" sz="2000" b="1" i="1" dirty="0"/>
          </a:p>
          <a:p>
            <a:pPr lvl="0"/>
            <a:r>
              <a:rPr lang="en-US" sz="2000" b="1" i="1" dirty="0"/>
              <a:t>Velocity/Variability</a:t>
            </a:r>
            <a:r>
              <a:rPr lang="en-US" sz="2000" dirty="0"/>
              <a:t>: assets current prices collect continuously.</a:t>
            </a:r>
            <a:endParaRPr lang="it-IT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566795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1A7364-9B4E-DC49-AA70-BE5A302DE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Preliminary UML Class Diagram</a:t>
            </a:r>
          </a:p>
        </p:txBody>
      </p:sp>
      <p:pic>
        <p:nvPicPr>
          <p:cNvPr id="6" name="Immagine 5" descr="Immagine che contiene testo, diagramma, Piano, Parallelo&#10;&#10;Il contenuto generato dall'IA potrebbe non essere corretto.">
            <a:extLst>
              <a:ext uri="{FF2B5EF4-FFF2-40B4-BE49-F238E27FC236}">
                <a16:creationId xmlns:a16="http://schemas.microsoft.com/office/drawing/2014/main" id="{BEDBD575-8541-936E-1CA3-E9131EBEA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144" y="936534"/>
            <a:ext cx="5475712" cy="498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7925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C7EEC7-48BB-B542-9A2A-E3C09D99B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Relevant Queries and Entities </a:t>
            </a:r>
            <a:br>
              <a:rPr lang="en-US" dirty="0"/>
            </a:br>
            <a:r>
              <a:rPr lang="en-US" dirty="0"/>
              <a:t>handled by Document DB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EACFDDDE-7C48-D314-60A3-49ADC540D82F}"/>
              </a:ext>
            </a:extLst>
          </p:cNvPr>
          <p:cNvSpPr txBox="1"/>
          <p:nvPr/>
        </p:nvSpPr>
        <p:spPr>
          <a:xfrm>
            <a:off x="182741" y="1055235"/>
            <a:ext cx="877851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Entities</a:t>
            </a:r>
            <a:r>
              <a:rPr lang="en-US" dirty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User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Asset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 err="1"/>
              <a:t>Asset_price</a:t>
            </a:r>
            <a:endParaRPr lang="it-IT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 err="1"/>
              <a:t>Transaction</a:t>
            </a:r>
            <a:endParaRPr lang="it-IT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News</a:t>
            </a:r>
          </a:p>
          <a:p>
            <a:r>
              <a:rPr lang="en-US" dirty="0"/>
              <a:t>	</a:t>
            </a:r>
          </a:p>
          <a:p>
            <a:r>
              <a:rPr lang="en-US" b="1" dirty="0"/>
              <a:t>Requirements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View the top 10 assets with the best growth or worst decline over the past day or week;</a:t>
            </a:r>
            <a:endParaRPr lang="it-IT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View the top 10 most traded assets on the platform;</a:t>
            </a:r>
            <a:endParaRPr lang="it-IT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Analyze the number of transaction, by categories, over time;</a:t>
            </a:r>
            <a:endParaRPr lang="it-IT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Analyze the number of transactions by payment type.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View the total amount of money invested in assets over a specific time range (</a:t>
            </a:r>
            <a:r>
              <a:rPr lang="en-US" dirty="0" err="1"/>
              <a:t>e,g</a:t>
            </a:r>
            <a:r>
              <a:rPr lang="en-US" dirty="0"/>
              <a:t>, week, month, …).</a:t>
            </a:r>
            <a:endParaRPr lang="it-IT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Visualize the positive or negative financial flow generated by buy/sell operations within a selected time period (e.g. week, month, …).</a:t>
            </a:r>
            <a:endParaRPr lang="it-IT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5658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C7EEC7-48BB-B542-9A2A-E3C09D99B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Relevant queries and Entities </a:t>
            </a:r>
            <a:br>
              <a:rPr lang="en-US" dirty="0"/>
            </a:br>
            <a:r>
              <a:rPr lang="en-US" dirty="0"/>
              <a:t>handled by Key-Value DB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B1C88CA-0927-DAAA-D3C2-B7F66AC697BD}"/>
              </a:ext>
            </a:extLst>
          </p:cNvPr>
          <p:cNvSpPr txBox="1"/>
          <p:nvPr/>
        </p:nvSpPr>
        <p:spPr>
          <a:xfrm>
            <a:off x="538843" y="1469572"/>
            <a:ext cx="749481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Entities</a:t>
            </a:r>
            <a:r>
              <a:rPr lang="en-US" dirty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User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Asset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 err="1"/>
              <a:t>Asset_price</a:t>
            </a:r>
            <a:endParaRPr lang="it-IT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 err="1"/>
              <a:t>Transaction</a:t>
            </a:r>
            <a:endParaRPr lang="it-IT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News</a:t>
            </a:r>
          </a:p>
          <a:p>
            <a:r>
              <a:rPr lang="en-US" dirty="0"/>
              <a:t>	</a:t>
            </a:r>
          </a:p>
          <a:p>
            <a:r>
              <a:rPr lang="en-US" b="1" dirty="0"/>
              <a:t>Requirements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Add real-time asset price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Update last-time asset price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See daily history price for assets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Get assets list and their information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Get latest k news</a:t>
            </a:r>
          </a:p>
        </p:txBody>
      </p:sp>
    </p:spTree>
    <p:extLst>
      <p:ext uri="{BB962C8B-B14F-4D97-AF65-F5344CB8AC3E}">
        <p14:creationId xmlns:p14="http://schemas.microsoft.com/office/powerpoint/2010/main" val="41658610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BB8A863AA77604BB9E099A2A78889A6" ma:contentTypeVersion="14" ma:contentTypeDescription="Create a new document." ma:contentTypeScope="" ma:versionID="2512cb8a8dbd6bdee4fe64ec99762001">
  <xsd:schema xmlns:xsd="http://www.w3.org/2001/XMLSchema" xmlns:xs="http://www.w3.org/2001/XMLSchema" xmlns:p="http://schemas.microsoft.com/office/2006/metadata/properties" xmlns:ns3="0b8d8c9a-4875-4109-b71c-bbab02fd9f8c" xmlns:ns4="cca397da-9f88-4e2c-9716-c2644b85d665" targetNamespace="http://schemas.microsoft.com/office/2006/metadata/properties" ma:root="true" ma:fieldsID="8a8f1d516c362469492653a1d89df286" ns3:_="" ns4:_="">
    <xsd:import namespace="0b8d8c9a-4875-4109-b71c-bbab02fd9f8c"/>
    <xsd:import namespace="cca397da-9f88-4e2c-9716-c2644b85d665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ediaServiceDateTaken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8d8c9a-4875-4109-b71c-bbab02fd9f8c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a397da-9f88-4e2c-9716-c2644b85d665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b8d8c9a-4875-4109-b71c-bbab02fd9f8c" xsi:nil="true"/>
  </documentManagement>
</p:properties>
</file>

<file path=customXml/itemProps1.xml><?xml version="1.0" encoding="utf-8"?>
<ds:datastoreItem xmlns:ds="http://schemas.openxmlformats.org/officeDocument/2006/customXml" ds:itemID="{45268C08-178F-4382-8E26-2D22CC3C78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0A0F443-8F77-48E6-BAB8-D9A58A9686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b8d8c9a-4875-4109-b71c-bbab02fd9f8c"/>
    <ds:schemaRef ds:uri="cca397da-9f88-4e2c-9716-c2644b85d66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83EEF11-A4F4-4715-AB9B-5F0BA3F89513}">
  <ds:schemaRefs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cca397da-9f88-4e2c-9716-c2644b85d665"/>
    <ds:schemaRef ds:uri="0b8d8c9a-4875-4109-b71c-bbab02fd9f8c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4237</TotalTime>
  <Words>1038</Words>
  <Application>Microsoft Office PowerPoint</Application>
  <PresentationFormat>Presentazione su schermo (4:3)</PresentationFormat>
  <Paragraphs>304</Paragraphs>
  <Slides>17</Slides>
  <Notes>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17</vt:i4>
      </vt:variant>
    </vt:vector>
  </HeadingPairs>
  <TitlesOfParts>
    <vt:vector size="21" baseType="lpstr">
      <vt:lpstr>Arial</vt:lpstr>
      <vt:lpstr>Arial Nova Light</vt:lpstr>
      <vt:lpstr>Calibri</vt:lpstr>
      <vt:lpstr>Tema di Office</vt:lpstr>
      <vt:lpstr>Large-Scale and Multi-Structured Databases Project Design MyFuture</vt:lpstr>
      <vt:lpstr>Application Highlights</vt:lpstr>
      <vt:lpstr>Actors and Use cases</vt:lpstr>
      <vt:lpstr>Mock-ups (0)</vt:lpstr>
      <vt:lpstr>Presentazione standard di PowerPoint</vt:lpstr>
      <vt:lpstr>Mock-ups (1)</vt:lpstr>
      <vt:lpstr>Presentazione standard di PowerPoint</vt:lpstr>
      <vt:lpstr>Mock-ups (2)</vt:lpstr>
      <vt:lpstr>Presentazione standard di PowerPoint</vt:lpstr>
      <vt:lpstr>Mock-ups (3)</vt:lpstr>
      <vt:lpstr>Presentazione standard di PowerPoint</vt:lpstr>
      <vt:lpstr>Mock-ups (4)</vt:lpstr>
      <vt:lpstr>Presentazione standard di PowerPoint</vt:lpstr>
      <vt:lpstr>Dataset Description</vt:lpstr>
      <vt:lpstr>Preliminary UML Class Diagram</vt:lpstr>
      <vt:lpstr>Relevant Queries and Entities  handled by Document DB</vt:lpstr>
      <vt:lpstr>Relevant queries and Entities  handled by Key-Value DB</vt:lpstr>
    </vt:vector>
  </TitlesOfParts>
  <Company>Università di Pisa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Large Scale and Non-Structured Databases The Database Revolutions</dc:title>
  <dc:creator>Francesco  Marcelloni</dc:creator>
  <cp:lastModifiedBy>Alessandro Diana</cp:lastModifiedBy>
  <cp:revision>193</cp:revision>
  <dcterms:created xsi:type="dcterms:W3CDTF">2019-07-02T09:26:30Z</dcterms:created>
  <dcterms:modified xsi:type="dcterms:W3CDTF">2025-11-16T14:03:50Z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0x0101006BB8A863AA77604BB9E099A2A78889A6</vt:lpwstr>
  </property>
</Properties>
</file>