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8"/>
  </p:notesMasterIdLst>
  <p:sldIdLst>
    <p:sldId id="256" r:id="rId5"/>
    <p:sldId id="257" r:id="rId6"/>
    <p:sldId id="263" r:id="rId7"/>
    <p:sldId id="264" r:id="rId8"/>
    <p:sldId id="265" r:id="rId9"/>
    <p:sldId id="268" r:id="rId10"/>
    <p:sldId id="266" r:id="rId11"/>
    <p:sldId id="269" r:id="rId12"/>
    <p:sldId id="267" r:id="rId13"/>
    <p:sldId id="258" r:id="rId14"/>
    <p:sldId id="259" r:id="rId15"/>
    <p:sldId id="260" r:id="rId16"/>
    <p:sldId id="261" r:id="rId17"/>
  </p:sldIdLst>
  <p:sldSz cx="9144000" cy="6858000" type="screen4x3"/>
  <p:notesSz cx="6858000" cy="9144000"/>
  <p:defaultTextStyle>
    <a:defPPr>
      <a:defRPr lang="it-IT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00"/>
    <a:srgbClr val="F7F7F7"/>
    <a:srgbClr val="ECECEC"/>
    <a:srgbClr val="FFE7E7"/>
    <a:srgbClr val="C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ED2C07A-120C-4A31-A34E-00A800F70768}" v="77" dt="2025-11-10T18:30:20.03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essuno stile, nessuna grigli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82"/>
    <p:restoredTop sz="93645" autoAdjust="0"/>
  </p:normalViewPr>
  <p:slideViewPr>
    <p:cSldViewPr snapToGrid="0" snapToObjects="1">
      <p:cViewPr varScale="1">
        <p:scale>
          <a:sx n="78" d="100"/>
          <a:sy n="78" d="100"/>
        </p:scale>
        <p:origin x="1478" y="67"/>
      </p:cViewPr>
      <p:guideLst>
        <p:guide orient="horz" pos="2137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e Martinelli" userId="7fbb5ea4-aa54-4069-9817-0c9f1f96a781" providerId="ADAL" clId="{8D903727-13C1-4DE1-BDD5-2A2D86EA714E}"/>
    <pc:docChg chg="undo custSel addSld modSld">
      <pc:chgData name="Nicole Martinelli" userId="7fbb5ea4-aa54-4069-9817-0c9f1f96a781" providerId="ADAL" clId="{8D903727-13C1-4DE1-BDD5-2A2D86EA714E}" dt="2025-11-10T18:40:13.747" v="128" actId="1076"/>
      <pc:docMkLst>
        <pc:docMk/>
      </pc:docMkLst>
      <pc:sldChg chg="modSp mod">
        <pc:chgData name="Nicole Martinelli" userId="7fbb5ea4-aa54-4069-9817-0c9f1f96a781" providerId="ADAL" clId="{8D903727-13C1-4DE1-BDD5-2A2D86EA714E}" dt="2025-11-10T18:24:10.645" v="7" actId="1076"/>
        <pc:sldMkLst>
          <pc:docMk/>
          <pc:sldMk cId="1600062437" sldId="265"/>
        </pc:sldMkLst>
        <pc:spChg chg="mod">
          <ac:chgData name="Nicole Martinelli" userId="7fbb5ea4-aa54-4069-9817-0c9f1f96a781" providerId="ADAL" clId="{8D903727-13C1-4DE1-BDD5-2A2D86EA714E}" dt="2025-11-10T18:24:10.645" v="7" actId="1076"/>
          <ac:spMkLst>
            <pc:docMk/>
            <pc:sldMk cId="1600062437" sldId="265"/>
            <ac:spMk id="4" creationId="{E04EC32B-D648-3412-A6B8-8BCC231F957B}"/>
          </ac:spMkLst>
        </pc:spChg>
        <pc:spChg chg="mod">
          <ac:chgData name="Nicole Martinelli" userId="7fbb5ea4-aa54-4069-9817-0c9f1f96a781" providerId="ADAL" clId="{8D903727-13C1-4DE1-BDD5-2A2D86EA714E}" dt="2025-11-10T18:24:10.645" v="7" actId="1076"/>
          <ac:spMkLst>
            <pc:docMk/>
            <pc:sldMk cId="1600062437" sldId="265"/>
            <ac:spMk id="8" creationId="{372D295D-FFE6-443C-5ED2-8E32052FF996}"/>
          </ac:spMkLst>
        </pc:spChg>
        <pc:spChg chg="mod">
          <ac:chgData name="Nicole Martinelli" userId="7fbb5ea4-aa54-4069-9817-0c9f1f96a781" providerId="ADAL" clId="{8D903727-13C1-4DE1-BDD5-2A2D86EA714E}" dt="2025-11-10T18:24:10.645" v="7" actId="1076"/>
          <ac:spMkLst>
            <pc:docMk/>
            <pc:sldMk cId="1600062437" sldId="265"/>
            <ac:spMk id="9" creationId="{3690A913-2922-3E68-AA3F-DA2E2D8DBEA9}"/>
          </ac:spMkLst>
        </pc:spChg>
        <pc:graphicFrameChg chg="mod">
          <ac:chgData name="Nicole Martinelli" userId="7fbb5ea4-aa54-4069-9817-0c9f1f96a781" providerId="ADAL" clId="{8D903727-13C1-4DE1-BDD5-2A2D86EA714E}" dt="2025-11-10T18:24:10.645" v="7" actId="1076"/>
          <ac:graphicFrameMkLst>
            <pc:docMk/>
            <pc:sldMk cId="1600062437" sldId="265"/>
            <ac:graphicFrameMk id="6" creationId="{F53F2A88-0180-400F-A67C-8722EAB32661}"/>
          </ac:graphicFrameMkLst>
        </pc:graphicFrameChg>
        <pc:picChg chg="mod">
          <ac:chgData name="Nicole Martinelli" userId="7fbb5ea4-aa54-4069-9817-0c9f1f96a781" providerId="ADAL" clId="{8D903727-13C1-4DE1-BDD5-2A2D86EA714E}" dt="2025-11-10T18:24:10.645" v="7" actId="1076"/>
          <ac:picMkLst>
            <pc:docMk/>
            <pc:sldMk cId="1600062437" sldId="265"/>
            <ac:picMk id="47" creationId="{C9612107-6647-6484-962C-755D75C012D5}"/>
          </ac:picMkLst>
        </pc:picChg>
      </pc:sldChg>
      <pc:sldChg chg="modSp mod">
        <pc:chgData name="Nicole Martinelli" userId="7fbb5ea4-aa54-4069-9817-0c9f1f96a781" providerId="ADAL" clId="{8D903727-13C1-4DE1-BDD5-2A2D86EA714E}" dt="2025-11-10T18:21:47.827" v="6" actId="1076"/>
        <pc:sldMkLst>
          <pc:docMk/>
          <pc:sldMk cId="2808507748" sldId="266"/>
        </pc:sldMkLst>
        <pc:spChg chg="mod">
          <ac:chgData name="Nicole Martinelli" userId="7fbb5ea4-aa54-4069-9817-0c9f1f96a781" providerId="ADAL" clId="{8D903727-13C1-4DE1-BDD5-2A2D86EA714E}" dt="2025-11-10T18:21:47.827" v="6" actId="1076"/>
          <ac:spMkLst>
            <pc:docMk/>
            <pc:sldMk cId="2808507748" sldId="266"/>
            <ac:spMk id="41" creationId="{758BBB46-10A6-6EE2-13D5-92C530CE9468}"/>
          </ac:spMkLst>
        </pc:spChg>
        <pc:graphicFrameChg chg="mod">
          <ac:chgData name="Nicole Martinelli" userId="7fbb5ea4-aa54-4069-9817-0c9f1f96a781" providerId="ADAL" clId="{8D903727-13C1-4DE1-BDD5-2A2D86EA714E}" dt="2025-11-10T18:20:50.481" v="0" actId="1076"/>
          <ac:graphicFrameMkLst>
            <pc:docMk/>
            <pc:sldMk cId="2808507748" sldId="266"/>
            <ac:graphicFrameMk id="40" creationId="{C0CE9CDE-9526-125F-A4E1-680AB710EADC}"/>
          </ac:graphicFrameMkLst>
        </pc:graphicFrameChg>
        <pc:picChg chg="mod">
          <ac:chgData name="Nicole Martinelli" userId="7fbb5ea4-aa54-4069-9817-0c9f1f96a781" providerId="ADAL" clId="{8D903727-13C1-4DE1-BDD5-2A2D86EA714E}" dt="2025-11-10T18:21:11.605" v="3" actId="1076"/>
          <ac:picMkLst>
            <pc:docMk/>
            <pc:sldMk cId="2808507748" sldId="266"/>
            <ac:picMk id="7" creationId="{1D196C7A-767B-D1D8-DDF8-B68BAB2C00A3}"/>
          </ac:picMkLst>
        </pc:picChg>
      </pc:sldChg>
      <pc:sldChg chg="addSp delSp modSp add mod">
        <pc:chgData name="Nicole Martinelli" userId="7fbb5ea4-aa54-4069-9817-0c9f1f96a781" providerId="ADAL" clId="{8D903727-13C1-4DE1-BDD5-2A2D86EA714E}" dt="2025-11-10T18:40:13.747" v="128" actId="1076"/>
        <pc:sldMkLst>
          <pc:docMk/>
          <pc:sldMk cId="643054874" sldId="267"/>
        </pc:sldMkLst>
        <pc:spChg chg="add mod">
          <ac:chgData name="Nicole Martinelli" userId="7fbb5ea4-aa54-4069-9817-0c9f1f96a781" providerId="ADAL" clId="{8D903727-13C1-4DE1-BDD5-2A2D86EA714E}" dt="2025-11-10T18:25:05.159" v="13"/>
          <ac:spMkLst>
            <pc:docMk/>
            <pc:sldMk cId="643054874" sldId="267"/>
            <ac:spMk id="2" creationId="{C6854DF0-E332-5569-3C59-E211F49A5B0B}"/>
          </ac:spMkLst>
        </pc:spChg>
        <pc:spChg chg="add mod">
          <ac:chgData name="Nicole Martinelli" userId="7fbb5ea4-aa54-4069-9817-0c9f1f96a781" providerId="ADAL" clId="{8D903727-13C1-4DE1-BDD5-2A2D86EA714E}" dt="2025-11-10T18:25:05.159" v="13"/>
          <ac:spMkLst>
            <pc:docMk/>
            <pc:sldMk cId="643054874" sldId="267"/>
            <ac:spMk id="4" creationId="{FD18A9C7-6958-B98C-849F-F72B29F317B5}"/>
          </ac:spMkLst>
        </pc:spChg>
        <pc:spChg chg="add mod">
          <ac:chgData name="Nicole Martinelli" userId="7fbb5ea4-aa54-4069-9817-0c9f1f96a781" providerId="ADAL" clId="{8D903727-13C1-4DE1-BDD5-2A2D86EA714E}" dt="2025-11-10T18:25:05.159" v="13"/>
          <ac:spMkLst>
            <pc:docMk/>
            <pc:sldMk cId="643054874" sldId="267"/>
            <ac:spMk id="5" creationId="{1403EBB9-420D-C555-FF6D-28DE83C5F9C0}"/>
          </ac:spMkLst>
        </pc:spChg>
        <pc:spChg chg="mod">
          <ac:chgData name="Nicole Martinelli" userId="7fbb5ea4-aa54-4069-9817-0c9f1f96a781" providerId="ADAL" clId="{8D903727-13C1-4DE1-BDD5-2A2D86EA714E}" dt="2025-11-10T18:28:37.094" v="17" actId="1076"/>
          <ac:spMkLst>
            <pc:docMk/>
            <pc:sldMk cId="643054874" sldId="267"/>
            <ac:spMk id="29" creationId="{F067786C-D4CA-B60D-9434-67B1C7D4A169}"/>
          </ac:spMkLst>
        </pc:spChg>
        <pc:spChg chg="del">
          <ac:chgData name="Nicole Martinelli" userId="7fbb5ea4-aa54-4069-9817-0c9f1f96a781" providerId="ADAL" clId="{8D903727-13C1-4DE1-BDD5-2A2D86EA714E}" dt="2025-11-10T18:24:49.674" v="10" actId="478"/>
          <ac:spMkLst>
            <pc:docMk/>
            <pc:sldMk cId="643054874" sldId="267"/>
            <ac:spMk id="31" creationId="{4AA117B3-304C-594E-7117-DA651C6C778B}"/>
          </ac:spMkLst>
        </pc:spChg>
        <pc:spChg chg="del">
          <ac:chgData name="Nicole Martinelli" userId="7fbb5ea4-aa54-4069-9817-0c9f1f96a781" providerId="ADAL" clId="{8D903727-13C1-4DE1-BDD5-2A2D86EA714E}" dt="2025-11-10T18:24:46.196" v="9" actId="478"/>
          <ac:spMkLst>
            <pc:docMk/>
            <pc:sldMk cId="643054874" sldId="267"/>
            <ac:spMk id="41" creationId="{AC5C532B-B85B-232E-BE2E-C564EE0AA557}"/>
          </ac:spMkLst>
        </pc:spChg>
        <pc:grpChg chg="del">
          <ac:chgData name="Nicole Martinelli" userId="7fbb5ea4-aa54-4069-9817-0c9f1f96a781" providerId="ADAL" clId="{8D903727-13C1-4DE1-BDD5-2A2D86EA714E}" dt="2025-11-10T18:28:39.765" v="18" actId="478"/>
          <ac:grpSpMkLst>
            <pc:docMk/>
            <pc:sldMk cId="643054874" sldId="267"/>
            <ac:grpSpMk id="21" creationId="{8CBEBEE2-A27E-5BD5-A0FA-C117C5FFBB01}"/>
          </ac:grpSpMkLst>
        </pc:grpChg>
        <pc:grpChg chg="mod">
          <ac:chgData name="Nicole Martinelli" userId="7fbb5ea4-aa54-4069-9817-0c9f1f96a781" providerId="ADAL" clId="{8D903727-13C1-4DE1-BDD5-2A2D86EA714E}" dt="2025-11-10T18:28:44.067" v="19" actId="1076"/>
          <ac:grpSpMkLst>
            <pc:docMk/>
            <pc:sldMk cId="643054874" sldId="267"/>
            <ac:grpSpMk id="22" creationId="{FD751EF4-20B3-AF30-EC08-C28A063AA5D4}"/>
          </ac:grpSpMkLst>
        </pc:grpChg>
        <pc:grpChg chg="del">
          <ac:chgData name="Nicole Martinelli" userId="7fbb5ea4-aa54-4069-9817-0c9f1f96a781" providerId="ADAL" clId="{8D903727-13C1-4DE1-BDD5-2A2D86EA714E}" dt="2025-11-10T18:24:54.470" v="11" actId="478"/>
          <ac:grpSpMkLst>
            <pc:docMk/>
            <pc:sldMk cId="643054874" sldId="267"/>
            <ac:grpSpMk id="32" creationId="{2F07A6F4-5051-0807-7E34-E6CF57B68229}"/>
          </ac:grpSpMkLst>
        </pc:grpChg>
        <pc:graphicFrameChg chg="add mod">
          <ac:chgData name="Nicole Martinelli" userId="7fbb5ea4-aa54-4069-9817-0c9f1f96a781" providerId="ADAL" clId="{8D903727-13C1-4DE1-BDD5-2A2D86EA714E}" dt="2025-11-10T18:25:05.159" v="13"/>
          <ac:graphicFrameMkLst>
            <pc:docMk/>
            <pc:sldMk cId="643054874" sldId="267"/>
            <ac:graphicFrameMk id="3" creationId="{FB14593F-BA5F-8B5A-0B47-D3C508E07A5A}"/>
          </ac:graphicFrameMkLst>
        </pc:graphicFrameChg>
        <pc:graphicFrameChg chg="mod modGraphic">
          <ac:chgData name="Nicole Martinelli" userId="7fbb5ea4-aa54-4069-9817-0c9f1f96a781" providerId="ADAL" clId="{8D903727-13C1-4DE1-BDD5-2A2D86EA714E}" dt="2025-11-10T18:30:20.039" v="121"/>
          <ac:graphicFrameMkLst>
            <pc:docMk/>
            <pc:sldMk cId="643054874" sldId="267"/>
            <ac:graphicFrameMk id="8" creationId="{D2740B94-BC79-6D85-FBCA-F7B3E5EE9D3C}"/>
          </ac:graphicFrameMkLst>
        </pc:graphicFrameChg>
        <pc:graphicFrameChg chg="del">
          <ac:chgData name="Nicole Martinelli" userId="7fbb5ea4-aa54-4069-9817-0c9f1f96a781" providerId="ADAL" clId="{8D903727-13C1-4DE1-BDD5-2A2D86EA714E}" dt="2025-11-10T18:24:49.674" v="10" actId="478"/>
          <ac:graphicFrameMkLst>
            <pc:docMk/>
            <pc:sldMk cId="643054874" sldId="267"/>
            <ac:graphicFrameMk id="30" creationId="{741EFBD4-125E-A52C-3415-AF8E832FDB7D}"/>
          </ac:graphicFrameMkLst>
        </pc:graphicFrameChg>
        <pc:graphicFrameChg chg="del">
          <ac:chgData name="Nicole Martinelli" userId="7fbb5ea4-aa54-4069-9817-0c9f1f96a781" providerId="ADAL" clId="{8D903727-13C1-4DE1-BDD5-2A2D86EA714E}" dt="2025-11-10T18:24:46.196" v="9" actId="478"/>
          <ac:graphicFrameMkLst>
            <pc:docMk/>
            <pc:sldMk cId="643054874" sldId="267"/>
            <ac:graphicFrameMk id="40" creationId="{D0CF506F-BE4A-1B52-8325-4EE95A7D6175}"/>
          </ac:graphicFrameMkLst>
        </pc:graphicFrameChg>
        <pc:picChg chg="add mod">
          <ac:chgData name="Nicole Martinelli" userId="7fbb5ea4-aa54-4069-9817-0c9f1f96a781" providerId="ADAL" clId="{8D903727-13C1-4DE1-BDD5-2A2D86EA714E}" dt="2025-11-10T18:25:05.159" v="13"/>
          <ac:picMkLst>
            <pc:docMk/>
            <pc:sldMk cId="643054874" sldId="267"/>
            <ac:picMk id="6" creationId="{7B3741B7-7712-1858-1267-7755BAE1C6C8}"/>
          </ac:picMkLst>
        </pc:picChg>
        <pc:picChg chg="del">
          <ac:chgData name="Nicole Martinelli" userId="7fbb5ea4-aa54-4069-9817-0c9f1f96a781" providerId="ADAL" clId="{8D903727-13C1-4DE1-BDD5-2A2D86EA714E}" dt="2025-11-10T18:24:46.196" v="9" actId="478"/>
          <ac:picMkLst>
            <pc:docMk/>
            <pc:sldMk cId="643054874" sldId="267"/>
            <ac:picMk id="7" creationId="{02B58547-4C91-5445-82F4-3F5FF2D7C312}"/>
          </ac:picMkLst>
        </pc:picChg>
        <pc:picChg chg="add del">
          <ac:chgData name="Nicole Martinelli" userId="7fbb5ea4-aa54-4069-9817-0c9f1f96a781" providerId="ADAL" clId="{8D903727-13C1-4DE1-BDD5-2A2D86EA714E}" dt="2025-11-10T18:39:36.564" v="123" actId="22"/>
          <ac:picMkLst>
            <pc:docMk/>
            <pc:sldMk cId="643054874" sldId="267"/>
            <ac:picMk id="12" creationId="{8085B2BD-B717-16A9-9930-73948F67E1A1}"/>
          </ac:picMkLst>
        </pc:picChg>
        <pc:picChg chg="add mod">
          <ac:chgData name="Nicole Martinelli" userId="7fbb5ea4-aa54-4069-9817-0c9f1f96a781" providerId="ADAL" clId="{8D903727-13C1-4DE1-BDD5-2A2D86EA714E}" dt="2025-11-10T18:40:13.747" v="128" actId="1076"/>
          <ac:picMkLst>
            <pc:docMk/>
            <pc:sldMk cId="643054874" sldId="267"/>
            <ac:picMk id="15" creationId="{275440EB-372D-868E-8CA9-60EEDE42AE1C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F95162-6873-F647-B392-BF6A1F606277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FDF8BA-B6A2-CC4D-B552-37BF044E104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468600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Esempio</a:t>
            </a:r>
            <a:r>
              <a:rPr lang="en-US" dirty="0"/>
              <a:t> di possible homepage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FDF8BA-B6A2-CC4D-B552-37BF044E1040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603319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Pagina</a:t>
            </a:r>
            <a:r>
              <a:rPr lang="en-US" dirty="0"/>
              <a:t> </a:t>
            </a:r>
            <a:r>
              <a:rPr lang="en-US" dirty="0" err="1"/>
              <a:t>personale</a:t>
            </a:r>
            <a:endParaRPr lang="en-US" dirty="0"/>
          </a:p>
          <a:p>
            <a:endParaRPr lang="en-US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FDF8BA-B6A2-CC4D-B552-37BF044E1040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245266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62B25-9774-36BD-3710-A4AAFE0C5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D57AA92-8BE8-1C6E-6F3D-ACD0CF72F0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EC7B305-C7AD-F313-5062-710AD9A81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Pagina</a:t>
            </a:r>
            <a:r>
              <a:rPr lang="en-US" dirty="0"/>
              <a:t> </a:t>
            </a:r>
            <a:r>
              <a:rPr lang="en-US" dirty="0" err="1"/>
              <a:t>personale</a:t>
            </a:r>
            <a:endParaRPr lang="en-US" dirty="0"/>
          </a:p>
          <a:p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A2E0C48-6677-33D8-71F3-9B1DAFCD50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FDF8BA-B6A2-CC4D-B552-37BF044E1040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457445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808155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011166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it-IT"/>
              <a:t>Fare clic per modificare stile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97685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nu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385570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stile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350880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67587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242553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24671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stile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540628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93106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olo verticale e tes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it-IT"/>
              <a:t>Fare clic per modificare stile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FDCBEE4-315A-8E42-835E-29A1DAE07625}" type="datetimeFigureOut">
              <a:rPr lang="it-IT" smtClean="0"/>
              <a:t>10/11/2025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3EAF9BD-73C2-C944-967F-16A9AD6CE36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821305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182741" y="90093"/>
            <a:ext cx="8761797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 dirty="0"/>
              <a:t>Fare </a:t>
            </a:r>
            <a:r>
              <a:rPr lang="en-US" noProof="0" dirty="0" err="1"/>
              <a:t>clic</a:t>
            </a:r>
            <a:r>
              <a:rPr lang="en-US" noProof="0" dirty="0"/>
              <a:t> per </a:t>
            </a:r>
            <a:r>
              <a:rPr lang="en-US" noProof="0" dirty="0" err="1"/>
              <a:t>modificare</a:t>
            </a:r>
            <a:r>
              <a:rPr lang="en-US" noProof="0" dirty="0"/>
              <a:t> stile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182741" y="1350522"/>
            <a:ext cx="8761797" cy="47944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 dirty="0"/>
              <a:t>Fare </a:t>
            </a:r>
            <a:r>
              <a:rPr lang="en-US" noProof="0" dirty="0" err="1"/>
              <a:t>clic</a:t>
            </a:r>
            <a:r>
              <a:rPr lang="en-US" noProof="0" dirty="0"/>
              <a:t> per </a:t>
            </a:r>
            <a:r>
              <a:rPr lang="en-US" noProof="0" dirty="0" err="1"/>
              <a:t>modificare</a:t>
            </a:r>
            <a:r>
              <a:rPr lang="en-US" noProof="0" dirty="0"/>
              <a:t> </a:t>
            </a:r>
            <a:r>
              <a:rPr lang="en-US" noProof="0" dirty="0" err="1"/>
              <a:t>gli</a:t>
            </a:r>
            <a:r>
              <a:rPr lang="en-US" noProof="0" dirty="0"/>
              <a:t> </a:t>
            </a:r>
            <a:r>
              <a:rPr lang="en-US" noProof="0" dirty="0" err="1"/>
              <a:t>stili</a:t>
            </a:r>
            <a:r>
              <a:rPr lang="en-US" noProof="0" dirty="0"/>
              <a:t> del </a:t>
            </a:r>
            <a:r>
              <a:rPr lang="en-US" noProof="0" dirty="0" err="1"/>
              <a:t>testo</a:t>
            </a:r>
            <a:r>
              <a:rPr lang="en-US" noProof="0" dirty="0"/>
              <a:t> </a:t>
            </a:r>
            <a:r>
              <a:rPr lang="en-US" noProof="0" dirty="0" err="1"/>
              <a:t>dello</a:t>
            </a:r>
            <a:r>
              <a:rPr lang="en-US" noProof="0" dirty="0"/>
              <a:t> schema</a:t>
            </a:r>
          </a:p>
          <a:p>
            <a:pPr lvl="1"/>
            <a:r>
              <a:rPr lang="en-US" noProof="0" dirty="0"/>
              <a:t>Secondo </a:t>
            </a:r>
            <a:r>
              <a:rPr lang="en-US" noProof="0" dirty="0" err="1"/>
              <a:t>livello</a:t>
            </a:r>
            <a:endParaRPr lang="en-US" noProof="0" dirty="0"/>
          </a:p>
          <a:p>
            <a:pPr lvl="2"/>
            <a:r>
              <a:rPr lang="en-US" noProof="0" dirty="0" err="1"/>
              <a:t>Terzo</a:t>
            </a:r>
            <a:r>
              <a:rPr lang="en-US" noProof="0" dirty="0"/>
              <a:t> </a:t>
            </a:r>
            <a:r>
              <a:rPr lang="en-US" noProof="0" dirty="0" err="1"/>
              <a:t>livello</a:t>
            </a:r>
            <a:endParaRPr lang="en-US" noProof="0" dirty="0"/>
          </a:p>
          <a:p>
            <a:pPr lvl="3"/>
            <a:r>
              <a:rPr lang="en-US" noProof="0" dirty="0"/>
              <a:t>Quarto </a:t>
            </a:r>
            <a:r>
              <a:rPr lang="en-US" noProof="0" dirty="0" err="1"/>
              <a:t>livello</a:t>
            </a:r>
            <a:endParaRPr lang="en-US" noProof="0" dirty="0"/>
          </a:p>
          <a:p>
            <a:pPr lvl="4"/>
            <a:r>
              <a:rPr lang="en-US" noProof="0" dirty="0" err="1"/>
              <a:t>Quinto</a:t>
            </a:r>
            <a:r>
              <a:rPr lang="en-US" noProof="0" dirty="0"/>
              <a:t> </a:t>
            </a:r>
            <a:r>
              <a:rPr lang="en-US" noProof="0" dirty="0" err="1"/>
              <a:t>livello</a:t>
            </a:r>
            <a:endParaRPr lang="en-US" noProof="0" dirty="0"/>
          </a:p>
        </p:txBody>
      </p:sp>
      <p:pic>
        <p:nvPicPr>
          <p:cNvPr id="9" name="Immagine 8" descr="crossLabLogo.png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0101" y="6226140"/>
            <a:ext cx="1556700" cy="511003"/>
          </a:xfrm>
          <a:prstGeom prst="rect">
            <a:avLst/>
          </a:prstGeom>
        </p:spPr>
      </p:pic>
      <p:pic>
        <p:nvPicPr>
          <p:cNvPr id="10" name="Immagine 9" descr="Schermata 2019-07-02 alle 11.33.44.png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742" y="6226140"/>
            <a:ext cx="2392045" cy="548860"/>
          </a:xfrm>
          <a:prstGeom prst="rect">
            <a:avLst/>
          </a:prstGeom>
        </p:spPr>
      </p:pic>
      <p:pic>
        <p:nvPicPr>
          <p:cNvPr id="12" name="Immagine 11" descr="logoUnipi.png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8848" y="6144979"/>
            <a:ext cx="1307462" cy="696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8826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sv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aravsood7/sentiment-analysis-labelled-financial-news-data" TargetMode="External"/><Relationship Id="rId2" Type="http://schemas.openxmlformats.org/officeDocument/2006/relationships/hyperlink" Target="https://www.kaggle.com/datasets/pratyushpuri/financial-news-market-events-dataset-2025" TargetMode="External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www.kaggle.com/datasets/mahmoudshaheen1134/trades-dataset" TargetMode="External"/><Relationship Id="rId4" Type="http://schemas.openxmlformats.org/officeDocument/2006/relationships/hyperlink" Target="https://www.kaggle.com/datasets/sayelabualigah/high-quality-financial-news-dataset-for-nlp-tasks?select=dataset.csv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0" y="2130425"/>
            <a:ext cx="9144000" cy="1470025"/>
          </a:xfrm>
        </p:spPr>
        <p:txBody>
          <a:bodyPr>
            <a:normAutofit fontScale="90000"/>
          </a:bodyPr>
          <a:lstStyle/>
          <a:p>
            <a:r>
              <a:rPr lang="en-US" sz="3900" dirty="0"/>
              <a:t>Large-Scale and Multi-Structured Databases</a:t>
            </a:r>
            <a:br>
              <a:rPr lang="en-US" dirty="0"/>
            </a:br>
            <a:r>
              <a:rPr lang="en-US" b="1" i="1" dirty="0"/>
              <a:t>Project Design</a:t>
            </a:r>
            <a:br>
              <a:rPr lang="en-US" b="1" i="1" dirty="0"/>
            </a:br>
            <a:r>
              <a:rPr lang="en-US" b="1" i="1" dirty="0" err="1"/>
              <a:t>MyFuture</a:t>
            </a:r>
            <a:endParaRPr lang="en-US" sz="3300" i="1" dirty="0"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Alessandro Diana</a:t>
            </a:r>
          </a:p>
        </p:txBody>
      </p:sp>
    </p:spTree>
    <p:extLst>
      <p:ext uri="{BB962C8B-B14F-4D97-AF65-F5344CB8AC3E}">
        <p14:creationId xmlns:p14="http://schemas.microsoft.com/office/powerpoint/2010/main" val="16214697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33632E-76E6-2A49-A199-3826627DF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Highlights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A701C8F0-FB4C-4E4E-804F-9EE05D7441C4}"/>
              </a:ext>
            </a:extLst>
          </p:cNvPr>
          <p:cNvSpPr txBox="1"/>
          <p:nvPr/>
        </p:nvSpPr>
        <p:spPr>
          <a:xfrm>
            <a:off x="424543" y="1404256"/>
            <a:ext cx="83439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MyFuture</a:t>
            </a:r>
            <a:r>
              <a:rPr lang="en-US" dirty="0"/>
              <a:t> is a trading web application that provides access to a wide range of financial assets, including stocks, ETFs, and cryptocurrencies.</a:t>
            </a:r>
            <a:br>
              <a:rPr lang="en-US" dirty="0"/>
            </a:br>
            <a:r>
              <a:rPr lang="en-US" dirty="0"/>
              <a:t>The platform allows users to manage their personal account and investment portfolio, enabling them to view, buy, and sell the available assets directly through the app.</a:t>
            </a:r>
          </a:p>
          <a:p>
            <a:r>
              <a:rPr lang="en-US" dirty="0"/>
              <a:t>Users can track their open positions, transactions, and account balance in real time.</a:t>
            </a:r>
            <a:br>
              <a:rPr lang="en-US" dirty="0"/>
            </a:br>
            <a:r>
              <a:rPr lang="en-US" dirty="0"/>
              <a:t>In addition, </a:t>
            </a:r>
            <a:r>
              <a:rPr lang="en-US" dirty="0" err="1"/>
              <a:t>MyFuture</a:t>
            </a:r>
            <a:r>
              <a:rPr lang="en-US" dirty="0"/>
              <a:t> offers a section dedicated to financial news and market updates, helping users stay informed and make better investment decisions.</a:t>
            </a:r>
          </a:p>
          <a:p>
            <a:endParaRPr lang="en-US" dirty="0"/>
          </a:p>
          <a:p>
            <a:r>
              <a:rPr lang="en-US" dirty="0"/>
              <a:t>Summary: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User can browse the assets;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User can visualize plot of assets prices;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User can buy and sell assets;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User can browse the news;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Admin can update, add, or remove assets;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Admin can modify and suspend user accounts.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Admin can calculate analytics.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21112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11D8A20-7DC5-3042-A86D-62CF3361A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Actors and Use cases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391F4034-971B-8A4B-888B-5902E8333D6B}"/>
              </a:ext>
            </a:extLst>
          </p:cNvPr>
          <p:cNvSpPr txBox="1"/>
          <p:nvPr/>
        </p:nvSpPr>
        <p:spPr>
          <a:xfrm>
            <a:off x="199462" y="985838"/>
            <a:ext cx="3858188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Main actors: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Unregistered User:</a:t>
            </a:r>
            <a:r>
              <a:rPr lang="en-US" dirty="0"/>
              <a:t> can browse the platform and access basic features.</a:t>
            </a:r>
            <a:br>
              <a:rPr lang="en-US" dirty="0"/>
            </a:br>
            <a:r>
              <a:rPr lang="en-US" dirty="0"/>
              <a:t>However, they cannot perform trading actions or manage a personal portfolio.</a:t>
            </a:r>
            <a:br>
              <a:rPr lang="en-US" dirty="0"/>
            </a:b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Registered User:</a:t>
            </a:r>
            <a:r>
              <a:rPr lang="en-US" dirty="0"/>
              <a:t> has full access to the trading functionalities.</a:t>
            </a:r>
            <a:br>
              <a:rPr lang="en-US" dirty="0"/>
            </a:br>
            <a:r>
              <a:rPr lang="en-US" dirty="0"/>
              <a:t>They can view detailed asset data, buy and sell financial assets, manage their portfolio, and track their account balance within the platform.</a:t>
            </a:r>
            <a:br>
              <a:rPr lang="en-US" dirty="0"/>
            </a:b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Admin: </a:t>
            </a:r>
            <a:r>
              <a:rPr lang="en-US" dirty="0"/>
              <a:t>is responsible for managing the platform’s data and users.</a:t>
            </a:r>
          </a:p>
        </p:txBody>
      </p:sp>
      <p:pic>
        <p:nvPicPr>
          <p:cNvPr id="7" name="Immagine 6" descr="Immagine che contiene testo, schermata, diagramma, calligrafia&#10;&#10;Il contenuto generato dall'IA potrebbe non essere corretto.">
            <a:extLst>
              <a:ext uri="{FF2B5EF4-FFF2-40B4-BE49-F238E27FC236}">
                <a16:creationId xmlns:a16="http://schemas.microsoft.com/office/drawing/2014/main" id="{9723441E-0BF3-7457-8B70-F8B576FD43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7650" y="985838"/>
            <a:ext cx="4886888" cy="512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998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11D8A20-7DC5-3042-A86D-62CF3361A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Mock-ups (0)</a:t>
            </a:r>
          </a:p>
        </p:txBody>
      </p:sp>
      <p:sp>
        <p:nvSpPr>
          <p:cNvPr id="5" name="Titolo 1">
            <a:extLst>
              <a:ext uri="{FF2B5EF4-FFF2-40B4-BE49-F238E27FC236}">
                <a16:creationId xmlns:a16="http://schemas.microsoft.com/office/drawing/2014/main" id="{F03BE28E-3BDB-A2F1-A6A3-D8B73C0941D7}"/>
              </a:ext>
            </a:extLst>
          </p:cNvPr>
          <p:cNvSpPr txBox="1">
            <a:spLocks/>
          </p:cNvSpPr>
          <p:nvPr/>
        </p:nvSpPr>
        <p:spPr>
          <a:xfrm>
            <a:off x="191101" y="2179448"/>
            <a:ext cx="8761797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/>
              <a:t>Home page</a:t>
            </a:r>
          </a:p>
        </p:txBody>
      </p:sp>
    </p:spTree>
    <p:extLst>
      <p:ext uri="{BB962C8B-B14F-4D97-AF65-F5344CB8AC3E}">
        <p14:creationId xmlns:p14="http://schemas.microsoft.com/office/powerpoint/2010/main" val="911721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E04EC32B-D648-3412-A6B8-8BCC231F957B}"/>
              </a:ext>
            </a:extLst>
          </p:cNvPr>
          <p:cNvSpPr txBox="1"/>
          <p:nvPr/>
        </p:nvSpPr>
        <p:spPr>
          <a:xfrm>
            <a:off x="461962" y="369947"/>
            <a:ext cx="18478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 err="1">
                <a:solidFill>
                  <a:srgbClr val="C00000"/>
                </a:solidFill>
                <a:latin typeface="Arial Nova Light" panose="020B030402020202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MyFuture</a:t>
            </a:r>
            <a:endParaRPr lang="en-US" sz="3200" b="1" dirty="0">
              <a:solidFill>
                <a:srgbClr val="C00000"/>
              </a:solidFill>
              <a:latin typeface="Arial Nova Light" panose="020B0304020202020204" pitchFamily="34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F53F2A88-0180-400F-A67C-8722EAB326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9922565"/>
              </p:ext>
            </p:extLst>
          </p:nvPr>
        </p:nvGraphicFramePr>
        <p:xfrm>
          <a:off x="2462212" y="476915"/>
          <a:ext cx="2886075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47725">
                  <a:extLst>
                    <a:ext uri="{9D8B030D-6E8A-4147-A177-3AD203B41FA5}">
                      <a16:colId xmlns:a16="http://schemas.microsoft.com/office/drawing/2014/main" val="526149528"/>
                    </a:ext>
                  </a:extLst>
                </a:gridCol>
                <a:gridCol w="1152525">
                  <a:extLst>
                    <a:ext uri="{9D8B030D-6E8A-4147-A177-3AD203B41FA5}">
                      <a16:colId xmlns:a16="http://schemas.microsoft.com/office/drawing/2014/main" val="15154684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35112089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 Nova Light" panose="020B0304020202020204" pitchFamily="34" charset="0"/>
                        </a:rPr>
                        <a:t>Trading</a:t>
                      </a:r>
                      <a:endParaRPr lang="en-US" sz="14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rial Nova Light" panose="020B0304020202020204" pitchFamily="34" charset="0"/>
                        <a:ea typeface="DengXian" panose="020B0503020204020204" pitchFamily="2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 Nova Light" panose="020B0304020202020204" pitchFamily="34" charset="0"/>
                        </a:rPr>
                        <a:t>About us</a:t>
                      </a:r>
                      <a:endParaRPr lang="en-US" sz="14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rial Nova Light" panose="020B0304020202020204" pitchFamily="34" charset="0"/>
                        <a:ea typeface="DengXian" panose="020B0503020204020204" pitchFamily="2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rial Nova Light" panose="020B0304020202020204" pitchFamily="34" charset="0"/>
                        <a:ea typeface="DengXian" panose="020B0503020204020204" pitchFamily="2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77316309"/>
                  </a:ext>
                </a:extLst>
              </a:tr>
            </a:tbl>
          </a:graphicData>
        </a:graphic>
      </p:graphicFrame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372D295D-FFE6-443C-5ED2-8E32052FF996}"/>
              </a:ext>
            </a:extLst>
          </p:cNvPr>
          <p:cNvSpPr/>
          <p:nvPr/>
        </p:nvSpPr>
        <p:spPr>
          <a:xfrm>
            <a:off x="5624512" y="458510"/>
            <a:ext cx="1409700" cy="370840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Arial Nova Light" panose="020B0304020202020204" pitchFamily="34" charset="0"/>
                <a:ea typeface="DengXian" panose="02010600030101010101" pitchFamily="2" charset="-122"/>
              </a:rPr>
              <a:t>Apri un </a:t>
            </a:r>
            <a:r>
              <a:rPr lang="en-US" sz="1200" b="1" dirty="0" err="1">
                <a:latin typeface="Arial Nova Light" panose="020B0304020202020204" pitchFamily="34" charset="0"/>
                <a:ea typeface="DengXian" panose="02010600030101010101" pitchFamily="2" charset="-122"/>
              </a:rPr>
              <a:t>conto</a:t>
            </a:r>
            <a:endParaRPr lang="en-US" sz="1200" b="1" dirty="0">
              <a:latin typeface="Arial Nova Light" panose="020B0304020202020204" pitchFamily="34" charset="0"/>
              <a:ea typeface="DengXian" panose="02010600030101010101" pitchFamily="2" charset="-122"/>
            </a:endParaRPr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3690A913-2922-3E68-AA3F-DA2E2D8DBEA9}"/>
              </a:ext>
            </a:extLst>
          </p:cNvPr>
          <p:cNvSpPr/>
          <p:nvPr/>
        </p:nvSpPr>
        <p:spPr>
          <a:xfrm>
            <a:off x="7186612" y="443915"/>
            <a:ext cx="1409700" cy="37084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Arial Nova Light" panose="020B0304020202020204" pitchFamily="34" charset="0"/>
                <a:ea typeface="DengXian" panose="02010600030101010101" pitchFamily="2" charset="-122"/>
              </a:rPr>
              <a:t>Log In</a:t>
            </a:r>
          </a:p>
        </p:txBody>
      </p:sp>
      <p:grpSp>
        <p:nvGrpSpPr>
          <p:cNvPr id="12" name="Gruppo 11">
            <a:extLst>
              <a:ext uri="{FF2B5EF4-FFF2-40B4-BE49-F238E27FC236}">
                <a16:creationId xmlns:a16="http://schemas.microsoft.com/office/drawing/2014/main" id="{4DB945CA-6ECB-A208-88EE-DB1C7BA2CDA9}"/>
              </a:ext>
            </a:extLst>
          </p:cNvPr>
          <p:cNvGrpSpPr/>
          <p:nvPr/>
        </p:nvGrpSpPr>
        <p:grpSpPr>
          <a:xfrm>
            <a:off x="838200" y="1626315"/>
            <a:ext cx="3086100" cy="2246610"/>
            <a:chOff x="838200" y="1626315"/>
            <a:chExt cx="3086100" cy="2246610"/>
          </a:xfrm>
        </p:grpSpPr>
        <p:sp>
          <p:nvSpPr>
            <p:cNvPr id="10" name="Rettangolo con angoli arrotondati 9">
              <a:extLst>
                <a:ext uri="{FF2B5EF4-FFF2-40B4-BE49-F238E27FC236}">
                  <a16:creationId xmlns:a16="http://schemas.microsoft.com/office/drawing/2014/main" id="{95B61C21-98D8-2A31-8858-220BAD24A7EA}"/>
                </a:ext>
              </a:extLst>
            </p:cNvPr>
            <p:cNvSpPr/>
            <p:nvPr/>
          </p:nvSpPr>
          <p:spPr>
            <a:xfrm>
              <a:off x="838200" y="1626315"/>
              <a:ext cx="3086100" cy="2246610"/>
            </a:xfrm>
            <a:prstGeom prst="roundRect">
              <a:avLst>
                <a:gd name="adj" fmla="val 18626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 Nova Light" panose="020B0304020202020204" pitchFamily="34" charset="0"/>
                  <a:ea typeface="DengXian" panose="02010600030101010101" pitchFamily="2" charset="-122"/>
                </a:rPr>
                <a:t>Apri un </a:t>
              </a:r>
              <a:r>
                <a:rPr lang="en-US" sz="12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 Nova Light" panose="020B0304020202020204" pitchFamily="34" charset="0"/>
                  <a:ea typeface="DengXian" panose="02010600030101010101" pitchFamily="2" charset="-122"/>
                </a:rPr>
                <a:t>conto</a:t>
              </a:r>
              <a:endPara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 panose="020B0304020202020204" pitchFamily="34" charset="0"/>
                <a:ea typeface="DengXian" panose="02010600030101010101" pitchFamily="2" charset="-122"/>
              </a:endParaRPr>
            </a:p>
          </p:txBody>
        </p:sp>
        <p:sp>
          <p:nvSpPr>
            <p:cNvPr id="11" name="Rettangolo con angoli arrotondati 10">
              <a:extLst>
                <a:ext uri="{FF2B5EF4-FFF2-40B4-BE49-F238E27FC236}">
                  <a16:creationId xmlns:a16="http://schemas.microsoft.com/office/drawing/2014/main" id="{5D534BE8-7BF7-B90F-BBD3-51FEC6AF2592}"/>
                </a:ext>
              </a:extLst>
            </p:cNvPr>
            <p:cNvSpPr/>
            <p:nvPr/>
          </p:nvSpPr>
          <p:spPr>
            <a:xfrm>
              <a:off x="838200" y="1626315"/>
              <a:ext cx="3086100" cy="2246610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144000" tIns="324000" bIns="324000" rtlCol="0" anchor="t"/>
            <a:lstStyle/>
            <a:p>
              <a:r>
                <a:rPr lang="en-US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 Nova Light" panose="020B0304020202020204" pitchFamily="34" charset="0"/>
                  <a:ea typeface="DengXian" panose="02010600030101010101" pitchFamily="2" charset="-122"/>
                </a:rPr>
                <a:t>	  </a:t>
              </a:r>
            </a:p>
            <a:p>
              <a:endPara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 panose="020B0304020202020204" pitchFamily="34" charset="0"/>
                <a:ea typeface="DengXian" panose="02010600030101010101" pitchFamily="2" charset="-122"/>
              </a:endParaRPr>
            </a:p>
            <a:p>
              <a:r>
                <a:rPr lang="en-US" sz="16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 Nova Light" panose="020B0304020202020204" pitchFamily="34" charset="0"/>
                  <a:ea typeface="DengXian" panose="02010600030101010101" pitchFamily="2" charset="-122"/>
                </a:rPr>
                <a:t>Assets</a:t>
              </a:r>
            </a:p>
            <a:p>
              <a:r>
                <a:rPr lang="en-US" sz="12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Arial Nova Light" panose="020B0304020202020204" pitchFamily="34" charset="0"/>
                  <a:ea typeface="DengXian" panose="02010600030101010101" pitchFamily="2" charset="-122"/>
                </a:rPr>
                <a:t>Explore a variety of Shares, ETFs and Crypto with real time prices and invest on what you like.</a:t>
              </a:r>
            </a:p>
          </p:txBody>
        </p:sp>
      </p:grpSp>
      <p:grpSp>
        <p:nvGrpSpPr>
          <p:cNvPr id="30" name="Gruppo 29">
            <a:extLst>
              <a:ext uri="{FF2B5EF4-FFF2-40B4-BE49-F238E27FC236}">
                <a16:creationId xmlns:a16="http://schemas.microsoft.com/office/drawing/2014/main" id="{A686E10C-D833-271E-63AD-6A2944A0A39B}"/>
              </a:ext>
            </a:extLst>
          </p:cNvPr>
          <p:cNvGrpSpPr/>
          <p:nvPr/>
        </p:nvGrpSpPr>
        <p:grpSpPr>
          <a:xfrm>
            <a:off x="1133475" y="2016195"/>
            <a:ext cx="323850" cy="323850"/>
            <a:chOff x="1133475" y="2016195"/>
            <a:chExt cx="323850" cy="323850"/>
          </a:xfrm>
        </p:grpSpPr>
        <p:sp>
          <p:nvSpPr>
            <p:cNvPr id="18" name="Figura a mano libera: forma 17">
              <a:extLst>
                <a:ext uri="{FF2B5EF4-FFF2-40B4-BE49-F238E27FC236}">
                  <a16:creationId xmlns:a16="http://schemas.microsoft.com/office/drawing/2014/main" id="{8CCBEB7A-D481-9246-D406-891208B28722}"/>
                </a:ext>
              </a:extLst>
            </p:cNvPr>
            <p:cNvSpPr/>
            <p:nvPr/>
          </p:nvSpPr>
          <p:spPr>
            <a:xfrm>
              <a:off x="1133475" y="2016195"/>
              <a:ext cx="323850" cy="323850"/>
            </a:xfrm>
            <a:custGeom>
              <a:avLst/>
              <a:gdLst>
                <a:gd name="connsiteX0" fmla="*/ 28575 w 323850"/>
                <a:gd name="connsiteY0" fmla="*/ 0 h 323850"/>
                <a:gd name="connsiteX1" fmla="*/ 0 w 323850"/>
                <a:gd name="connsiteY1" fmla="*/ 0 h 323850"/>
                <a:gd name="connsiteX2" fmla="*/ 0 w 323850"/>
                <a:gd name="connsiteY2" fmla="*/ 323850 h 323850"/>
                <a:gd name="connsiteX3" fmla="*/ 323850 w 323850"/>
                <a:gd name="connsiteY3" fmla="*/ 323850 h 323850"/>
                <a:gd name="connsiteX4" fmla="*/ 323850 w 323850"/>
                <a:gd name="connsiteY4" fmla="*/ 295275 h 323850"/>
                <a:gd name="connsiteX5" fmla="*/ 28575 w 323850"/>
                <a:gd name="connsiteY5" fmla="*/ 295275 h 323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3850" h="323850">
                  <a:moveTo>
                    <a:pt x="28575" y="0"/>
                  </a:moveTo>
                  <a:lnTo>
                    <a:pt x="0" y="0"/>
                  </a:lnTo>
                  <a:lnTo>
                    <a:pt x="0" y="323850"/>
                  </a:lnTo>
                  <a:lnTo>
                    <a:pt x="323850" y="323850"/>
                  </a:lnTo>
                  <a:lnTo>
                    <a:pt x="323850" y="295275"/>
                  </a:lnTo>
                  <a:lnTo>
                    <a:pt x="28575" y="295275"/>
                  </a:lnTo>
                  <a:close/>
                </a:path>
              </a:pathLst>
            </a:custGeom>
            <a:solidFill>
              <a:srgbClr val="000000"/>
            </a:solidFill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igura a mano libera: forma 18">
              <a:extLst>
                <a:ext uri="{FF2B5EF4-FFF2-40B4-BE49-F238E27FC236}">
                  <a16:creationId xmlns:a16="http://schemas.microsoft.com/office/drawing/2014/main" id="{3E69E1FD-69BC-5CE3-5E62-040D901E80D6}"/>
                </a:ext>
              </a:extLst>
            </p:cNvPr>
            <p:cNvSpPr/>
            <p:nvPr/>
          </p:nvSpPr>
          <p:spPr>
            <a:xfrm>
              <a:off x="1190625" y="2116207"/>
              <a:ext cx="52387" cy="166687"/>
            </a:xfrm>
            <a:custGeom>
              <a:avLst/>
              <a:gdLst>
                <a:gd name="connsiteX0" fmla="*/ 0 w 52387"/>
                <a:gd name="connsiteY0" fmla="*/ 0 h 166687"/>
                <a:gd name="connsiteX1" fmla="*/ 52388 w 52387"/>
                <a:gd name="connsiteY1" fmla="*/ 0 h 166687"/>
                <a:gd name="connsiteX2" fmla="*/ 52388 w 52387"/>
                <a:gd name="connsiteY2" fmla="*/ 166688 h 166687"/>
                <a:gd name="connsiteX3" fmla="*/ 0 w 52387"/>
                <a:gd name="connsiteY3" fmla="*/ 166688 h 166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387" h="166687">
                  <a:moveTo>
                    <a:pt x="0" y="0"/>
                  </a:moveTo>
                  <a:lnTo>
                    <a:pt x="52388" y="0"/>
                  </a:lnTo>
                  <a:lnTo>
                    <a:pt x="52388" y="166688"/>
                  </a:lnTo>
                  <a:lnTo>
                    <a:pt x="0" y="166688"/>
                  </a:lnTo>
                  <a:close/>
                </a:path>
              </a:pathLst>
            </a:custGeom>
            <a:solidFill>
              <a:srgbClr val="000000"/>
            </a:solidFill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igura a mano libera: forma 19">
              <a:extLst>
                <a:ext uri="{FF2B5EF4-FFF2-40B4-BE49-F238E27FC236}">
                  <a16:creationId xmlns:a16="http://schemas.microsoft.com/office/drawing/2014/main" id="{A3B4ADD7-B5AF-2572-88EB-CF3185D3F89B}"/>
                </a:ext>
              </a:extLst>
            </p:cNvPr>
            <p:cNvSpPr/>
            <p:nvPr/>
          </p:nvSpPr>
          <p:spPr>
            <a:xfrm>
              <a:off x="1262062" y="2016195"/>
              <a:ext cx="52387" cy="266700"/>
            </a:xfrm>
            <a:custGeom>
              <a:avLst/>
              <a:gdLst>
                <a:gd name="connsiteX0" fmla="*/ 0 w 52387"/>
                <a:gd name="connsiteY0" fmla="*/ 0 h 266700"/>
                <a:gd name="connsiteX1" fmla="*/ 52388 w 52387"/>
                <a:gd name="connsiteY1" fmla="*/ 0 h 266700"/>
                <a:gd name="connsiteX2" fmla="*/ 52388 w 52387"/>
                <a:gd name="connsiteY2" fmla="*/ 266700 h 266700"/>
                <a:gd name="connsiteX3" fmla="*/ 0 w 52387"/>
                <a:gd name="connsiteY3" fmla="*/ 26670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387" h="266700">
                  <a:moveTo>
                    <a:pt x="0" y="0"/>
                  </a:moveTo>
                  <a:lnTo>
                    <a:pt x="52388" y="0"/>
                  </a:lnTo>
                  <a:lnTo>
                    <a:pt x="52388" y="266700"/>
                  </a:lnTo>
                  <a:lnTo>
                    <a:pt x="0" y="266700"/>
                  </a:lnTo>
                  <a:close/>
                </a:path>
              </a:pathLst>
            </a:custGeom>
            <a:solidFill>
              <a:srgbClr val="C00000"/>
            </a:solidFill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igura a mano libera: forma 20">
              <a:extLst>
                <a:ext uri="{FF2B5EF4-FFF2-40B4-BE49-F238E27FC236}">
                  <a16:creationId xmlns:a16="http://schemas.microsoft.com/office/drawing/2014/main" id="{A42579DB-22CF-F5BC-F1FF-3E82E8B9A8C4}"/>
                </a:ext>
              </a:extLst>
            </p:cNvPr>
            <p:cNvSpPr/>
            <p:nvPr/>
          </p:nvSpPr>
          <p:spPr>
            <a:xfrm>
              <a:off x="1333500" y="2116207"/>
              <a:ext cx="52387" cy="166687"/>
            </a:xfrm>
            <a:custGeom>
              <a:avLst/>
              <a:gdLst>
                <a:gd name="connsiteX0" fmla="*/ 0 w 52387"/>
                <a:gd name="connsiteY0" fmla="*/ 0 h 166687"/>
                <a:gd name="connsiteX1" fmla="*/ 52388 w 52387"/>
                <a:gd name="connsiteY1" fmla="*/ 0 h 166687"/>
                <a:gd name="connsiteX2" fmla="*/ 52388 w 52387"/>
                <a:gd name="connsiteY2" fmla="*/ 166688 h 166687"/>
                <a:gd name="connsiteX3" fmla="*/ 0 w 52387"/>
                <a:gd name="connsiteY3" fmla="*/ 166688 h 166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387" h="166687">
                  <a:moveTo>
                    <a:pt x="0" y="0"/>
                  </a:moveTo>
                  <a:lnTo>
                    <a:pt x="52388" y="0"/>
                  </a:lnTo>
                  <a:lnTo>
                    <a:pt x="52388" y="166688"/>
                  </a:lnTo>
                  <a:lnTo>
                    <a:pt x="0" y="166688"/>
                  </a:lnTo>
                  <a:close/>
                </a:path>
              </a:pathLst>
            </a:custGeom>
            <a:solidFill>
              <a:srgbClr val="000000"/>
            </a:solidFill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igura a mano libera: forma 21">
              <a:extLst>
                <a:ext uri="{FF2B5EF4-FFF2-40B4-BE49-F238E27FC236}">
                  <a16:creationId xmlns:a16="http://schemas.microsoft.com/office/drawing/2014/main" id="{73DDEC27-2CC4-655B-13F0-D379FF9FD511}"/>
                </a:ext>
              </a:extLst>
            </p:cNvPr>
            <p:cNvSpPr/>
            <p:nvPr/>
          </p:nvSpPr>
          <p:spPr>
            <a:xfrm>
              <a:off x="1404937" y="2197170"/>
              <a:ext cx="52387" cy="85725"/>
            </a:xfrm>
            <a:custGeom>
              <a:avLst/>
              <a:gdLst>
                <a:gd name="connsiteX0" fmla="*/ 0 w 52387"/>
                <a:gd name="connsiteY0" fmla="*/ 0 h 85725"/>
                <a:gd name="connsiteX1" fmla="*/ 52388 w 52387"/>
                <a:gd name="connsiteY1" fmla="*/ 0 h 85725"/>
                <a:gd name="connsiteX2" fmla="*/ 52388 w 52387"/>
                <a:gd name="connsiteY2" fmla="*/ 85725 h 85725"/>
                <a:gd name="connsiteX3" fmla="*/ 0 w 52387"/>
                <a:gd name="connsiteY3" fmla="*/ 85725 h 85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387" h="85725">
                  <a:moveTo>
                    <a:pt x="0" y="0"/>
                  </a:moveTo>
                  <a:lnTo>
                    <a:pt x="52388" y="0"/>
                  </a:lnTo>
                  <a:lnTo>
                    <a:pt x="52388" y="85725"/>
                  </a:lnTo>
                  <a:lnTo>
                    <a:pt x="0" y="85725"/>
                  </a:lnTo>
                  <a:close/>
                </a:path>
              </a:pathLst>
            </a:custGeom>
            <a:solidFill>
              <a:srgbClr val="C00000"/>
            </a:solidFill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3" name="Gruppo 22">
            <a:extLst>
              <a:ext uri="{FF2B5EF4-FFF2-40B4-BE49-F238E27FC236}">
                <a16:creationId xmlns:a16="http://schemas.microsoft.com/office/drawing/2014/main" id="{67483091-9BCE-85AF-AE91-A5DD28BD06EA}"/>
              </a:ext>
            </a:extLst>
          </p:cNvPr>
          <p:cNvGrpSpPr/>
          <p:nvPr/>
        </p:nvGrpSpPr>
        <p:grpSpPr>
          <a:xfrm>
            <a:off x="5219702" y="1626315"/>
            <a:ext cx="3086100" cy="2246610"/>
            <a:chOff x="838200" y="1626315"/>
            <a:chExt cx="3086100" cy="2246610"/>
          </a:xfrm>
        </p:grpSpPr>
        <p:sp>
          <p:nvSpPr>
            <p:cNvPr id="24" name="Rettangolo con angoli arrotondati 23">
              <a:extLst>
                <a:ext uri="{FF2B5EF4-FFF2-40B4-BE49-F238E27FC236}">
                  <a16:creationId xmlns:a16="http://schemas.microsoft.com/office/drawing/2014/main" id="{F670A879-1705-D08A-D187-E431CFA8F156}"/>
                </a:ext>
              </a:extLst>
            </p:cNvPr>
            <p:cNvSpPr/>
            <p:nvPr/>
          </p:nvSpPr>
          <p:spPr>
            <a:xfrm>
              <a:off x="838200" y="1626315"/>
              <a:ext cx="3086100" cy="2246610"/>
            </a:xfrm>
            <a:prstGeom prst="roundRect">
              <a:avLst>
                <a:gd name="adj" fmla="val 18626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  <a:softEdge rad="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 Nova Light" panose="020B0304020202020204" pitchFamily="34" charset="0"/>
                  <a:ea typeface="DengXian" panose="02010600030101010101" pitchFamily="2" charset="-122"/>
                </a:rPr>
                <a:t>Apri un </a:t>
              </a:r>
              <a:r>
                <a:rPr lang="en-US" sz="12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 Nova Light" panose="020B0304020202020204" pitchFamily="34" charset="0"/>
                  <a:ea typeface="DengXian" panose="02010600030101010101" pitchFamily="2" charset="-122"/>
                </a:rPr>
                <a:t>conto</a:t>
              </a:r>
              <a:endPara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 panose="020B0304020202020204" pitchFamily="34" charset="0"/>
                <a:ea typeface="DengXian" panose="02010600030101010101" pitchFamily="2" charset="-122"/>
              </a:endParaRPr>
            </a:p>
          </p:txBody>
        </p:sp>
        <p:sp>
          <p:nvSpPr>
            <p:cNvPr id="25" name="Rettangolo con angoli arrotondati 24">
              <a:extLst>
                <a:ext uri="{FF2B5EF4-FFF2-40B4-BE49-F238E27FC236}">
                  <a16:creationId xmlns:a16="http://schemas.microsoft.com/office/drawing/2014/main" id="{753BAD50-1DF9-AE7E-2D67-B644715399BA}"/>
                </a:ext>
              </a:extLst>
            </p:cNvPr>
            <p:cNvSpPr/>
            <p:nvPr/>
          </p:nvSpPr>
          <p:spPr>
            <a:xfrm>
              <a:off x="838200" y="1626315"/>
              <a:ext cx="3086100" cy="2246610"/>
            </a:xfrm>
            <a:prstGeom prst="roundRect">
              <a:avLst>
                <a:gd name="adj" fmla="val 18626"/>
              </a:avLst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144000" tIns="324000" bIns="324000" rtlCol="0" anchor="t"/>
            <a:lstStyle/>
            <a:p>
              <a:r>
                <a:rPr lang="en-US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 Nova Light" panose="020B0304020202020204" pitchFamily="34" charset="0"/>
                  <a:ea typeface="DengXian" panose="02010600030101010101" pitchFamily="2" charset="-122"/>
                </a:rPr>
                <a:t>	  </a:t>
              </a:r>
            </a:p>
            <a:p>
              <a:endParaRPr 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 panose="020B0304020202020204" pitchFamily="34" charset="0"/>
                <a:ea typeface="DengXian" panose="02010600030101010101" pitchFamily="2" charset="-122"/>
              </a:endParaRPr>
            </a:p>
            <a:p>
              <a:r>
                <a:rPr lang="en-US" sz="16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 Nova Light" panose="020B0304020202020204" pitchFamily="34" charset="0"/>
                  <a:ea typeface="DengXian" panose="02010600030101010101" pitchFamily="2" charset="-122"/>
                </a:rPr>
                <a:t>News</a:t>
              </a:r>
            </a:p>
            <a:p>
              <a:r>
                <a:rPr lang="en-US" sz="12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Arial Nova Light" panose="020B0304020202020204" pitchFamily="34" charset="0"/>
                  <a:ea typeface="DengXian" panose="02010600030101010101" pitchFamily="2" charset="-122"/>
                </a:rPr>
                <a:t>Find out the lates news in the market and discover the hottest trends.</a:t>
              </a:r>
            </a:p>
          </p:txBody>
        </p:sp>
      </p:grpSp>
      <p:grpSp>
        <p:nvGrpSpPr>
          <p:cNvPr id="41" name="Gruppo 40">
            <a:extLst>
              <a:ext uri="{FF2B5EF4-FFF2-40B4-BE49-F238E27FC236}">
                <a16:creationId xmlns:a16="http://schemas.microsoft.com/office/drawing/2014/main" id="{0FCE2672-E4B6-02BC-DB70-443846E7C652}"/>
              </a:ext>
            </a:extLst>
          </p:cNvPr>
          <p:cNvGrpSpPr/>
          <p:nvPr/>
        </p:nvGrpSpPr>
        <p:grpSpPr>
          <a:xfrm>
            <a:off x="5490092" y="1993545"/>
            <a:ext cx="312000" cy="316875"/>
            <a:chOff x="5490092" y="1993545"/>
            <a:chExt cx="312000" cy="316875"/>
          </a:xfrm>
        </p:grpSpPr>
        <p:sp>
          <p:nvSpPr>
            <p:cNvPr id="32" name="Figura a mano libera: forma 31">
              <a:extLst>
                <a:ext uri="{FF2B5EF4-FFF2-40B4-BE49-F238E27FC236}">
                  <a16:creationId xmlns:a16="http://schemas.microsoft.com/office/drawing/2014/main" id="{3977A3A5-5DCB-3E2D-5E2E-B2EEFF968E7A}"/>
                </a:ext>
              </a:extLst>
            </p:cNvPr>
            <p:cNvSpPr/>
            <p:nvPr/>
          </p:nvSpPr>
          <p:spPr>
            <a:xfrm>
              <a:off x="5529092" y="2081295"/>
              <a:ext cx="82875" cy="58500"/>
            </a:xfrm>
            <a:custGeom>
              <a:avLst/>
              <a:gdLst>
                <a:gd name="connsiteX0" fmla="*/ 82875 w 82875"/>
                <a:gd name="connsiteY0" fmla="*/ 0 h 58500"/>
                <a:gd name="connsiteX1" fmla="*/ 0 w 82875"/>
                <a:gd name="connsiteY1" fmla="*/ 0 h 58500"/>
                <a:gd name="connsiteX2" fmla="*/ 0 w 82875"/>
                <a:gd name="connsiteY2" fmla="*/ 58500 h 58500"/>
                <a:gd name="connsiteX3" fmla="*/ 82875 w 82875"/>
                <a:gd name="connsiteY3" fmla="*/ 58500 h 58500"/>
                <a:gd name="connsiteX4" fmla="*/ 73125 w 82875"/>
                <a:gd name="connsiteY4" fmla="*/ 48750 h 58500"/>
                <a:gd name="connsiteX5" fmla="*/ 9750 w 82875"/>
                <a:gd name="connsiteY5" fmla="*/ 48750 h 58500"/>
                <a:gd name="connsiteX6" fmla="*/ 9750 w 82875"/>
                <a:gd name="connsiteY6" fmla="*/ 9750 h 58500"/>
                <a:gd name="connsiteX7" fmla="*/ 73125 w 82875"/>
                <a:gd name="connsiteY7" fmla="*/ 9750 h 58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2875" h="58500">
                  <a:moveTo>
                    <a:pt x="82875" y="0"/>
                  </a:moveTo>
                  <a:lnTo>
                    <a:pt x="0" y="0"/>
                  </a:lnTo>
                  <a:lnTo>
                    <a:pt x="0" y="58500"/>
                  </a:lnTo>
                  <a:lnTo>
                    <a:pt x="82875" y="58500"/>
                  </a:lnTo>
                  <a:close/>
                  <a:moveTo>
                    <a:pt x="73125" y="48750"/>
                  </a:moveTo>
                  <a:lnTo>
                    <a:pt x="9750" y="48750"/>
                  </a:lnTo>
                  <a:lnTo>
                    <a:pt x="9750" y="9750"/>
                  </a:lnTo>
                  <a:lnTo>
                    <a:pt x="73125" y="9750"/>
                  </a:lnTo>
                  <a:close/>
                </a:path>
              </a:pathLst>
            </a:custGeom>
            <a:solidFill>
              <a:srgbClr val="CC0000"/>
            </a:solidFill>
            <a:ln w="48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igura a mano libera: forma 32">
              <a:extLst>
                <a:ext uri="{FF2B5EF4-FFF2-40B4-BE49-F238E27FC236}">
                  <a16:creationId xmlns:a16="http://schemas.microsoft.com/office/drawing/2014/main" id="{70DA8923-C80F-A1DC-CAEA-A310871626AA}"/>
                </a:ext>
              </a:extLst>
            </p:cNvPr>
            <p:cNvSpPr/>
            <p:nvPr/>
          </p:nvSpPr>
          <p:spPr>
            <a:xfrm>
              <a:off x="5631467" y="2198295"/>
              <a:ext cx="82875" cy="58500"/>
            </a:xfrm>
            <a:custGeom>
              <a:avLst/>
              <a:gdLst>
                <a:gd name="connsiteX0" fmla="*/ 0 w 82875"/>
                <a:gd name="connsiteY0" fmla="*/ 58500 h 58500"/>
                <a:gd name="connsiteX1" fmla="*/ 82875 w 82875"/>
                <a:gd name="connsiteY1" fmla="*/ 58500 h 58500"/>
                <a:gd name="connsiteX2" fmla="*/ 82875 w 82875"/>
                <a:gd name="connsiteY2" fmla="*/ 0 h 58500"/>
                <a:gd name="connsiteX3" fmla="*/ 0 w 82875"/>
                <a:gd name="connsiteY3" fmla="*/ 0 h 58500"/>
                <a:gd name="connsiteX4" fmla="*/ 9750 w 82875"/>
                <a:gd name="connsiteY4" fmla="*/ 9750 h 58500"/>
                <a:gd name="connsiteX5" fmla="*/ 73125 w 82875"/>
                <a:gd name="connsiteY5" fmla="*/ 9750 h 58500"/>
                <a:gd name="connsiteX6" fmla="*/ 73125 w 82875"/>
                <a:gd name="connsiteY6" fmla="*/ 48750 h 58500"/>
                <a:gd name="connsiteX7" fmla="*/ 9750 w 82875"/>
                <a:gd name="connsiteY7" fmla="*/ 48750 h 58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2875" h="58500">
                  <a:moveTo>
                    <a:pt x="0" y="58500"/>
                  </a:moveTo>
                  <a:lnTo>
                    <a:pt x="82875" y="58500"/>
                  </a:lnTo>
                  <a:lnTo>
                    <a:pt x="82875" y="0"/>
                  </a:lnTo>
                  <a:lnTo>
                    <a:pt x="0" y="0"/>
                  </a:lnTo>
                  <a:close/>
                  <a:moveTo>
                    <a:pt x="9750" y="9750"/>
                  </a:moveTo>
                  <a:lnTo>
                    <a:pt x="73125" y="9750"/>
                  </a:lnTo>
                  <a:lnTo>
                    <a:pt x="73125" y="48750"/>
                  </a:lnTo>
                  <a:lnTo>
                    <a:pt x="9750" y="48750"/>
                  </a:lnTo>
                  <a:close/>
                </a:path>
              </a:pathLst>
            </a:custGeom>
            <a:solidFill>
              <a:srgbClr val="000000"/>
            </a:solidFill>
            <a:ln w="48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igura a mano libera: forma 33">
              <a:extLst>
                <a:ext uri="{FF2B5EF4-FFF2-40B4-BE49-F238E27FC236}">
                  <a16:creationId xmlns:a16="http://schemas.microsoft.com/office/drawing/2014/main" id="{2F55CC63-FDBE-2DD3-EA05-CC48A8B95F15}"/>
                </a:ext>
              </a:extLst>
            </p:cNvPr>
            <p:cNvSpPr/>
            <p:nvPr/>
          </p:nvSpPr>
          <p:spPr>
            <a:xfrm>
              <a:off x="5529092" y="2047170"/>
              <a:ext cx="185250" cy="9750"/>
            </a:xfrm>
            <a:custGeom>
              <a:avLst/>
              <a:gdLst>
                <a:gd name="connsiteX0" fmla="*/ 0 w 185250"/>
                <a:gd name="connsiteY0" fmla="*/ 0 h 9750"/>
                <a:gd name="connsiteX1" fmla="*/ 185250 w 185250"/>
                <a:gd name="connsiteY1" fmla="*/ 0 h 9750"/>
                <a:gd name="connsiteX2" fmla="*/ 185250 w 185250"/>
                <a:gd name="connsiteY2" fmla="*/ 9750 h 9750"/>
                <a:gd name="connsiteX3" fmla="*/ 0 w 185250"/>
                <a:gd name="connsiteY3" fmla="*/ 9750 h 9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5250" h="9750">
                  <a:moveTo>
                    <a:pt x="0" y="0"/>
                  </a:moveTo>
                  <a:lnTo>
                    <a:pt x="185250" y="0"/>
                  </a:lnTo>
                  <a:lnTo>
                    <a:pt x="185250" y="9750"/>
                  </a:lnTo>
                  <a:lnTo>
                    <a:pt x="0" y="9750"/>
                  </a:lnTo>
                  <a:close/>
                </a:path>
              </a:pathLst>
            </a:custGeom>
            <a:solidFill>
              <a:srgbClr val="000000"/>
            </a:solidFill>
            <a:ln w="48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igura a mano libera: forma 34">
              <a:extLst>
                <a:ext uri="{FF2B5EF4-FFF2-40B4-BE49-F238E27FC236}">
                  <a16:creationId xmlns:a16="http://schemas.microsoft.com/office/drawing/2014/main" id="{7F43F331-F45B-CF89-6247-54A934C455DC}"/>
                </a:ext>
              </a:extLst>
            </p:cNvPr>
            <p:cNvSpPr/>
            <p:nvPr/>
          </p:nvSpPr>
          <p:spPr>
            <a:xfrm>
              <a:off x="5529092" y="2164170"/>
              <a:ext cx="185250" cy="9750"/>
            </a:xfrm>
            <a:custGeom>
              <a:avLst/>
              <a:gdLst>
                <a:gd name="connsiteX0" fmla="*/ 0 w 185250"/>
                <a:gd name="connsiteY0" fmla="*/ 0 h 9750"/>
                <a:gd name="connsiteX1" fmla="*/ 185250 w 185250"/>
                <a:gd name="connsiteY1" fmla="*/ 0 h 9750"/>
                <a:gd name="connsiteX2" fmla="*/ 185250 w 185250"/>
                <a:gd name="connsiteY2" fmla="*/ 9750 h 9750"/>
                <a:gd name="connsiteX3" fmla="*/ 0 w 185250"/>
                <a:gd name="connsiteY3" fmla="*/ 9750 h 9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5250" h="9750">
                  <a:moveTo>
                    <a:pt x="0" y="0"/>
                  </a:moveTo>
                  <a:lnTo>
                    <a:pt x="185250" y="0"/>
                  </a:lnTo>
                  <a:lnTo>
                    <a:pt x="185250" y="9750"/>
                  </a:lnTo>
                  <a:lnTo>
                    <a:pt x="0" y="9750"/>
                  </a:lnTo>
                  <a:close/>
                </a:path>
              </a:pathLst>
            </a:custGeom>
            <a:solidFill>
              <a:srgbClr val="CC0000"/>
            </a:solidFill>
            <a:ln w="48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igura a mano libera: forma 35">
              <a:extLst>
                <a:ext uri="{FF2B5EF4-FFF2-40B4-BE49-F238E27FC236}">
                  <a16:creationId xmlns:a16="http://schemas.microsoft.com/office/drawing/2014/main" id="{1E29ECEE-2507-E6AC-DB74-89A9CBE884E3}"/>
                </a:ext>
              </a:extLst>
            </p:cNvPr>
            <p:cNvSpPr/>
            <p:nvPr/>
          </p:nvSpPr>
          <p:spPr>
            <a:xfrm>
              <a:off x="5631467" y="2086170"/>
              <a:ext cx="82875" cy="9750"/>
            </a:xfrm>
            <a:custGeom>
              <a:avLst/>
              <a:gdLst>
                <a:gd name="connsiteX0" fmla="*/ 0 w 82875"/>
                <a:gd name="connsiteY0" fmla="*/ 0 h 9750"/>
                <a:gd name="connsiteX1" fmla="*/ 82875 w 82875"/>
                <a:gd name="connsiteY1" fmla="*/ 0 h 9750"/>
                <a:gd name="connsiteX2" fmla="*/ 82875 w 82875"/>
                <a:gd name="connsiteY2" fmla="*/ 9750 h 9750"/>
                <a:gd name="connsiteX3" fmla="*/ 0 w 82875"/>
                <a:gd name="connsiteY3" fmla="*/ 9750 h 9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875" h="9750">
                  <a:moveTo>
                    <a:pt x="0" y="0"/>
                  </a:moveTo>
                  <a:lnTo>
                    <a:pt x="82875" y="0"/>
                  </a:lnTo>
                  <a:lnTo>
                    <a:pt x="82875" y="9750"/>
                  </a:lnTo>
                  <a:lnTo>
                    <a:pt x="0" y="9750"/>
                  </a:lnTo>
                  <a:close/>
                </a:path>
              </a:pathLst>
            </a:custGeom>
            <a:solidFill>
              <a:srgbClr val="000000"/>
            </a:solidFill>
            <a:ln w="48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igura a mano libera: forma 36">
              <a:extLst>
                <a:ext uri="{FF2B5EF4-FFF2-40B4-BE49-F238E27FC236}">
                  <a16:creationId xmlns:a16="http://schemas.microsoft.com/office/drawing/2014/main" id="{36207D9A-49C5-B807-D3B0-2DD0F78C37CD}"/>
                </a:ext>
              </a:extLst>
            </p:cNvPr>
            <p:cNvSpPr/>
            <p:nvPr/>
          </p:nvSpPr>
          <p:spPr>
            <a:xfrm>
              <a:off x="5631467" y="2125170"/>
              <a:ext cx="82875" cy="9750"/>
            </a:xfrm>
            <a:custGeom>
              <a:avLst/>
              <a:gdLst>
                <a:gd name="connsiteX0" fmla="*/ 0 w 82875"/>
                <a:gd name="connsiteY0" fmla="*/ 0 h 9750"/>
                <a:gd name="connsiteX1" fmla="*/ 82875 w 82875"/>
                <a:gd name="connsiteY1" fmla="*/ 0 h 9750"/>
                <a:gd name="connsiteX2" fmla="*/ 82875 w 82875"/>
                <a:gd name="connsiteY2" fmla="*/ 9750 h 9750"/>
                <a:gd name="connsiteX3" fmla="*/ 0 w 82875"/>
                <a:gd name="connsiteY3" fmla="*/ 9750 h 9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875" h="9750">
                  <a:moveTo>
                    <a:pt x="0" y="0"/>
                  </a:moveTo>
                  <a:lnTo>
                    <a:pt x="82875" y="0"/>
                  </a:lnTo>
                  <a:lnTo>
                    <a:pt x="82875" y="9750"/>
                  </a:lnTo>
                  <a:lnTo>
                    <a:pt x="0" y="9750"/>
                  </a:lnTo>
                  <a:close/>
                </a:path>
              </a:pathLst>
            </a:custGeom>
            <a:solidFill>
              <a:srgbClr val="000000"/>
            </a:solidFill>
            <a:ln w="48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Figura a mano libera: forma 37">
              <a:extLst>
                <a:ext uri="{FF2B5EF4-FFF2-40B4-BE49-F238E27FC236}">
                  <a16:creationId xmlns:a16="http://schemas.microsoft.com/office/drawing/2014/main" id="{78968A12-D001-5C8A-37B0-83E92C389F14}"/>
                </a:ext>
              </a:extLst>
            </p:cNvPr>
            <p:cNvSpPr/>
            <p:nvPr/>
          </p:nvSpPr>
          <p:spPr>
            <a:xfrm>
              <a:off x="5529092" y="2203170"/>
              <a:ext cx="82874" cy="9750"/>
            </a:xfrm>
            <a:custGeom>
              <a:avLst/>
              <a:gdLst>
                <a:gd name="connsiteX0" fmla="*/ 0 w 82874"/>
                <a:gd name="connsiteY0" fmla="*/ 0 h 9750"/>
                <a:gd name="connsiteX1" fmla="*/ 82875 w 82874"/>
                <a:gd name="connsiteY1" fmla="*/ 0 h 9750"/>
                <a:gd name="connsiteX2" fmla="*/ 82875 w 82874"/>
                <a:gd name="connsiteY2" fmla="*/ 9750 h 9750"/>
                <a:gd name="connsiteX3" fmla="*/ 0 w 82874"/>
                <a:gd name="connsiteY3" fmla="*/ 9750 h 9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874" h="9750">
                  <a:moveTo>
                    <a:pt x="0" y="0"/>
                  </a:moveTo>
                  <a:lnTo>
                    <a:pt x="82875" y="0"/>
                  </a:lnTo>
                  <a:lnTo>
                    <a:pt x="82875" y="9750"/>
                  </a:lnTo>
                  <a:lnTo>
                    <a:pt x="0" y="9750"/>
                  </a:lnTo>
                  <a:close/>
                </a:path>
              </a:pathLst>
            </a:custGeom>
            <a:solidFill>
              <a:srgbClr val="000000"/>
            </a:solidFill>
            <a:ln w="48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igura a mano libera: forma 38">
              <a:extLst>
                <a:ext uri="{FF2B5EF4-FFF2-40B4-BE49-F238E27FC236}">
                  <a16:creationId xmlns:a16="http://schemas.microsoft.com/office/drawing/2014/main" id="{56B1EA3A-EAC0-D27E-7992-2E399ECDB204}"/>
                </a:ext>
              </a:extLst>
            </p:cNvPr>
            <p:cNvSpPr/>
            <p:nvPr/>
          </p:nvSpPr>
          <p:spPr>
            <a:xfrm>
              <a:off x="5529092" y="2242170"/>
              <a:ext cx="82874" cy="9750"/>
            </a:xfrm>
            <a:custGeom>
              <a:avLst/>
              <a:gdLst>
                <a:gd name="connsiteX0" fmla="*/ 0 w 82874"/>
                <a:gd name="connsiteY0" fmla="*/ 0 h 9750"/>
                <a:gd name="connsiteX1" fmla="*/ 82875 w 82874"/>
                <a:gd name="connsiteY1" fmla="*/ 0 h 9750"/>
                <a:gd name="connsiteX2" fmla="*/ 82875 w 82874"/>
                <a:gd name="connsiteY2" fmla="*/ 9750 h 9750"/>
                <a:gd name="connsiteX3" fmla="*/ 0 w 82874"/>
                <a:gd name="connsiteY3" fmla="*/ 9750 h 9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874" h="9750">
                  <a:moveTo>
                    <a:pt x="0" y="0"/>
                  </a:moveTo>
                  <a:lnTo>
                    <a:pt x="82875" y="0"/>
                  </a:lnTo>
                  <a:lnTo>
                    <a:pt x="82875" y="9750"/>
                  </a:lnTo>
                  <a:lnTo>
                    <a:pt x="0" y="9750"/>
                  </a:lnTo>
                  <a:close/>
                </a:path>
              </a:pathLst>
            </a:custGeom>
            <a:solidFill>
              <a:srgbClr val="CC0000"/>
            </a:solidFill>
            <a:ln w="48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igura a mano libera: forma 39">
              <a:extLst>
                <a:ext uri="{FF2B5EF4-FFF2-40B4-BE49-F238E27FC236}">
                  <a16:creationId xmlns:a16="http://schemas.microsoft.com/office/drawing/2014/main" id="{51CC210E-40D0-9B44-FEAC-573191D5B3FC}"/>
                </a:ext>
              </a:extLst>
            </p:cNvPr>
            <p:cNvSpPr/>
            <p:nvPr/>
          </p:nvSpPr>
          <p:spPr>
            <a:xfrm>
              <a:off x="5490092" y="1993545"/>
              <a:ext cx="312000" cy="316875"/>
            </a:xfrm>
            <a:custGeom>
              <a:avLst/>
              <a:gdLst>
                <a:gd name="connsiteX0" fmla="*/ 263250 w 312000"/>
                <a:gd name="connsiteY0" fmla="*/ 29250 h 316875"/>
                <a:gd name="connsiteX1" fmla="*/ 263250 w 312000"/>
                <a:gd name="connsiteY1" fmla="*/ 0 h 316875"/>
                <a:gd name="connsiteX2" fmla="*/ 0 w 312000"/>
                <a:gd name="connsiteY2" fmla="*/ 0 h 316875"/>
                <a:gd name="connsiteX3" fmla="*/ 0 w 312000"/>
                <a:gd name="connsiteY3" fmla="*/ 282750 h 316875"/>
                <a:gd name="connsiteX4" fmla="*/ 34125 w 312000"/>
                <a:gd name="connsiteY4" fmla="*/ 316875 h 316875"/>
                <a:gd name="connsiteX5" fmla="*/ 282750 w 312000"/>
                <a:gd name="connsiteY5" fmla="*/ 316875 h 316875"/>
                <a:gd name="connsiteX6" fmla="*/ 312000 w 312000"/>
                <a:gd name="connsiteY6" fmla="*/ 287625 h 316875"/>
                <a:gd name="connsiteX7" fmla="*/ 312000 w 312000"/>
                <a:gd name="connsiteY7" fmla="*/ 29250 h 316875"/>
                <a:gd name="connsiteX8" fmla="*/ 9750 w 312000"/>
                <a:gd name="connsiteY8" fmla="*/ 282750 h 316875"/>
                <a:gd name="connsiteX9" fmla="*/ 9750 w 312000"/>
                <a:gd name="connsiteY9" fmla="*/ 9750 h 316875"/>
                <a:gd name="connsiteX10" fmla="*/ 253500 w 312000"/>
                <a:gd name="connsiteY10" fmla="*/ 9750 h 316875"/>
                <a:gd name="connsiteX11" fmla="*/ 253500 w 312000"/>
                <a:gd name="connsiteY11" fmla="*/ 287625 h 316875"/>
                <a:gd name="connsiteX12" fmla="*/ 261007 w 312000"/>
                <a:gd name="connsiteY12" fmla="*/ 307125 h 316875"/>
                <a:gd name="connsiteX13" fmla="*/ 34125 w 312000"/>
                <a:gd name="connsiteY13" fmla="*/ 307125 h 316875"/>
                <a:gd name="connsiteX14" fmla="*/ 9750 w 312000"/>
                <a:gd name="connsiteY14" fmla="*/ 282750 h 316875"/>
                <a:gd name="connsiteX15" fmla="*/ 302250 w 312000"/>
                <a:gd name="connsiteY15" fmla="*/ 287625 h 316875"/>
                <a:gd name="connsiteX16" fmla="*/ 282750 w 312000"/>
                <a:gd name="connsiteY16" fmla="*/ 307125 h 316875"/>
                <a:gd name="connsiteX17" fmla="*/ 263250 w 312000"/>
                <a:gd name="connsiteY17" fmla="*/ 287625 h 316875"/>
                <a:gd name="connsiteX18" fmla="*/ 263250 w 312000"/>
                <a:gd name="connsiteY18" fmla="*/ 39000 h 316875"/>
                <a:gd name="connsiteX19" fmla="*/ 302250 w 312000"/>
                <a:gd name="connsiteY19" fmla="*/ 39000 h 316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12000" h="316875">
                  <a:moveTo>
                    <a:pt x="263250" y="29250"/>
                  </a:moveTo>
                  <a:lnTo>
                    <a:pt x="263250" y="0"/>
                  </a:lnTo>
                  <a:lnTo>
                    <a:pt x="0" y="0"/>
                  </a:lnTo>
                  <a:lnTo>
                    <a:pt x="0" y="282750"/>
                  </a:lnTo>
                  <a:cubicBezTo>
                    <a:pt x="21" y="301588"/>
                    <a:pt x="15287" y="316854"/>
                    <a:pt x="34125" y="316875"/>
                  </a:cubicBezTo>
                  <a:lnTo>
                    <a:pt x="282750" y="316875"/>
                  </a:lnTo>
                  <a:cubicBezTo>
                    <a:pt x="298897" y="316856"/>
                    <a:pt x="311981" y="303772"/>
                    <a:pt x="312000" y="287625"/>
                  </a:cubicBezTo>
                  <a:lnTo>
                    <a:pt x="312000" y="29250"/>
                  </a:lnTo>
                  <a:close/>
                  <a:moveTo>
                    <a:pt x="9750" y="282750"/>
                  </a:moveTo>
                  <a:lnTo>
                    <a:pt x="9750" y="9750"/>
                  </a:lnTo>
                  <a:lnTo>
                    <a:pt x="253500" y="9750"/>
                  </a:lnTo>
                  <a:lnTo>
                    <a:pt x="253500" y="287625"/>
                  </a:lnTo>
                  <a:cubicBezTo>
                    <a:pt x="253502" y="294830"/>
                    <a:pt x="256177" y="301779"/>
                    <a:pt x="261007" y="307125"/>
                  </a:cubicBezTo>
                  <a:lnTo>
                    <a:pt x="34125" y="307125"/>
                  </a:lnTo>
                  <a:cubicBezTo>
                    <a:pt x="20670" y="307109"/>
                    <a:pt x="9766" y="296206"/>
                    <a:pt x="9750" y="282750"/>
                  </a:cubicBezTo>
                  <a:close/>
                  <a:moveTo>
                    <a:pt x="302250" y="287625"/>
                  </a:moveTo>
                  <a:cubicBezTo>
                    <a:pt x="302250" y="298394"/>
                    <a:pt x="293519" y="307125"/>
                    <a:pt x="282750" y="307125"/>
                  </a:cubicBezTo>
                  <a:cubicBezTo>
                    <a:pt x="271981" y="307125"/>
                    <a:pt x="263250" y="298394"/>
                    <a:pt x="263250" y="287625"/>
                  </a:cubicBezTo>
                  <a:lnTo>
                    <a:pt x="263250" y="39000"/>
                  </a:lnTo>
                  <a:lnTo>
                    <a:pt x="302250" y="39000"/>
                  </a:lnTo>
                  <a:close/>
                </a:path>
              </a:pathLst>
            </a:custGeom>
            <a:solidFill>
              <a:srgbClr val="000000"/>
            </a:solidFill>
            <a:ln w="48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47" name="Elemento grafico 46" descr="Lente di ingrandimento contorno">
            <a:extLst>
              <a:ext uri="{FF2B5EF4-FFF2-40B4-BE49-F238E27FC236}">
                <a16:creationId xmlns:a16="http://schemas.microsoft.com/office/drawing/2014/main" id="{C9612107-6647-6484-962C-755D75C012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33962" y="557558"/>
            <a:ext cx="209552" cy="209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0624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A58E0-0C4E-3EB2-6BE3-0145D5802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EEE3253-B3A0-74D2-987F-CF9FDF298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Mock-ups (1)</a:t>
            </a:r>
          </a:p>
        </p:txBody>
      </p:sp>
      <p:sp>
        <p:nvSpPr>
          <p:cNvPr id="5" name="Titolo 1">
            <a:extLst>
              <a:ext uri="{FF2B5EF4-FFF2-40B4-BE49-F238E27FC236}">
                <a16:creationId xmlns:a16="http://schemas.microsoft.com/office/drawing/2014/main" id="{7C8C6160-D696-11A7-69D7-5F5F10C3C904}"/>
              </a:ext>
            </a:extLst>
          </p:cNvPr>
          <p:cNvSpPr txBox="1">
            <a:spLocks/>
          </p:cNvSpPr>
          <p:nvPr/>
        </p:nvSpPr>
        <p:spPr>
          <a:xfrm>
            <a:off x="191101" y="2179448"/>
            <a:ext cx="8761797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/>
              <a:t>Wallet Overview</a:t>
            </a:r>
          </a:p>
        </p:txBody>
      </p:sp>
    </p:spTree>
    <p:extLst>
      <p:ext uri="{BB962C8B-B14F-4D97-AF65-F5344CB8AC3E}">
        <p14:creationId xmlns:p14="http://schemas.microsoft.com/office/powerpoint/2010/main" val="6633239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lemento grafico 6" descr="Lente di ingrandimento contorno">
            <a:extLst>
              <a:ext uri="{FF2B5EF4-FFF2-40B4-BE49-F238E27FC236}">
                <a16:creationId xmlns:a16="http://schemas.microsoft.com/office/drawing/2014/main" id="{1D196C7A-767B-D1D8-DDF8-B68BAB2C00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27622" y="716750"/>
            <a:ext cx="209552" cy="209552"/>
          </a:xfrm>
          <a:prstGeom prst="rect">
            <a:avLst/>
          </a:prstGeom>
        </p:spPr>
      </p:pic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63D9D86A-BF04-ACD5-318B-057AE9AC67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1473473"/>
              </p:ext>
            </p:extLst>
          </p:nvPr>
        </p:nvGraphicFramePr>
        <p:xfrm>
          <a:off x="468461" y="2354737"/>
          <a:ext cx="8134350" cy="119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5017">
                  <a:extLst>
                    <a:ext uri="{9D8B030D-6E8A-4147-A177-3AD203B41FA5}">
                      <a16:colId xmlns:a16="http://schemas.microsoft.com/office/drawing/2014/main" val="1698010719"/>
                    </a:ext>
                  </a:extLst>
                </a:gridCol>
                <a:gridCol w="1330556">
                  <a:extLst>
                    <a:ext uri="{9D8B030D-6E8A-4147-A177-3AD203B41FA5}">
                      <a16:colId xmlns:a16="http://schemas.microsoft.com/office/drawing/2014/main" val="2895983903"/>
                    </a:ext>
                  </a:extLst>
                </a:gridCol>
                <a:gridCol w="884864">
                  <a:extLst>
                    <a:ext uri="{9D8B030D-6E8A-4147-A177-3AD203B41FA5}">
                      <a16:colId xmlns:a16="http://schemas.microsoft.com/office/drawing/2014/main" val="3353183135"/>
                    </a:ext>
                  </a:extLst>
                </a:gridCol>
                <a:gridCol w="810237">
                  <a:extLst>
                    <a:ext uri="{9D8B030D-6E8A-4147-A177-3AD203B41FA5}">
                      <a16:colId xmlns:a16="http://schemas.microsoft.com/office/drawing/2014/main" val="2831039483"/>
                    </a:ext>
                  </a:extLst>
                </a:gridCol>
                <a:gridCol w="820898">
                  <a:extLst>
                    <a:ext uri="{9D8B030D-6E8A-4147-A177-3AD203B41FA5}">
                      <a16:colId xmlns:a16="http://schemas.microsoft.com/office/drawing/2014/main" val="24059853"/>
                    </a:ext>
                  </a:extLst>
                </a:gridCol>
                <a:gridCol w="959492">
                  <a:extLst>
                    <a:ext uri="{9D8B030D-6E8A-4147-A177-3AD203B41FA5}">
                      <a16:colId xmlns:a16="http://schemas.microsoft.com/office/drawing/2014/main" val="3657305502"/>
                    </a:ext>
                  </a:extLst>
                </a:gridCol>
                <a:gridCol w="650321">
                  <a:extLst>
                    <a:ext uri="{9D8B030D-6E8A-4147-A177-3AD203B41FA5}">
                      <a16:colId xmlns:a16="http://schemas.microsoft.com/office/drawing/2014/main" val="855564020"/>
                    </a:ext>
                  </a:extLst>
                </a:gridCol>
                <a:gridCol w="692965">
                  <a:extLst>
                    <a:ext uri="{9D8B030D-6E8A-4147-A177-3AD203B41FA5}">
                      <a16:colId xmlns:a16="http://schemas.microsoft.com/office/drawing/2014/main" val="17041715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ova Light" panose="020B0304020202020204" pitchFamily="34" charset="0"/>
                        </a:rPr>
                        <a:t>PRODUCT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ova Light" panose="020B0304020202020204" pitchFamily="34" charset="0"/>
                        </a:rPr>
                        <a:t>SYMBOL|ISIN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ova Light" panose="020B0304020202020204" pitchFamily="34" charset="0"/>
                        </a:rPr>
                        <a:t>QTY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ova Light" panose="020B0304020202020204" pitchFamily="34" charset="0"/>
                        </a:rPr>
                        <a:t>PRICE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ova Light" panose="020B0304020202020204" pitchFamily="34" charset="0"/>
                        </a:rPr>
                        <a:t>CURR.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ova Light" panose="020B0304020202020204" pitchFamily="34" charset="0"/>
                        </a:rPr>
                        <a:t>VALUE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ova Light" panose="020B0304020202020204" pitchFamily="34" charset="0"/>
                        </a:rPr>
                        <a:t>BEP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ova Light" panose="020B0304020202020204" pitchFamily="34" charset="0"/>
                        </a:rPr>
                        <a:t>P/L $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0789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/>
                      <a:r>
                        <a:rPr lang="en-US" sz="1200" dirty="0">
                          <a:latin typeface="Arial Nova Light" panose="020B0304020202020204" pitchFamily="34" charset="0"/>
                        </a:rPr>
                        <a:t>Tesla, Inc.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latin typeface="Arial Nova Light" panose="020B0304020202020204" pitchFamily="34" charset="0"/>
                        </a:rPr>
                        <a:t>TSLA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latin typeface="Arial Nova Light" panose="020B0304020202020204" pitchFamily="34" charset="0"/>
                        </a:rPr>
                        <a:t>10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latin typeface="Arial Nova Light" panose="020B0304020202020204" pitchFamily="34" charset="0"/>
                        </a:rPr>
                        <a:t>$447,86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latin typeface="Arial Nova Light" panose="020B0304020202020204" pitchFamily="34" charset="0"/>
                        </a:rPr>
                        <a:t>USD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latin typeface="Arial Nova Light" panose="020B0304020202020204" pitchFamily="34" charset="0"/>
                        </a:rPr>
                        <a:t>4470,6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latin typeface="Arial Nova Light" panose="020B0304020202020204" pitchFamily="34" charset="0"/>
                        </a:rPr>
                        <a:t>430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accent3"/>
                          </a:solidFill>
                          <a:latin typeface="Arial Nova Light" panose="020B0304020202020204" pitchFamily="34" charset="0"/>
                        </a:rPr>
                        <a:t>+6,8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5769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latin typeface="Arial Nova Light" panose="020B0304020202020204" pitchFamily="34" charset="0"/>
                        </a:rPr>
                        <a:t>NVIDIA </a:t>
                      </a:r>
                    </a:p>
                    <a:p>
                      <a:pPr algn="l"/>
                      <a:r>
                        <a:rPr lang="en-US" sz="1200" dirty="0">
                          <a:latin typeface="Arial Nova Light" panose="020B0304020202020204" pitchFamily="34" charset="0"/>
                        </a:rPr>
                        <a:t>Corporation</a:t>
                      </a:r>
                    </a:p>
                  </a:txBody>
                  <a:tcPr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latin typeface="Arial Nova Light" panose="020B0304020202020204" pitchFamily="34" charset="0"/>
                        </a:rPr>
                        <a:t>NVDA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latin typeface="Arial Nova Light" panose="020B0304020202020204" pitchFamily="34" charset="0"/>
                        </a:rPr>
                        <a:t>50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latin typeface="Arial Nova Light" panose="020B0304020202020204" pitchFamily="34" charset="0"/>
                        </a:rPr>
                        <a:t>$196,85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latin typeface="Arial Nova Light" panose="020B0304020202020204" pitchFamily="34" charset="0"/>
                        </a:rPr>
                        <a:t>USD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latin typeface="Arial Nova Light" panose="020B0304020202020204" pitchFamily="34" charset="0"/>
                        </a:rPr>
                        <a:t>9842,5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latin typeface="Arial Nova Light" panose="020B0304020202020204" pitchFamily="34" charset="0"/>
                        </a:rPr>
                        <a:t>200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C00000"/>
                          </a:solidFill>
                          <a:latin typeface="Arial Nova Light" panose="020B0304020202020204" pitchFamily="34" charset="0"/>
                        </a:rPr>
                        <a:t>-35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6309220"/>
                  </a:ext>
                </a:extLst>
              </a:tr>
            </a:tbl>
          </a:graphicData>
        </a:graphic>
      </p:graphicFrame>
      <p:grpSp>
        <p:nvGrpSpPr>
          <p:cNvPr id="21" name="Gruppo 20">
            <a:extLst>
              <a:ext uri="{FF2B5EF4-FFF2-40B4-BE49-F238E27FC236}">
                <a16:creationId xmlns:a16="http://schemas.microsoft.com/office/drawing/2014/main" id="{35E84534-D589-BBC2-9503-5E8E2C09D6B4}"/>
              </a:ext>
            </a:extLst>
          </p:cNvPr>
          <p:cNvGrpSpPr/>
          <p:nvPr/>
        </p:nvGrpSpPr>
        <p:grpSpPr>
          <a:xfrm>
            <a:off x="1362075" y="3133326"/>
            <a:ext cx="848138" cy="223202"/>
            <a:chOff x="1853641" y="3716179"/>
            <a:chExt cx="877138" cy="223202"/>
          </a:xfrm>
        </p:grpSpPr>
        <p:sp>
          <p:nvSpPr>
            <p:cNvPr id="9" name="Rettangolo con angoli arrotondati 8">
              <a:extLst>
                <a:ext uri="{FF2B5EF4-FFF2-40B4-BE49-F238E27FC236}">
                  <a16:creationId xmlns:a16="http://schemas.microsoft.com/office/drawing/2014/main" id="{C523E03F-1C90-AAB3-8670-ED71BC6BC316}"/>
                </a:ext>
              </a:extLst>
            </p:cNvPr>
            <p:cNvSpPr/>
            <p:nvPr/>
          </p:nvSpPr>
          <p:spPr>
            <a:xfrm>
              <a:off x="1853641" y="3716179"/>
              <a:ext cx="292379" cy="223202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b="1" dirty="0">
                  <a:latin typeface="Arial Nova Light" panose="020B0304020202020204" pitchFamily="34" charset="0"/>
                  <a:ea typeface="DengXian" panose="02010600030101010101" pitchFamily="2" charset="-122"/>
                </a:rPr>
                <a:t>B</a:t>
              </a:r>
            </a:p>
          </p:txBody>
        </p:sp>
        <p:sp>
          <p:nvSpPr>
            <p:cNvPr id="10" name="Rettangolo con angoli arrotondati 9">
              <a:extLst>
                <a:ext uri="{FF2B5EF4-FFF2-40B4-BE49-F238E27FC236}">
                  <a16:creationId xmlns:a16="http://schemas.microsoft.com/office/drawing/2014/main" id="{7EB8C89D-B6E9-A6EC-892B-BA9B8F7F5451}"/>
                </a:ext>
              </a:extLst>
            </p:cNvPr>
            <p:cNvSpPr/>
            <p:nvPr/>
          </p:nvSpPr>
          <p:spPr>
            <a:xfrm>
              <a:off x="2146021" y="3716179"/>
              <a:ext cx="292379" cy="223202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b="1" dirty="0">
                  <a:latin typeface="Arial Nova Light" panose="020B0304020202020204" pitchFamily="34" charset="0"/>
                  <a:ea typeface="DengXian" panose="02010600030101010101" pitchFamily="2" charset="-122"/>
                </a:rPr>
                <a:t>S</a:t>
              </a:r>
            </a:p>
          </p:txBody>
        </p:sp>
        <p:sp>
          <p:nvSpPr>
            <p:cNvPr id="13" name="Rettangolo con angoli arrotondati 12">
              <a:extLst>
                <a:ext uri="{FF2B5EF4-FFF2-40B4-BE49-F238E27FC236}">
                  <a16:creationId xmlns:a16="http://schemas.microsoft.com/office/drawing/2014/main" id="{87F0BDED-47E6-CF44-C104-89A722F3E613}"/>
                </a:ext>
              </a:extLst>
            </p:cNvPr>
            <p:cNvSpPr/>
            <p:nvPr/>
          </p:nvSpPr>
          <p:spPr>
            <a:xfrm>
              <a:off x="2438400" y="3716179"/>
              <a:ext cx="292379" cy="22320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 b="1" dirty="0">
                <a:latin typeface="Arial Nova Light" panose="020B0304020202020204" pitchFamily="34" charset="0"/>
                <a:ea typeface="DengXian" panose="02010600030101010101" pitchFamily="2" charset="-122"/>
              </a:endParaRPr>
            </a:p>
          </p:txBody>
        </p:sp>
        <p:grpSp>
          <p:nvGrpSpPr>
            <p:cNvPr id="20" name="Gruppo 19">
              <a:extLst>
                <a:ext uri="{FF2B5EF4-FFF2-40B4-BE49-F238E27FC236}">
                  <a16:creationId xmlns:a16="http://schemas.microsoft.com/office/drawing/2014/main" id="{2FF47026-F930-D15E-5380-6F7592065824}"/>
                </a:ext>
              </a:extLst>
            </p:cNvPr>
            <p:cNvGrpSpPr/>
            <p:nvPr/>
          </p:nvGrpSpPr>
          <p:grpSpPr>
            <a:xfrm>
              <a:off x="2501245" y="3744436"/>
              <a:ext cx="166687" cy="166687"/>
              <a:chOff x="2224088" y="3014663"/>
              <a:chExt cx="647700" cy="647700"/>
            </a:xfrm>
          </p:grpSpPr>
          <p:sp>
            <p:nvSpPr>
              <p:cNvPr id="17" name="Figura a mano libera: forma 16">
                <a:extLst>
                  <a:ext uri="{FF2B5EF4-FFF2-40B4-BE49-F238E27FC236}">
                    <a16:creationId xmlns:a16="http://schemas.microsoft.com/office/drawing/2014/main" id="{FF0E1EDC-52B6-32FC-D446-EFEEBC224586}"/>
                  </a:ext>
                </a:extLst>
              </p:cNvPr>
              <p:cNvSpPr/>
              <p:nvPr/>
            </p:nvSpPr>
            <p:spPr>
              <a:xfrm>
                <a:off x="2224088" y="3014663"/>
                <a:ext cx="647700" cy="647700"/>
              </a:xfrm>
              <a:custGeom>
                <a:avLst/>
                <a:gdLst>
                  <a:gd name="connsiteX0" fmla="*/ 57150 w 647700"/>
                  <a:gd name="connsiteY0" fmla="*/ 0 h 647700"/>
                  <a:gd name="connsiteX1" fmla="*/ 0 w 647700"/>
                  <a:gd name="connsiteY1" fmla="*/ 0 h 647700"/>
                  <a:gd name="connsiteX2" fmla="*/ 0 w 647700"/>
                  <a:gd name="connsiteY2" fmla="*/ 647700 h 647700"/>
                  <a:gd name="connsiteX3" fmla="*/ 647700 w 647700"/>
                  <a:gd name="connsiteY3" fmla="*/ 647700 h 647700"/>
                  <a:gd name="connsiteX4" fmla="*/ 647700 w 647700"/>
                  <a:gd name="connsiteY4" fmla="*/ 590550 h 647700"/>
                  <a:gd name="connsiteX5" fmla="*/ 57150 w 647700"/>
                  <a:gd name="connsiteY5" fmla="*/ 590550 h 647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47700" h="647700">
                    <a:moveTo>
                      <a:pt x="57150" y="0"/>
                    </a:moveTo>
                    <a:lnTo>
                      <a:pt x="0" y="0"/>
                    </a:lnTo>
                    <a:lnTo>
                      <a:pt x="0" y="647700"/>
                    </a:lnTo>
                    <a:lnTo>
                      <a:pt x="647700" y="647700"/>
                    </a:lnTo>
                    <a:lnTo>
                      <a:pt x="647700" y="590550"/>
                    </a:lnTo>
                    <a:lnTo>
                      <a:pt x="57150" y="590550"/>
                    </a:lnTo>
                    <a:close/>
                  </a:path>
                </a:pathLst>
              </a:custGeom>
              <a:solidFill>
                <a:schemeClr val="bg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igura a mano libera: forma 17">
                <a:extLst>
                  <a:ext uri="{FF2B5EF4-FFF2-40B4-BE49-F238E27FC236}">
                    <a16:creationId xmlns:a16="http://schemas.microsoft.com/office/drawing/2014/main" id="{4C9C5D13-0216-CD96-0D3C-3F4452102E95}"/>
                  </a:ext>
                </a:extLst>
              </p:cNvPr>
              <p:cNvSpPr/>
              <p:nvPr/>
            </p:nvSpPr>
            <p:spPr>
              <a:xfrm>
                <a:off x="2318385" y="3176588"/>
                <a:ext cx="553402" cy="324802"/>
              </a:xfrm>
              <a:custGeom>
                <a:avLst/>
                <a:gdLst>
                  <a:gd name="connsiteX0" fmla="*/ 401003 w 553402"/>
                  <a:gd name="connsiteY0" fmla="*/ 0 h 324802"/>
                  <a:gd name="connsiteX1" fmla="*/ 457200 w 553402"/>
                  <a:gd name="connsiteY1" fmla="*/ 56198 h 324802"/>
                  <a:gd name="connsiteX2" fmla="*/ 381953 w 553402"/>
                  <a:gd name="connsiteY2" fmla="*/ 131445 h 324802"/>
                  <a:gd name="connsiteX3" fmla="*/ 324803 w 553402"/>
                  <a:gd name="connsiteY3" fmla="*/ 74295 h 324802"/>
                  <a:gd name="connsiteX4" fmla="*/ 229553 w 553402"/>
                  <a:gd name="connsiteY4" fmla="*/ 169545 h 324802"/>
                  <a:gd name="connsiteX5" fmla="*/ 172403 w 553402"/>
                  <a:gd name="connsiteY5" fmla="*/ 112395 h 324802"/>
                  <a:gd name="connsiteX6" fmla="*/ 0 w 553402"/>
                  <a:gd name="connsiteY6" fmla="*/ 284798 h 324802"/>
                  <a:gd name="connsiteX7" fmla="*/ 40005 w 553402"/>
                  <a:gd name="connsiteY7" fmla="*/ 324803 h 324802"/>
                  <a:gd name="connsiteX8" fmla="*/ 172403 w 553402"/>
                  <a:gd name="connsiteY8" fmla="*/ 192405 h 324802"/>
                  <a:gd name="connsiteX9" fmla="*/ 229553 w 553402"/>
                  <a:gd name="connsiteY9" fmla="*/ 249555 h 324802"/>
                  <a:gd name="connsiteX10" fmla="*/ 324803 w 553402"/>
                  <a:gd name="connsiteY10" fmla="*/ 154305 h 324802"/>
                  <a:gd name="connsiteX11" fmla="*/ 381953 w 553402"/>
                  <a:gd name="connsiteY11" fmla="*/ 211455 h 324802"/>
                  <a:gd name="connsiteX12" fmla="*/ 497205 w 553402"/>
                  <a:gd name="connsiteY12" fmla="*/ 96202 h 324802"/>
                  <a:gd name="connsiteX13" fmla="*/ 553403 w 553402"/>
                  <a:gd name="connsiteY13" fmla="*/ 152400 h 324802"/>
                  <a:gd name="connsiteX14" fmla="*/ 553403 w 553402"/>
                  <a:gd name="connsiteY14" fmla="*/ 0 h 324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553402" h="324802">
                    <a:moveTo>
                      <a:pt x="401003" y="0"/>
                    </a:moveTo>
                    <a:lnTo>
                      <a:pt x="457200" y="56198"/>
                    </a:lnTo>
                    <a:lnTo>
                      <a:pt x="381953" y="131445"/>
                    </a:lnTo>
                    <a:lnTo>
                      <a:pt x="324803" y="74295"/>
                    </a:lnTo>
                    <a:lnTo>
                      <a:pt x="229553" y="169545"/>
                    </a:lnTo>
                    <a:lnTo>
                      <a:pt x="172403" y="112395"/>
                    </a:lnTo>
                    <a:lnTo>
                      <a:pt x="0" y="284798"/>
                    </a:lnTo>
                    <a:lnTo>
                      <a:pt x="40005" y="324803"/>
                    </a:lnTo>
                    <a:lnTo>
                      <a:pt x="172403" y="192405"/>
                    </a:lnTo>
                    <a:lnTo>
                      <a:pt x="229553" y="249555"/>
                    </a:lnTo>
                    <a:lnTo>
                      <a:pt x="324803" y="154305"/>
                    </a:lnTo>
                    <a:lnTo>
                      <a:pt x="381953" y="211455"/>
                    </a:lnTo>
                    <a:lnTo>
                      <a:pt x="497205" y="96202"/>
                    </a:lnTo>
                    <a:lnTo>
                      <a:pt x="553403" y="152400"/>
                    </a:lnTo>
                    <a:lnTo>
                      <a:pt x="553403" y="0"/>
                    </a:lnTo>
                    <a:close/>
                  </a:path>
                </a:pathLst>
              </a:custGeom>
              <a:solidFill>
                <a:schemeClr val="bg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grpSp>
        <p:nvGrpSpPr>
          <p:cNvPr id="22" name="Gruppo 21">
            <a:extLst>
              <a:ext uri="{FF2B5EF4-FFF2-40B4-BE49-F238E27FC236}">
                <a16:creationId xmlns:a16="http://schemas.microsoft.com/office/drawing/2014/main" id="{10617C0B-CDBB-7518-F007-9BFDB164DEF6}"/>
              </a:ext>
            </a:extLst>
          </p:cNvPr>
          <p:cNvGrpSpPr/>
          <p:nvPr/>
        </p:nvGrpSpPr>
        <p:grpSpPr>
          <a:xfrm>
            <a:off x="1362075" y="2799396"/>
            <a:ext cx="848138" cy="223202"/>
            <a:chOff x="1853641" y="3716179"/>
            <a:chExt cx="877138" cy="223202"/>
          </a:xfrm>
        </p:grpSpPr>
        <p:sp>
          <p:nvSpPr>
            <p:cNvPr id="23" name="Rettangolo con angoli arrotondati 22">
              <a:extLst>
                <a:ext uri="{FF2B5EF4-FFF2-40B4-BE49-F238E27FC236}">
                  <a16:creationId xmlns:a16="http://schemas.microsoft.com/office/drawing/2014/main" id="{64B874B1-4F34-1FAF-8BFC-97623F86F2E9}"/>
                </a:ext>
              </a:extLst>
            </p:cNvPr>
            <p:cNvSpPr/>
            <p:nvPr/>
          </p:nvSpPr>
          <p:spPr>
            <a:xfrm>
              <a:off x="1853641" y="3716179"/>
              <a:ext cx="292379" cy="223202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b="1" dirty="0">
                  <a:latin typeface="Arial Nova Light" panose="020B0304020202020204" pitchFamily="34" charset="0"/>
                  <a:ea typeface="DengXian" panose="02010600030101010101" pitchFamily="2" charset="-122"/>
                </a:rPr>
                <a:t>B</a:t>
              </a:r>
            </a:p>
          </p:txBody>
        </p:sp>
        <p:sp>
          <p:nvSpPr>
            <p:cNvPr id="24" name="Rettangolo con angoli arrotondati 23">
              <a:extLst>
                <a:ext uri="{FF2B5EF4-FFF2-40B4-BE49-F238E27FC236}">
                  <a16:creationId xmlns:a16="http://schemas.microsoft.com/office/drawing/2014/main" id="{61B8C63F-C76B-1347-7994-261A85FA2959}"/>
                </a:ext>
              </a:extLst>
            </p:cNvPr>
            <p:cNvSpPr/>
            <p:nvPr/>
          </p:nvSpPr>
          <p:spPr>
            <a:xfrm>
              <a:off x="2146021" y="3716179"/>
              <a:ext cx="292379" cy="223202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b="1" dirty="0">
                  <a:latin typeface="Arial Nova Light" panose="020B0304020202020204" pitchFamily="34" charset="0"/>
                  <a:ea typeface="DengXian" panose="02010600030101010101" pitchFamily="2" charset="-122"/>
                </a:rPr>
                <a:t>S</a:t>
              </a:r>
            </a:p>
          </p:txBody>
        </p:sp>
        <p:sp>
          <p:nvSpPr>
            <p:cNvPr id="25" name="Rettangolo con angoli arrotondati 24">
              <a:extLst>
                <a:ext uri="{FF2B5EF4-FFF2-40B4-BE49-F238E27FC236}">
                  <a16:creationId xmlns:a16="http://schemas.microsoft.com/office/drawing/2014/main" id="{8AFA37E9-C6AF-552E-83AD-261B54729876}"/>
                </a:ext>
              </a:extLst>
            </p:cNvPr>
            <p:cNvSpPr/>
            <p:nvPr/>
          </p:nvSpPr>
          <p:spPr>
            <a:xfrm>
              <a:off x="2438400" y="3716179"/>
              <a:ext cx="292379" cy="22320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 b="1" dirty="0">
                <a:latin typeface="Arial Nova Light" panose="020B0304020202020204" pitchFamily="34" charset="0"/>
                <a:ea typeface="DengXian" panose="02010600030101010101" pitchFamily="2" charset="-122"/>
              </a:endParaRPr>
            </a:p>
          </p:txBody>
        </p:sp>
        <p:grpSp>
          <p:nvGrpSpPr>
            <p:cNvPr id="26" name="Gruppo 25">
              <a:extLst>
                <a:ext uri="{FF2B5EF4-FFF2-40B4-BE49-F238E27FC236}">
                  <a16:creationId xmlns:a16="http://schemas.microsoft.com/office/drawing/2014/main" id="{A939717C-334C-5A34-BF8C-6CAEDAAACBC1}"/>
                </a:ext>
              </a:extLst>
            </p:cNvPr>
            <p:cNvGrpSpPr/>
            <p:nvPr/>
          </p:nvGrpSpPr>
          <p:grpSpPr>
            <a:xfrm>
              <a:off x="2501245" y="3744436"/>
              <a:ext cx="166687" cy="166687"/>
              <a:chOff x="2224088" y="3014663"/>
              <a:chExt cx="647700" cy="647700"/>
            </a:xfrm>
          </p:grpSpPr>
          <p:sp>
            <p:nvSpPr>
              <p:cNvPr id="27" name="Figura a mano libera: forma 26">
                <a:extLst>
                  <a:ext uri="{FF2B5EF4-FFF2-40B4-BE49-F238E27FC236}">
                    <a16:creationId xmlns:a16="http://schemas.microsoft.com/office/drawing/2014/main" id="{D9A85458-F9DB-1D7E-23EF-6D606131F8E0}"/>
                  </a:ext>
                </a:extLst>
              </p:cNvPr>
              <p:cNvSpPr/>
              <p:nvPr/>
            </p:nvSpPr>
            <p:spPr>
              <a:xfrm>
                <a:off x="2224088" y="3014663"/>
                <a:ext cx="647700" cy="647700"/>
              </a:xfrm>
              <a:custGeom>
                <a:avLst/>
                <a:gdLst>
                  <a:gd name="connsiteX0" fmla="*/ 57150 w 647700"/>
                  <a:gd name="connsiteY0" fmla="*/ 0 h 647700"/>
                  <a:gd name="connsiteX1" fmla="*/ 0 w 647700"/>
                  <a:gd name="connsiteY1" fmla="*/ 0 h 647700"/>
                  <a:gd name="connsiteX2" fmla="*/ 0 w 647700"/>
                  <a:gd name="connsiteY2" fmla="*/ 647700 h 647700"/>
                  <a:gd name="connsiteX3" fmla="*/ 647700 w 647700"/>
                  <a:gd name="connsiteY3" fmla="*/ 647700 h 647700"/>
                  <a:gd name="connsiteX4" fmla="*/ 647700 w 647700"/>
                  <a:gd name="connsiteY4" fmla="*/ 590550 h 647700"/>
                  <a:gd name="connsiteX5" fmla="*/ 57150 w 647700"/>
                  <a:gd name="connsiteY5" fmla="*/ 590550 h 647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47700" h="647700">
                    <a:moveTo>
                      <a:pt x="57150" y="0"/>
                    </a:moveTo>
                    <a:lnTo>
                      <a:pt x="0" y="0"/>
                    </a:lnTo>
                    <a:lnTo>
                      <a:pt x="0" y="647700"/>
                    </a:lnTo>
                    <a:lnTo>
                      <a:pt x="647700" y="647700"/>
                    </a:lnTo>
                    <a:lnTo>
                      <a:pt x="647700" y="590550"/>
                    </a:lnTo>
                    <a:lnTo>
                      <a:pt x="57150" y="590550"/>
                    </a:lnTo>
                    <a:close/>
                  </a:path>
                </a:pathLst>
              </a:custGeom>
              <a:solidFill>
                <a:schemeClr val="bg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" name="Figura a mano libera: forma 27">
                <a:extLst>
                  <a:ext uri="{FF2B5EF4-FFF2-40B4-BE49-F238E27FC236}">
                    <a16:creationId xmlns:a16="http://schemas.microsoft.com/office/drawing/2014/main" id="{EA45E2EC-3F36-B801-8A0B-128105450D9B}"/>
                  </a:ext>
                </a:extLst>
              </p:cNvPr>
              <p:cNvSpPr/>
              <p:nvPr/>
            </p:nvSpPr>
            <p:spPr>
              <a:xfrm>
                <a:off x="2318385" y="3176588"/>
                <a:ext cx="553402" cy="324802"/>
              </a:xfrm>
              <a:custGeom>
                <a:avLst/>
                <a:gdLst>
                  <a:gd name="connsiteX0" fmla="*/ 401003 w 553402"/>
                  <a:gd name="connsiteY0" fmla="*/ 0 h 324802"/>
                  <a:gd name="connsiteX1" fmla="*/ 457200 w 553402"/>
                  <a:gd name="connsiteY1" fmla="*/ 56198 h 324802"/>
                  <a:gd name="connsiteX2" fmla="*/ 381953 w 553402"/>
                  <a:gd name="connsiteY2" fmla="*/ 131445 h 324802"/>
                  <a:gd name="connsiteX3" fmla="*/ 324803 w 553402"/>
                  <a:gd name="connsiteY3" fmla="*/ 74295 h 324802"/>
                  <a:gd name="connsiteX4" fmla="*/ 229553 w 553402"/>
                  <a:gd name="connsiteY4" fmla="*/ 169545 h 324802"/>
                  <a:gd name="connsiteX5" fmla="*/ 172403 w 553402"/>
                  <a:gd name="connsiteY5" fmla="*/ 112395 h 324802"/>
                  <a:gd name="connsiteX6" fmla="*/ 0 w 553402"/>
                  <a:gd name="connsiteY6" fmla="*/ 284798 h 324802"/>
                  <a:gd name="connsiteX7" fmla="*/ 40005 w 553402"/>
                  <a:gd name="connsiteY7" fmla="*/ 324803 h 324802"/>
                  <a:gd name="connsiteX8" fmla="*/ 172403 w 553402"/>
                  <a:gd name="connsiteY8" fmla="*/ 192405 h 324802"/>
                  <a:gd name="connsiteX9" fmla="*/ 229553 w 553402"/>
                  <a:gd name="connsiteY9" fmla="*/ 249555 h 324802"/>
                  <a:gd name="connsiteX10" fmla="*/ 324803 w 553402"/>
                  <a:gd name="connsiteY10" fmla="*/ 154305 h 324802"/>
                  <a:gd name="connsiteX11" fmla="*/ 381953 w 553402"/>
                  <a:gd name="connsiteY11" fmla="*/ 211455 h 324802"/>
                  <a:gd name="connsiteX12" fmla="*/ 497205 w 553402"/>
                  <a:gd name="connsiteY12" fmla="*/ 96202 h 324802"/>
                  <a:gd name="connsiteX13" fmla="*/ 553403 w 553402"/>
                  <a:gd name="connsiteY13" fmla="*/ 152400 h 324802"/>
                  <a:gd name="connsiteX14" fmla="*/ 553403 w 553402"/>
                  <a:gd name="connsiteY14" fmla="*/ 0 h 324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553402" h="324802">
                    <a:moveTo>
                      <a:pt x="401003" y="0"/>
                    </a:moveTo>
                    <a:lnTo>
                      <a:pt x="457200" y="56198"/>
                    </a:lnTo>
                    <a:lnTo>
                      <a:pt x="381953" y="131445"/>
                    </a:lnTo>
                    <a:lnTo>
                      <a:pt x="324803" y="74295"/>
                    </a:lnTo>
                    <a:lnTo>
                      <a:pt x="229553" y="169545"/>
                    </a:lnTo>
                    <a:lnTo>
                      <a:pt x="172403" y="112395"/>
                    </a:lnTo>
                    <a:lnTo>
                      <a:pt x="0" y="284798"/>
                    </a:lnTo>
                    <a:lnTo>
                      <a:pt x="40005" y="324803"/>
                    </a:lnTo>
                    <a:lnTo>
                      <a:pt x="172403" y="192405"/>
                    </a:lnTo>
                    <a:lnTo>
                      <a:pt x="229553" y="249555"/>
                    </a:lnTo>
                    <a:lnTo>
                      <a:pt x="324803" y="154305"/>
                    </a:lnTo>
                    <a:lnTo>
                      <a:pt x="381953" y="211455"/>
                    </a:lnTo>
                    <a:lnTo>
                      <a:pt x="497205" y="96202"/>
                    </a:lnTo>
                    <a:lnTo>
                      <a:pt x="553403" y="152400"/>
                    </a:lnTo>
                    <a:lnTo>
                      <a:pt x="553403" y="0"/>
                    </a:lnTo>
                    <a:close/>
                  </a:path>
                </a:pathLst>
              </a:custGeom>
              <a:solidFill>
                <a:schemeClr val="bg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FDC288D0-5FD8-A7A8-FEAA-8DA67FB2A1A3}"/>
              </a:ext>
            </a:extLst>
          </p:cNvPr>
          <p:cNvSpPr txBox="1"/>
          <p:nvPr/>
        </p:nvSpPr>
        <p:spPr>
          <a:xfrm>
            <a:off x="438150" y="1969337"/>
            <a:ext cx="1847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Arial Nova Light" panose="020B0304020202020204" pitchFamily="34" charset="0"/>
              </a:rPr>
              <a:t>Shares</a:t>
            </a:r>
          </a:p>
        </p:txBody>
      </p:sp>
      <p:graphicFrame>
        <p:nvGraphicFramePr>
          <p:cNvPr id="30" name="Tabella 29">
            <a:extLst>
              <a:ext uri="{FF2B5EF4-FFF2-40B4-BE49-F238E27FC236}">
                <a16:creationId xmlns:a16="http://schemas.microsoft.com/office/drawing/2014/main" id="{97A3A399-8019-DFEA-A5E2-DDB76287EE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9468048"/>
              </p:ext>
            </p:extLst>
          </p:nvPr>
        </p:nvGraphicFramePr>
        <p:xfrm>
          <a:off x="468461" y="4112330"/>
          <a:ext cx="8134350" cy="101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5017">
                  <a:extLst>
                    <a:ext uri="{9D8B030D-6E8A-4147-A177-3AD203B41FA5}">
                      <a16:colId xmlns:a16="http://schemas.microsoft.com/office/drawing/2014/main" val="1698010719"/>
                    </a:ext>
                  </a:extLst>
                </a:gridCol>
                <a:gridCol w="1330556">
                  <a:extLst>
                    <a:ext uri="{9D8B030D-6E8A-4147-A177-3AD203B41FA5}">
                      <a16:colId xmlns:a16="http://schemas.microsoft.com/office/drawing/2014/main" val="2895983903"/>
                    </a:ext>
                  </a:extLst>
                </a:gridCol>
                <a:gridCol w="884864">
                  <a:extLst>
                    <a:ext uri="{9D8B030D-6E8A-4147-A177-3AD203B41FA5}">
                      <a16:colId xmlns:a16="http://schemas.microsoft.com/office/drawing/2014/main" val="3353183135"/>
                    </a:ext>
                  </a:extLst>
                </a:gridCol>
                <a:gridCol w="810237">
                  <a:extLst>
                    <a:ext uri="{9D8B030D-6E8A-4147-A177-3AD203B41FA5}">
                      <a16:colId xmlns:a16="http://schemas.microsoft.com/office/drawing/2014/main" val="2831039483"/>
                    </a:ext>
                  </a:extLst>
                </a:gridCol>
                <a:gridCol w="820898">
                  <a:extLst>
                    <a:ext uri="{9D8B030D-6E8A-4147-A177-3AD203B41FA5}">
                      <a16:colId xmlns:a16="http://schemas.microsoft.com/office/drawing/2014/main" val="24059853"/>
                    </a:ext>
                  </a:extLst>
                </a:gridCol>
                <a:gridCol w="959492">
                  <a:extLst>
                    <a:ext uri="{9D8B030D-6E8A-4147-A177-3AD203B41FA5}">
                      <a16:colId xmlns:a16="http://schemas.microsoft.com/office/drawing/2014/main" val="3657305502"/>
                    </a:ext>
                  </a:extLst>
                </a:gridCol>
                <a:gridCol w="650321">
                  <a:extLst>
                    <a:ext uri="{9D8B030D-6E8A-4147-A177-3AD203B41FA5}">
                      <a16:colId xmlns:a16="http://schemas.microsoft.com/office/drawing/2014/main" val="855564020"/>
                    </a:ext>
                  </a:extLst>
                </a:gridCol>
                <a:gridCol w="692965">
                  <a:extLst>
                    <a:ext uri="{9D8B030D-6E8A-4147-A177-3AD203B41FA5}">
                      <a16:colId xmlns:a16="http://schemas.microsoft.com/office/drawing/2014/main" val="17041715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ova Light" panose="020B0304020202020204" pitchFamily="34" charset="0"/>
                        </a:rPr>
                        <a:t>PRODUCT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ova Light" panose="020B0304020202020204" pitchFamily="34" charset="0"/>
                        </a:rPr>
                        <a:t>SYMBOL|ISIN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ova Light" panose="020B0304020202020204" pitchFamily="34" charset="0"/>
                        </a:rPr>
                        <a:t>QTY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ova Light" panose="020B0304020202020204" pitchFamily="34" charset="0"/>
                        </a:rPr>
                        <a:t>PRICE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ova Light" panose="020B0304020202020204" pitchFamily="34" charset="0"/>
                        </a:rPr>
                        <a:t>CURR.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ova Light" panose="020B0304020202020204" pitchFamily="34" charset="0"/>
                        </a:rPr>
                        <a:t>VALUE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ova Light" panose="020B0304020202020204" pitchFamily="34" charset="0"/>
                        </a:rPr>
                        <a:t>BEP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ova Light" panose="020B0304020202020204" pitchFamily="34" charset="0"/>
                        </a:rPr>
                        <a:t>P/L $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0789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/>
                      <a:r>
                        <a:rPr lang="en-US" sz="1200" dirty="0">
                          <a:latin typeface="Arial Nova Light" panose="020B0304020202020204" pitchFamily="34" charset="0"/>
                        </a:rPr>
                        <a:t>iShares Core </a:t>
                      </a:r>
                    </a:p>
                    <a:p>
                      <a:pPr marL="0" indent="0" algn="l"/>
                      <a:r>
                        <a:rPr lang="en-US" sz="1200" dirty="0">
                          <a:latin typeface="Arial Nova Light" panose="020B0304020202020204" pitchFamily="34" charset="0"/>
                        </a:rPr>
                        <a:t>MSCI World </a:t>
                      </a:r>
                    </a:p>
                    <a:p>
                      <a:pPr marL="0" indent="0" algn="l"/>
                      <a:r>
                        <a:rPr lang="en-US" sz="1200" dirty="0">
                          <a:latin typeface="Arial Nova Light" panose="020B0304020202020204" pitchFamily="34" charset="0"/>
                        </a:rPr>
                        <a:t>UCITS ETF USD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latin typeface="Arial Nova Light" panose="020B0304020202020204" pitchFamily="34" charset="0"/>
                        </a:rPr>
                        <a:t>SWDA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latin typeface="Arial Nova Light" panose="020B0304020202020204" pitchFamily="34" charset="0"/>
                        </a:rPr>
                        <a:t>15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latin typeface="Arial Nova Light" panose="020B0304020202020204" pitchFamily="34" charset="0"/>
                        </a:rPr>
                        <a:t>$114,44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latin typeface="Arial Nova Light" panose="020B0304020202020204" pitchFamily="34" charset="0"/>
                        </a:rPr>
                        <a:t>USD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latin typeface="Arial Nova Light" panose="020B0304020202020204" pitchFamily="34" charset="0"/>
                        </a:rPr>
                        <a:t>1716,6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latin typeface="Arial Nova Light" panose="020B0304020202020204" pitchFamily="34" charset="0"/>
                        </a:rPr>
                        <a:t>120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accent3"/>
                          </a:solidFill>
                          <a:latin typeface="Arial Nova Light" panose="020B0304020202020204" pitchFamily="34" charset="0"/>
                        </a:rPr>
                        <a:t>+12,8</a:t>
                      </a:r>
                    </a:p>
                  </a:txBody>
                  <a:tcPr anchor="ctr"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576953"/>
                  </a:ext>
                </a:extLst>
              </a:tr>
            </a:tbl>
          </a:graphicData>
        </a:graphic>
      </p:graphicFrame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9CA09A72-CE79-D4BC-AA0B-24D309850B27}"/>
              </a:ext>
            </a:extLst>
          </p:cNvPr>
          <p:cNvSpPr txBox="1"/>
          <p:nvPr/>
        </p:nvSpPr>
        <p:spPr>
          <a:xfrm>
            <a:off x="438149" y="3658967"/>
            <a:ext cx="22591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Arial Nova Light" panose="020B0304020202020204" pitchFamily="34" charset="0"/>
              </a:rPr>
              <a:t>Trackers (ETFs)</a:t>
            </a:r>
          </a:p>
        </p:txBody>
      </p:sp>
      <p:grpSp>
        <p:nvGrpSpPr>
          <p:cNvPr id="32" name="Gruppo 31">
            <a:extLst>
              <a:ext uri="{FF2B5EF4-FFF2-40B4-BE49-F238E27FC236}">
                <a16:creationId xmlns:a16="http://schemas.microsoft.com/office/drawing/2014/main" id="{245A09C0-E3F0-F14D-9BAE-6FAE14C8AF53}"/>
              </a:ext>
            </a:extLst>
          </p:cNvPr>
          <p:cNvGrpSpPr/>
          <p:nvPr/>
        </p:nvGrpSpPr>
        <p:grpSpPr>
          <a:xfrm>
            <a:off x="1503432" y="4619935"/>
            <a:ext cx="848138" cy="223202"/>
            <a:chOff x="1853641" y="3716179"/>
            <a:chExt cx="877138" cy="223202"/>
          </a:xfrm>
        </p:grpSpPr>
        <p:sp>
          <p:nvSpPr>
            <p:cNvPr id="33" name="Rettangolo con angoli arrotondati 32">
              <a:extLst>
                <a:ext uri="{FF2B5EF4-FFF2-40B4-BE49-F238E27FC236}">
                  <a16:creationId xmlns:a16="http://schemas.microsoft.com/office/drawing/2014/main" id="{D07EC1A7-EA0D-647C-04C7-511CBC17C79F}"/>
                </a:ext>
              </a:extLst>
            </p:cNvPr>
            <p:cNvSpPr/>
            <p:nvPr/>
          </p:nvSpPr>
          <p:spPr>
            <a:xfrm>
              <a:off x="1853641" y="3716179"/>
              <a:ext cx="292379" cy="223202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b="1" dirty="0">
                  <a:latin typeface="Arial Nova Light" panose="020B0304020202020204" pitchFamily="34" charset="0"/>
                  <a:ea typeface="DengXian" panose="02010600030101010101" pitchFamily="2" charset="-122"/>
                </a:rPr>
                <a:t>B</a:t>
              </a:r>
            </a:p>
          </p:txBody>
        </p:sp>
        <p:sp>
          <p:nvSpPr>
            <p:cNvPr id="34" name="Rettangolo con angoli arrotondati 33">
              <a:extLst>
                <a:ext uri="{FF2B5EF4-FFF2-40B4-BE49-F238E27FC236}">
                  <a16:creationId xmlns:a16="http://schemas.microsoft.com/office/drawing/2014/main" id="{3587805D-D57E-DA8B-ACB5-F2E8FBC728B8}"/>
                </a:ext>
              </a:extLst>
            </p:cNvPr>
            <p:cNvSpPr/>
            <p:nvPr/>
          </p:nvSpPr>
          <p:spPr>
            <a:xfrm>
              <a:off x="2146021" y="3716179"/>
              <a:ext cx="292379" cy="223202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b="1" dirty="0">
                  <a:latin typeface="Arial Nova Light" panose="020B0304020202020204" pitchFamily="34" charset="0"/>
                  <a:ea typeface="DengXian" panose="02010600030101010101" pitchFamily="2" charset="-122"/>
                </a:rPr>
                <a:t>S</a:t>
              </a:r>
            </a:p>
          </p:txBody>
        </p:sp>
        <p:sp>
          <p:nvSpPr>
            <p:cNvPr id="35" name="Rettangolo con angoli arrotondati 34">
              <a:extLst>
                <a:ext uri="{FF2B5EF4-FFF2-40B4-BE49-F238E27FC236}">
                  <a16:creationId xmlns:a16="http://schemas.microsoft.com/office/drawing/2014/main" id="{02DDEB02-C8AB-39F8-AC01-63AC92167294}"/>
                </a:ext>
              </a:extLst>
            </p:cNvPr>
            <p:cNvSpPr/>
            <p:nvPr/>
          </p:nvSpPr>
          <p:spPr>
            <a:xfrm>
              <a:off x="2438400" y="3716179"/>
              <a:ext cx="292379" cy="22320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 b="1" dirty="0">
                <a:latin typeface="Arial Nova Light" panose="020B0304020202020204" pitchFamily="34" charset="0"/>
                <a:ea typeface="DengXian" panose="02010600030101010101" pitchFamily="2" charset="-122"/>
              </a:endParaRPr>
            </a:p>
          </p:txBody>
        </p:sp>
        <p:grpSp>
          <p:nvGrpSpPr>
            <p:cNvPr id="36" name="Gruppo 35">
              <a:extLst>
                <a:ext uri="{FF2B5EF4-FFF2-40B4-BE49-F238E27FC236}">
                  <a16:creationId xmlns:a16="http://schemas.microsoft.com/office/drawing/2014/main" id="{5D945FEE-6FC0-EBDA-25B9-226D41873BB7}"/>
                </a:ext>
              </a:extLst>
            </p:cNvPr>
            <p:cNvGrpSpPr/>
            <p:nvPr/>
          </p:nvGrpSpPr>
          <p:grpSpPr>
            <a:xfrm>
              <a:off x="2501245" y="3744436"/>
              <a:ext cx="166687" cy="166687"/>
              <a:chOff x="2224088" y="3014663"/>
              <a:chExt cx="647700" cy="647700"/>
            </a:xfrm>
          </p:grpSpPr>
          <p:sp>
            <p:nvSpPr>
              <p:cNvPr id="37" name="Figura a mano libera: forma 36">
                <a:extLst>
                  <a:ext uri="{FF2B5EF4-FFF2-40B4-BE49-F238E27FC236}">
                    <a16:creationId xmlns:a16="http://schemas.microsoft.com/office/drawing/2014/main" id="{180BD2CF-2A23-316C-5864-E3DD20CEE650}"/>
                  </a:ext>
                </a:extLst>
              </p:cNvPr>
              <p:cNvSpPr/>
              <p:nvPr/>
            </p:nvSpPr>
            <p:spPr>
              <a:xfrm>
                <a:off x="2224088" y="3014663"/>
                <a:ext cx="647700" cy="647700"/>
              </a:xfrm>
              <a:custGeom>
                <a:avLst/>
                <a:gdLst>
                  <a:gd name="connsiteX0" fmla="*/ 57150 w 647700"/>
                  <a:gd name="connsiteY0" fmla="*/ 0 h 647700"/>
                  <a:gd name="connsiteX1" fmla="*/ 0 w 647700"/>
                  <a:gd name="connsiteY1" fmla="*/ 0 h 647700"/>
                  <a:gd name="connsiteX2" fmla="*/ 0 w 647700"/>
                  <a:gd name="connsiteY2" fmla="*/ 647700 h 647700"/>
                  <a:gd name="connsiteX3" fmla="*/ 647700 w 647700"/>
                  <a:gd name="connsiteY3" fmla="*/ 647700 h 647700"/>
                  <a:gd name="connsiteX4" fmla="*/ 647700 w 647700"/>
                  <a:gd name="connsiteY4" fmla="*/ 590550 h 647700"/>
                  <a:gd name="connsiteX5" fmla="*/ 57150 w 647700"/>
                  <a:gd name="connsiteY5" fmla="*/ 590550 h 647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47700" h="647700">
                    <a:moveTo>
                      <a:pt x="57150" y="0"/>
                    </a:moveTo>
                    <a:lnTo>
                      <a:pt x="0" y="0"/>
                    </a:lnTo>
                    <a:lnTo>
                      <a:pt x="0" y="647700"/>
                    </a:lnTo>
                    <a:lnTo>
                      <a:pt x="647700" y="647700"/>
                    </a:lnTo>
                    <a:lnTo>
                      <a:pt x="647700" y="590550"/>
                    </a:lnTo>
                    <a:lnTo>
                      <a:pt x="57150" y="590550"/>
                    </a:lnTo>
                    <a:close/>
                  </a:path>
                </a:pathLst>
              </a:custGeom>
              <a:solidFill>
                <a:schemeClr val="bg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" name="Figura a mano libera: forma 37">
                <a:extLst>
                  <a:ext uri="{FF2B5EF4-FFF2-40B4-BE49-F238E27FC236}">
                    <a16:creationId xmlns:a16="http://schemas.microsoft.com/office/drawing/2014/main" id="{AF4E4260-2A42-AD3C-0711-F9A7EFC78257}"/>
                  </a:ext>
                </a:extLst>
              </p:cNvPr>
              <p:cNvSpPr/>
              <p:nvPr/>
            </p:nvSpPr>
            <p:spPr>
              <a:xfrm>
                <a:off x="2318385" y="3176588"/>
                <a:ext cx="553402" cy="324802"/>
              </a:xfrm>
              <a:custGeom>
                <a:avLst/>
                <a:gdLst>
                  <a:gd name="connsiteX0" fmla="*/ 401003 w 553402"/>
                  <a:gd name="connsiteY0" fmla="*/ 0 h 324802"/>
                  <a:gd name="connsiteX1" fmla="*/ 457200 w 553402"/>
                  <a:gd name="connsiteY1" fmla="*/ 56198 h 324802"/>
                  <a:gd name="connsiteX2" fmla="*/ 381953 w 553402"/>
                  <a:gd name="connsiteY2" fmla="*/ 131445 h 324802"/>
                  <a:gd name="connsiteX3" fmla="*/ 324803 w 553402"/>
                  <a:gd name="connsiteY3" fmla="*/ 74295 h 324802"/>
                  <a:gd name="connsiteX4" fmla="*/ 229553 w 553402"/>
                  <a:gd name="connsiteY4" fmla="*/ 169545 h 324802"/>
                  <a:gd name="connsiteX5" fmla="*/ 172403 w 553402"/>
                  <a:gd name="connsiteY5" fmla="*/ 112395 h 324802"/>
                  <a:gd name="connsiteX6" fmla="*/ 0 w 553402"/>
                  <a:gd name="connsiteY6" fmla="*/ 284798 h 324802"/>
                  <a:gd name="connsiteX7" fmla="*/ 40005 w 553402"/>
                  <a:gd name="connsiteY7" fmla="*/ 324803 h 324802"/>
                  <a:gd name="connsiteX8" fmla="*/ 172403 w 553402"/>
                  <a:gd name="connsiteY8" fmla="*/ 192405 h 324802"/>
                  <a:gd name="connsiteX9" fmla="*/ 229553 w 553402"/>
                  <a:gd name="connsiteY9" fmla="*/ 249555 h 324802"/>
                  <a:gd name="connsiteX10" fmla="*/ 324803 w 553402"/>
                  <a:gd name="connsiteY10" fmla="*/ 154305 h 324802"/>
                  <a:gd name="connsiteX11" fmla="*/ 381953 w 553402"/>
                  <a:gd name="connsiteY11" fmla="*/ 211455 h 324802"/>
                  <a:gd name="connsiteX12" fmla="*/ 497205 w 553402"/>
                  <a:gd name="connsiteY12" fmla="*/ 96202 h 324802"/>
                  <a:gd name="connsiteX13" fmla="*/ 553403 w 553402"/>
                  <a:gd name="connsiteY13" fmla="*/ 152400 h 324802"/>
                  <a:gd name="connsiteX14" fmla="*/ 553403 w 553402"/>
                  <a:gd name="connsiteY14" fmla="*/ 0 h 324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553402" h="324802">
                    <a:moveTo>
                      <a:pt x="401003" y="0"/>
                    </a:moveTo>
                    <a:lnTo>
                      <a:pt x="457200" y="56198"/>
                    </a:lnTo>
                    <a:lnTo>
                      <a:pt x="381953" y="131445"/>
                    </a:lnTo>
                    <a:lnTo>
                      <a:pt x="324803" y="74295"/>
                    </a:lnTo>
                    <a:lnTo>
                      <a:pt x="229553" y="169545"/>
                    </a:lnTo>
                    <a:lnTo>
                      <a:pt x="172403" y="112395"/>
                    </a:lnTo>
                    <a:lnTo>
                      <a:pt x="0" y="284798"/>
                    </a:lnTo>
                    <a:lnTo>
                      <a:pt x="40005" y="324803"/>
                    </a:lnTo>
                    <a:lnTo>
                      <a:pt x="172403" y="192405"/>
                    </a:lnTo>
                    <a:lnTo>
                      <a:pt x="229553" y="249555"/>
                    </a:lnTo>
                    <a:lnTo>
                      <a:pt x="324803" y="154305"/>
                    </a:lnTo>
                    <a:lnTo>
                      <a:pt x="381953" y="211455"/>
                    </a:lnTo>
                    <a:lnTo>
                      <a:pt x="497205" y="96202"/>
                    </a:lnTo>
                    <a:lnTo>
                      <a:pt x="553403" y="152400"/>
                    </a:lnTo>
                    <a:lnTo>
                      <a:pt x="553403" y="0"/>
                    </a:lnTo>
                    <a:close/>
                  </a:path>
                </a:pathLst>
              </a:custGeom>
              <a:solidFill>
                <a:schemeClr val="bg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graphicFrame>
        <p:nvGraphicFramePr>
          <p:cNvPr id="40" name="Tabella 39">
            <a:extLst>
              <a:ext uri="{FF2B5EF4-FFF2-40B4-BE49-F238E27FC236}">
                <a16:creationId xmlns:a16="http://schemas.microsoft.com/office/drawing/2014/main" id="{C0CE9CDE-9526-125F-A4E1-680AB710EA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0633688"/>
              </p:ext>
            </p:extLst>
          </p:nvPr>
        </p:nvGraphicFramePr>
        <p:xfrm>
          <a:off x="498773" y="1040274"/>
          <a:ext cx="813435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69994">
                  <a:extLst>
                    <a:ext uri="{9D8B030D-6E8A-4147-A177-3AD203B41FA5}">
                      <a16:colId xmlns:a16="http://schemas.microsoft.com/office/drawing/2014/main" val="1698010719"/>
                    </a:ext>
                  </a:extLst>
                </a:gridCol>
                <a:gridCol w="3264356">
                  <a:extLst>
                    <a:ext uri="{9D8B030D-6E8A-4147-A177-3AD203B41FA5}">
                      <a16:colId xmlns:a16="http://schemas.microsoft.com/office/drawing/2014/main" val="2895983903"/>
                    </a:ext>
                  </a:extLst>
                </a:gridCol>
              </a:tblGrid>
              <a:tr h="368197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 Nova Light" panose="020B0304020202020204" pitchFamily="34" charset="0"/>
                        </a:rPr>
                        <a:t>Balance</a:t>
                      </a:r>
                    </a:p>
                    <a:p>
                      <a:pPr algn="l"/>
                      <a:r>
                        <a:rPr lang="en-US" sz="1050" b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ova Light" panose="020B0304020202020204" pitchFamily="34" charset="0"/>
                        </a:rPr>
                        <a:t>0$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 Nova Light" panose="020B0304020202020204" pitchFamily="34" charset="0"/>
                        </a:rPr>
                        <a:t>Available to Trade</a:t>
                      </a:r>
                    </a:p>
                    <a:p>
                      <a:pPr algn="l"/>
                      <a:r>
                        <a:rPr lang="en-US" sz="1050" b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ova Light" panose="020B0304020202020204" pitchFamily="34" charset="0"/>
                        </a:rPr>
                        <a:t>0$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0789246"/>
                  </a:ext>
                </a:extLst>
              </a:tr>
              <a:tr h="368197">
                <a:tc>
                  <a:txBody>
                    <a:bodyPr/>
                    <a:lstStyle/>
                    <a:p>
                      <a:pPr marL="0" indent="0" algn="l"/>
                      <a:r>
                        <a:rPr lang="en-US" sz="105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 Nova Light" panose="020B0304020202020204" pitchFamily="34" charset="0"/>
                        </a:rPr>
                        <a:t>Portfolio</a:t>
                      </a:r>
                    </a:p>
                    <a:p>
                      <a:pPr marL="0" indent="0" algn="l"/>
                      <a:r>
                        <a:rPr lang="en-US" sz="1050" dirty="0">
                          <a:latin typeface="Arial Nova Light" panose="020B0304020202020204" pitchFamily="34" charset="0"/>
                        </a:rPr>
                        <a:t>0$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 Nova Light" panose="020B0304020202020204" pitchFamily="34" charset="0"/>
                        </a:rPr>
                        <a:t>Total P/L</a:t>
                      </a:r>
                    </a:p>
                    <a:p>
                      <a:pPr algn="l"/>
                      <a:r>
                        <a:rPr lang="en-US" sz="105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ova Light" panose="020B0304020202020204" pitchFamily="34" charset="0"/>
                        </a:rPr>
                        <a:t>0$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576953"/>
                  </a:ext>
                </a:extLst>
              </a:tr>
            </a:tbl>
          </a:graphicData>
        </a:graphic>
      </p:graphicFrame>
      <p:sp>
        <p:nvSpPr>
          <p:cNvPr id="41" name="CasellaDiTesto 40">
            <a:extLst>
              <a:ext uri="{FF2B5EF4-FFF2-40B4-BE49-F238E27FC236}">
                <a16:creationId xmlns:a16="http://schemas.microsoft.com/office/drawing/2014/main" id="{758BBB46-10A6-6EE2-13D5-92C530CE9468}"/>
              </a:ext>
            </a:extLst>
          </p:cNvPr>
          <p:cNvSpPr txBox="1"/>
          <p:nvPr/>
        </p:nvSpPr>
        <p:spPr>
          <a:xfrm>
            <a:off x="498773" y="602778"/>
            <a:ext cx="22825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Arial Nova Light" panose="020B0304020202020204" pitchFamily="34" charset="0"/>
              </a:rPr>
              <a:t>Account Overview</a:t>
            </a:r>
          </a:p>
        </p:txBody>
      </p:sp>
    </p:spTree>
    <p:extLst>
      <p:ext uri="{BB962C8B-B14F-4D97-AF65-F5344CB8AC3E}">
        <p14:creationId xmlns:p14="http://schemas.microsoft.com/office/powerpoint/2010/main" val="28085077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FAB1E-4325-0956-91AA-1C763365D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B1C758F-98A9-5051-12B7-954F9C0F3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Mock-ups (2)</a:t>
            </a:r>
          </a:p>
        </p:txBody>
      </p:sp>
      <p:sp>
        <p:nvSpPr>
          <p:cNvPr id="5" name="Titolo 1">
            <a:extLst>
              <a:ext uri="{FF2B5EF4-FFF2-40B4-BE49-F238E27FC236}">
                <a16:creationId xmlns:a16="http://schemas.microsoft.com/office/drawing/2014/main" id="{1EC5B123-C275-C350-C059-026BBDCC754D}"/>
              </a:ext>
            </a:extLst>
          </p:cNvPr>
          <p:cNvSpPr txBox="1">
            <a:spLocks/>
          </p:cNvSpPr>
          <p:nvPr/>
        </p:nvSpPr>
        <p:spPr>
          <a:xfrm>
            <a:off x="191101" y="2179448"/>
            <a:ext cx="8761797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/>
              <a:t>Asset Plot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1750244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797A4-75A6-E15B-4BA5-6CEEEE3A7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D2740B94-BC79-6D85-FBCA-F7B3E5EE9D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0398512"/>
              </p:ext>
            </p:extLst>
          </p:nvPr>
        </p:nvGraphicFramePr>
        <p:xfrm>
          <a:off x="461962" y="1463197"/>
          <a:ext cx="8159794" cy="38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1226">
                  <a:extLst>
                    <a:ext uri="{9D8B030D-6E8A-4147-A177-3AD203B41FA5}">
                      <a16:colId xmlns:a16="http://schemas.microsoft.com/office/drawing/2014/main" val="1698010719"/>
                    </a:ext>
                  </a:extLst>
                </a:gridCol>
                <a:gridCol w="1334718">
                  <a:extLst>
                    <a:ext uri="{9D8B030D-6E8A-4147-A177-3AD203B41FA5}">
                      <a16:colId xmlns:a16="http://schemas.microsoft.com/office/drawing/2014/main" val="2895983903"/>
                    </a:ext>
                  </a:extLst>
                </a:gridCol>
                <a:gridCol w="887632">
                  <a:extLst>
                    <a:ext uri="{9D8B030D-6E8A-4147-A177-3AD203B41FA5}">
                      <a16:colId xmlns:a16="http://schemas.microsoft.com/office/drawing/2014/main" val="3353183135"/>
                    </a:ext>
                  </a:extLst>
                </a:gridCol>
                <a:gridCol w="812771">
                  <a:extLst>
                    <a:ext uri="{9D8B030D-6E8A-4147-A177-3AD203B41FA5}">
                      <a16:colId xmlns:a16="http://schemas.microsoft.com/office/drawing/2014/main" val="2831039483"/>
                    </a:ext>
                  </a:extLst>
                </a:gridCol>
                <a:gridCol w="823466">
                  <a:extLst>
                    <a:ext uri="{9D8B030D-6E8A-4147-A177-3AD203B41FA5}">
                      <a16:colId xmlns:a16="http://schemas.microsoft.com/office/drawing/2014/main" val="24059853"/>
                    </a:ext>
                  </a:extLst>
                </a:gridCol>
                <a:gridCol w="962493">
                  <a:extLst>
                    <a:ext uri="{9D8B030D-6E8A-4147-A177-3AD203B41FA5}">
                      <a16:colId xmlns:a16="http://schemas.microsoft.com/office/drawing/2014/main" val="3657305502"/>
                    </a:ext>
                  </a:extLst>
                </a:gridCol>
                <a:gridCol w="652355">
                  <a:extLst>
                    <a:ext uri="{9D8B030D-6E8A-4147-A177-3AD203B41FA5}">
                      <a16:colId xmlns:a16="http://schemas.microsoft.com/office/drawing/2014/main" val="855564020"/>
                    </a:ext>
                  </a:extLst>
                </a:gridCol>
                <a:gridCol w="695133">
                  <a:extLst>
                    <a:ext uri="{9D8B030D-6E8A-4147-A177-3AD203B41FA5}">
                      <a16:colId xmlns:a16="http://schemas.microsoft.com/office/drawing/2014/main" val="1704171516"/>
                    </a:ext>
                  </a:extLst>
                </a:gridCol>
              </a:tblGrid>
              <a:tr h="3720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ova Light" panose="020B0304020202020204" pitchFamily="34" charset="0"/>
                        </a:rPr>
                        <a:t>PRODUCT</a:t>
                      </a:r>
                    </a:p>
                  </a:txBody>
                  <a:tcPr marL="91726" marR="91726" marT="45863" marB="45863"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ova Light" panose="020B0304020202020204" pitchFamily="34" charset="0"/>
                        </a:rPr>
                        <a:t>SYMBOL|ISIN</a:t>
                      </a:r>
                    </a:p>
                  </a:txBody>
                  <a:tcPr marL="91726" marR="91726" marT="45863" marB="45863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mpd="sng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ova Light" panose="020B0304020202020204" pitchFamily="34" charset="0"/>
                        </a:rPr>
                        <a:t>QTY</a:t>
                      </a:r>
                    </a:p>
                  </a:txBody>
                  <a:tcPr marL="91726" marR="91726" marT="45863" marB="45863" anchor="ctr">
                    <a:lnB w="38100" cmpd="sng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ova Light" panose="020B0304020202020204" pitchFamily="34" charset="0"/>
                        </a:rPr>
                        <a:t>PRICE</a:t>
                      </a:r>
                    </a:p>
                  </a:txBody>
                  <a:tcPr marL="91726" marR="91726" marT="45863" marB="45863" anchor="ctr">
                    <a:lnB w="38100" cmpd="sng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ova Light" panose="020B0304020202020204" pitchFamily="34" charset="0"/>
                        </a:rPr>
                        <a:t>CURR.</a:t>
                      </a:r>
                    </a:p>
                  </a:txBody>
                  <a:tcPr marL="91726" marR="91726" marT="45863" marB="45863" anchor="ctr">
                    <a:lnB w="38100" cmpd="sng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ova Light" panose="020B0304020202020204" pitchFamily="34" charset="0"/>
                        </a:rPr>
                        <a:t>VALUE</a:t>
                      </a:r>
                    </a:p>
                  </a:txBody>
                  <a:tcPr marL="91726" marR="91726" marT="45863" marB="45863" anchor="ctr">
                    <a:lnB w="38100" cmpd="sng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ova Light" panose="020B0304020202020204" pitchFamily="34" charset="0"/>
                        </a:rPr>
                        <a:t>BEP</a:t>
                      </a:r>
                    </a:p>
                  </a:txBody>
                  <a:tcPr marL="91726" marR="91726" marT="45863" marB="45863" anchor="ctr">
                    <a:lnB w="38100" cmpd="sng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rial Nova Light" panose="020B0304020202020204" pitchFamily="34" charset="0"/>
                        </a:rPr>
                        <a:t>P/L $</a:t>
                      </a:r>
                    </a:p>
                  </a:txBody>
                  <a:tcPr marL="91726" marR="91726" marT="45863" marB="45863" anchor="ctr">
                    <a:lnB w="38100" cmpd="sng"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0789246"/>
                  </a:ext>
                </a:extLst>
              </a:tr>
              <a:tr h="372000">
                <a:tc>
                  <a:txBody>
                    <a:bodyPr/>
                    <a:lstStyle/>
                    <a:p>
                      <a:pPr marL="0" indent="0" algn="l"/>
                      <a:r>
                        <a:rPr lang="en-US" sz="1200" dirty="0">
                          <a:latin typeface="Arial Nova Light" panose="020B0304020202020204" pitchFamily="34" charset="0"/>
                        </a:rPr>
                        <a:t>Tesla, Inc.</a:t>
                      </a:r>
                    </a:p>
                  </a:txBody>
                  <a:tcPr marL="91726" marR="91726" marT="45863" marB="45863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latin typeface="Arial Nova Light" panose="020B0304020202020204" pitchFamily="34" charset="0"/>
                        </a:rPr>
                        <a:t>TSLA</a:t>
                      </a:r>
                    </a:p>
                  </a:txBody>
                  <a:tcPr marL="91726" marR="91726" marT="45863" marB="4586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latin typeface="Arial Nova Light" panose="020B0304020202020204" pitchFamily="34" charset="0"/>
                        </a:rPr>
                        <a:t>10</a:t>
                      </a:r>
                    </a:p>
                  </a:txBody>
                  <a:tcPr marL="91726" marR="91726" marT="45863" marB="45863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latin typeface="Arial Nova Light" panose="020B0304020202020204" pitchFamily="34" charset="0"/>
                        </a:rPr>
                        <a:t>$447,86</a:t>
                      </a:r>
                    </a:p>
                  </a:txBody>
                  <a:tcPr marL="91726" marR="91726" marT="45863" marB="45863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latin typeface="Arial Nova Light" panose="020B0304020202020204" pitchFamily="34" charset="0"/>
                        </a:rPr>
                        <a:t>USD</a:t>
                      </a:r>
                    </a:p>
                  </a:txBody>
                  <a:tcPr marL="91726" marR="91726" marT="45863" marB="45863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latin typeface="Arial Nova Light" panose="020B0304020202020204" pitchFamily="34" charset="0"/>
                        </a:rPr>
                        <a:t>4470,6</a:t>
                      </a:r>
                    </a:p>
                  </a:txBody>
                  <a:tcPr marL="91726" marR="91726" marT="45863" marB="45863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latin typeface="Arial Nova Light" panose="020B0304020202020204" pitchFamily="34" charset="0"/>
                        </a:rPr>
                        <a:t>430</a:t>
                      </a:r>
                    </a:p>
                  </a:txBody>
                  <a:tcPr marL="91726" marR="91726" marT="45863" marB="45863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chemeClr val="accent3"/>
                          </a:solidFill>
                          <a:latin typeface="Arial Nova Light" panose="020B0304020202020204" pitchFamily="34" charset="0"/>
                        </a:rPr>
                        <a:t>+6,8</a:t>
                      </a:r>
                    </a:p>
                  </a:txBody>
                  <a:tcPr marL="91726" marR="91726" marT="45863" marB="45863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576953"/>
                  </a:ext>
                </a:extLst>
              </a:tr>
              <a:tr h="3060000">
                <a:tc>
                  <a:txBody>
                    <a:bodyPr/>
                    <a:lstStyle/>
                    <a:p>
                      <a:pPr marL="0" indent="0" algn="l"/>
                      <a:endParaRPr lang="en-US" sz="1200" dirty="0">
                        <a:latin typeface="Arial Nova Light" panose="020B0304020202020204" pitchFamily="34" charset="0"/>
                      </a:endParaRPr>
                    </a:p>
                  </a:txBody>
                  <a:tcPr marL="91726" marR="91726" marT="45863" marB="45863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1200" dirty="0">
                        <a:latin typeface="Arial Nova Light" panose="020B0304020202020204" pitchFamily="34" charset="0"/>
                      </a:endParaRPr>
                    </a:p>
                  </a:txBody>
                  <a:tcPr marL="91726" marR="91726" marT="45863" marB="4586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1200" dirty="0">
                        <a:latin typeface="Arial Nova Light" panose="020B0304020202020204" pitchFamily="34" charset="0"/>
                      </a:endParaRPr>
                    </a:p>
                  </a:txBody>
                  <a:tcPr marL="91726" marR="91726" marT="45863" marB="4586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1200" dirty="0">
                        <a:latin typeface="Arial Nova Light" panose="020B0304020202020204" pitchFamily="34" charset="0"/>
                      </a:endParaRPr>
                    </a:p>
                  </a:txBody>
                  <a:tcPr marL="91726" marR="91726" marT="45863" marB="4586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1200" dirty="0">
                        <a:latin typeface="Arial Nova Light" panose="020B0304020202020204" pitchFamily="34" charset="0"/>
                      </a:endParaRPr>
                    </a:p>
                  </a:txBody>
                  <a:tcPr marL="91726" marR="91726" marT="45863" marB="4586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1200" dirty="0">
                        <a:latin typeface="Arial Nova Light" panose="020B0304020202020204" pitchFamily="34" charset="0"/>
                      </a:endParaRPr>
                    </a:p>
                  </a:txBody>
                  <a:tcPr marL="91726" marR="91726" marT="45863" marB="4586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1200" dirty="0">
                        <a:latin typeface="Arial Nova Light" panose="020B0304020202020204" pitchFamily="34" charset="0"/>
                      </a:endParaRPr>
                    </a:p>
                  </a:txBody>
                  <a:tcPr marL="91726" marR="91726" marT="45863" marB="4586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1200" dirty="0">
                        <a:solidFill>
                          <a:schemeClr val="accent3"/>
                        </a:solidFill>
                        <a:latin typeface="Arial Nova Light" panose="020B0304020202020204" pitchFamily="34" charset="0"/>
                      </a:endParaRPr>
                    </a:p>
                  </a:txBody>
                  <a:tcPr marL="91726" marR="91726" marT="45863" marB="45863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7600035"/>
                  </a:ext>
                </a:extLst>
              </a:tr>
            </a:tbl>
          </a:graphicData>
        </a:graphic>
      </p:graphicFrame>
      <p:grpSp>
        <p:nvGrpSpPr>
          <p:cNvPr id="22" name="Gruppo 21">
            <a:extLst>
              <a:ext uri="{FF2B5EF4-FFF2-40B4-BE49-F238E27FC236}">
                <a16:creationId xmlns:a16="http://schemas.microsoft.com/office/drawing/2014/main" id="{FD751EF4-20B3-AF30-EC08-C28A063AA5D4}"/>
              </a:ext>
            </a:extLst>
          </p:cNvPr>
          <p:cNvGrpSpPr/>
          <p:nvPr/>
        </p:nvGrpSpPr>
        <p:grpSpPr>
          <a:xfrm>
            <a:off x="1355576" y="1907856"/>
            <a:ext cx="848138" cy="223202"/>
            <a:chOff x="1853641" y="3716179"/>
            <a:chExt cx="877138" cy="223202"/>
          </a:xfrm>
        </p:grpSpPr>
        <p:sp>
          <p:nvSpPr>
            <p:cNvPr id="23" name="Rettangolo con angoli arrotondati 22">
              <a:extLst>
                <a:ext uri="{FF2B5EF4-FFF2-40B4-BE49-F238E27FC236}">
                  <a16:creationId xmlns:a16="http://schemas.microsoft.com/office/drawing/2014/main" id="{249375B8-2A1F-70E1-4644-4B829535472F}"/>
                </a:ext>
              </a:extLst>
            </p:cNvPr>
            <p:cNvSpPr/>
            <p:nvPr/>
          </p:nvSpPr>
          <p:spPr>
            <a:xfrm>
              <a:off x="1853641" y="3716179"/>
              <a:ext cx="292379" cy="223202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b="1" dirty="0">
                  <a:latin typeface="Arial Nova Light" panose="020B0304020202020204" pitchFamily="34" charset="0"/>
                  <a:ea typeface="DengXian" panose="02010600030101010101" pitchFamily="2" charset="-122"/>
                </a:rPr>
                <a:t>B</a:t>
              </a:r>
            </a:p>
          </p:txBody>
        </p:sp>
        <p:sp>
          <p:nvSpPr>
            <p:cNvPr id="24" name="Rettangolo con angoli arrotondati 23">
              <a:extLst>
                <a:ext uri="{FF2B5EF4-FFF2-40B4-BE49-F238E27FC236}">
                  <a16:creationId xmlns:a16="http://schemas.microsoft.com/office/drawing/2014/main" id="{86F5CD78-7951-8341-7877-6ADA7447CF94}"/>
                </a:ext>
              </a:extLst>
            </p:cNvPr>
            <p:cNvSpPr/>
            <p:nvPr/>
          </p:nvSpPr>
          <p:spPr>
            <a:xfrm>
              <a:off x="2146021" y="3716179"/>
              <a:ext cx="292379" cy="223202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b="1" dirty="0">
                  <a:latin typeface="Arial Nova Light" panose="020B0304020202020204" pitchFamily="34" charset="0"/>
                  <a:ea typeface="DengXian" panose="02010600030101010101" pitchFamily="2" charset="-122"/>
                </a:rPr>
                <a:t>S</a:t>
              </a:r>
            </a:p>
          </p:txBody>
        </p:sp>
        <p:sp>
          <p:nvSpPr>
            <p:cNvPr id="25" name="Rettangolo con angoli arrotondati 24">
              <a:extLst>
                <a:ext uri="{FF2B5EF4-FFF2-40B4-BE49-F238E27FC236}">
                  <a16:creationId xmlns:a16="http://schemas.microsoft.com/office/drawing/2014/main" id="{98864C28-42AC-B436-EF12-A378212D1511}"/>
                </a:ext>
              </a:extLst>
            </p:cNvPr>
            <p:cNvSpPr/>
            <p:nvPr/>
          </p:nvSpPr>
          <p:spPr>
            <a:xfrm>
              <a:off x="2438400" y="3716179"/>
              <a:ext cx="292379" cy="22320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 b="1" dirty="0">
                <a:latin typeface="Arial Nova Light" panose="020B0304020202020204" pitchFamily="34" charset="0"/>
                <a:ea typeface="DengXian" panose="02010600030101010101" pitchFamily="2" charset="-122"/>
              </a:endParaRPr>
            </a:p>
          </p:txBody>
        </p:sp>
        <p:grpSp>
          <p:nvGrpSpPr>
            <p:cNvPr id="26" name="Gruppo 25">
              <a:extLst>
                <a:ext uri="{FF2B5EF4-FFF2-40B4-BE49-F238E27FC236}">
                  <a16:creationId xmlns:a16="http://schemas.microsoft.com/office/drawing/2014/main" id="{979F40A2-FBD1-E60D-E7A8-7A0FCFF3257F}"/>
                </a:ext>
              </a:extLst>
            </p:cNvPr>
            <p:cNvGrpSpPr/>
            <p:nvPr/>
          </p:nvGrpSpPr>
          <p:grpSpPr>
            <a:xfrm>
              <a:off x="2501245" y="3744436"/>
              <a:ext cx="166687" cy="166687"/>
              <a:chOff x="2224088" y="3014663"/>
              <a:chExt cx="647700" cy="647700"/>
            </a:xfrm>
          </p:grpSpPr>
          <p:sp>
            <p:nvSpPr>
              <p:cNvPr id="27" name="Figura a mano libera: forma 26">
                <a:extLst>
                  <a:ext uri="{FF2B5EF4-FFF2-40B4-BE49-F238E27FC236}">
                    <a16:creationId xmlns:a16="http://schemas.microsoft.com/office/drawing/2014/main" id="{08440E67-63C0-F5AC-ECA4-D71D82F1A030}"/>
                  </a:ext>
                </a:extLst>
              </p:cNvPr>
              <p:cNvSpPr/>
              <p:nvPr/>
            </p:nvSpPr>
            <p:spPr>
              <a:xfrm>
                <a:off x="2224088" y="3014663"/>
                <a:ext cx="647700" cy="647700"/>
              </a:xfrm>
              <a:custGeom>
                <a:avLst/>
                <a:gdLst>
                  <a:gd name="connsiteX0" fmla="*/ 57150 w 647700"/>
                  <a:gd name="connsiteY0" fmla="*/ 0 h 647700"/>
                  <a:gd name="connsiteX1" fmla="*/ 0 w 647700"/>
                  <a:gd name="connsiteY1" fmla="*/ 0 h 647700"/>
                  <a:gd name="connsiteX2" fmla="*/ 0 w 647700"/>
                  <a:gd name="connsiteY2" fmla="*/ 647700 h 647700"/>
                  <a:gd name="connsiteX3" fmla="*/ 647700 w 647700"/>
                  <a:gd name="connsiteY3" fmla="*/ 647700 h 647700"/>
                  <a:gd name="connsiteX4" fmla="*/ 647700 w 647700"/>
                  <a:gd name="connsiteY4" fmla="*/ 590550 h 647700"/>
                  <a:gd name="connsiteX5" fmla="*/ 57150 w 647700"/>
                  <a:gd name="connsiteY5" fmla="*/ 590550 h 647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47700" h="647700">
                    <a:moveTo>
                      <a:pt x="57150" y="0"/>
                    </a:moveTo>
                    <a:lnTo>
                      <a:pt x="0" y="0"/>
                    </a:lnTo>
                    <a:lnTo>
                      <a:pt x="0" y="647700"/>
                    </a:lnTo>
                    <a:lnTo>
                      <a:pt x="647700" y="647700"/>
                    </a:lnTo>
                    <a:lnTo>
                      <a:pt x="647700" y="590550"/>
                    </a:lnTo>
                    <a:lnTo>
                      <a:pt x="57150" y="590550"/>
                    </a:lnTo>
                    <a:close/>
                  </a:path>
                </a:pathLst>
              </a:custGeom>
              <a:solidFill>
                <a:schemeClr val="bg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" name="Figura a mano libera: forma 27">
                <a:extLst>
                  <a:ext uri="{FF2B5EF4-FFF2-40B4-BE49-F238E27FC236}">
                    <a16:creationId xmlns:a16="http://schemas.microsoft.com/office/drawing/2014/main" id="{2DA13AE3-973E-DB0B-D6D0-730AA285ECD4}"/>
                  </a:ext>
                </a:extLst>
              </p:cNvPr>
              <p:cNvSpPr/>
              <p:nvPr/>
            </p:nvSpPr>
            <p:spPr>
              <a:xfrm>
                <a:off x="2318385" y="3176588"/>
                <a:ext cx="553402" cy="324802"/>
              </a:xfrm>
              <a:custGeom>
                <a:avLst/>
                <a:gdLst>
                  <a:gd name="connsiteX0" fmla="*/ 401003 w 553402"/>
                  <a:gd name="connsiteY0" fmla="*/ 0 h 324802"/>
                  <a:gd name="connsiteX1" fmla="*/ 457200 w 553402"/>
                  <a:gd name="connsiteY1" fmla="*/ 56198 h 324802"/>
                  <a:gd name="connsiteX2" fmla="*/ 381953 w 553402"/>
                  <a:gd name="connsiteY2" fmla="*/ 131445 h 324802"/>
                  <a:gd name="connsiteX3" fmla="*/ 324803 w 553402"/>
                  <a:gd name="connsiteY3" fmla="*/ 74295 h 324802"/>
                  <a:gd name="connsiteX4" fmla="*/ 229553 w 553402"/>
                  <a:gd name="connsiteY4" fmla="*/ 169545 h 324802"/>
                  <a:gd name="connsiteX5" fmla="*/ 172403 w 553402"/>
                  <a:gd name="connsiteY5" fmla="*/ 112395 h 324802"/>
                  <a:gd name="connsiteX6" fmla="*/ 0 w 553402"/>
                  <a:gd name="connsiteY6" fmla="*/ 284798 h 324802"/>
                  <a:gd name="connsiteX7" fmla="*/ 40005 w 553402"/>
                  <a:gd name="connsiteY7" fmla="*/ 324803 h 324802"/>
                  <a:gd name="connsiteX8" fmla="*/ 172403 w 553402"/>
                  <a:gd name="connsiteY8" fmla="*/ 192405 h 324802"/>
                  <a:gd name="connsiteX9" fmla="*/ 229553 w 553402"/>
                  <a:gd name="connsiteY9" fmla="*/ 249555 h 324802"/>
                  <a:gd name="connsiteX10" fmla="*/ 324803 w 553402"/>
                  <a:gd name="connsiteY10" fmla="*/ 154305 h 324802"/>
                  <a:gd name="connsiteX11" fmla="*/ 381953 w 553402"/>
                  <a:gd name="connsiteY11" fmla="*/ 211455 h 324802"/>
                  <a:gd name="connsiteX12" fmla="*/ 497205 w 553402"/>
                  <a:gd name="connsiteY12" fmla="*/ 96202 h 324802"/>
                  <a:gd name="connsiteX13" fmla="*/ 553403 w 553402"/>
                  <a:gd name="connsiteY13" fmla="*/ 152400 h 324802"/>
                  <a:gd name="connsiteX14" fmla="*/ 553403 w 553402"/>
                  <a:gd name="connsiteY14" fmla="*/ 0 h 3248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553402" h="324802">
                    <a:moveTo>
                      <a:pt x="401003" y="0"/>
                    </a:moveTo>
                    <a:lnTo>
                      <a:pt x="457200" y="56198"/>
                    </a:lnTo>
                    <a:lnTo>
                      <a:pt x="381953" y="131445"/>
                    </a:lnTo>
                    <a:lnTo>
                      <a:pt x="324803" y="74295"/>
                    </a:lnTo>
                    <a:lnTo>
                      <a:pt x="229553" y="169545"/>
                    </a:lnTo>
                    <a:lnTo>
                      <a:pt x="172403" y="112395"/>
                    </a:lnTo>
                    <a:lnTo>
                      <a:pt x="0" y="284798"/>
                    </a:lnTo>
                    <a:lnTo>
                      <a:pt x="40005" y="324803"/>
                    </a:lnTo>
                    <a:lnTo>
                      <a:pt x="172403" y="192405"/>
                    </a:lnTo>
                    <a:lnTo>
                      <a:pt x="229553" y="249555"/>
                    </a:lnTo>
                    <a:lnTo>
                      <a:pt x="324803" y="154305"/>
                    </a:lnTo>
                    <a:lnTo>
                      <a:pt x="381953" y="211455"/>
                    </a:lnTo>
                    <a:lnTo>
                      <a:pt x="497205" y="96202"/>
                    </a:lnTo>
                    <a:lnTo>
                      <a:pt x="553403" y="152400"/>
                    </a:lnTo>
                    <a:lnTo>
                      <a:pt x="553403" y="0"/>
                    </a:lnTo>
                    <a:close/>
                  </a:path>
                </a:pathLst>
              </a:custGeom>
              <a:solidFill>
                <a:schemeClr val="bg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F067786C-D4CA-B60D-9434-67B1C7D4A169}"/>
              </a:ext>
            </a:extLst>
          </p:cNvPr>
          <p:cNvSpPr txBox="1"/>
          <p:nvPr/>
        </p:nvSpPr>
        <p:spPr>
          <a:xfrm>
            <a:off x="461962" y="1132133"/>
            <a:ext cx="1847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Arial Nova Light" panose="020B0304020202020204" pitchFamily="34" charset="0"/>
              </a:rPr>
              <a:t>Shares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C6854DF0-E332-5569-3C59-E211F49A5B0B}"/>
              </a:ext>
            </a:extLst>
          </p:cNvPr>
          <p:cNvSpPr txBox="1"/>
          <p:nvPr/>
        </p:nvSpPr>
        <p:spPr>
          <a:xfrm>
            <a:off x="461962" y="369947"/>
            <a:ext cx="18478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 err="1">
                <a:solidFill>
                  <a:srgbClr val="C00000"/>
                </a:solidFill>
                <a:latin typeface="Arial Nova Light" panose="020B030402020202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MyFuture</a:t>
            </a:r>
            <a:endParaRPr lang="en-US" sz="3200" b="1" dirty="0">
              <a:solidFill>
                <a:srgbClr val="C00000"/>
              </a:solidFill>
              <a:latin typeface="Arial Nova Light" panose="020B0304020202020204" pitchFamily="34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graphicFrame>
        <p:nvGraphicFramePr>
          <p:cNvPr id="3" name="Tabella 2">
            <a:extLst>
              <a:ext uri="{FF2B5EF4-FFF2-40B4-BE49-F238E27FC236}">
                <a16:creationId xmlns:a16="http://schemas.microsoft.com/office/drawing/2014/main" id="{FB14593F-BA5F-8B5A-0B47-D3C508E07A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1076637"/>
              </p:ext>
            </p:extLst>
          </p:nvPr>
        </p:nvGraphicFramePr>
        <p:xfrm>
          <a:off x="2462212" y="476915"/>
          <a:ext cx="2886075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47725">
                  <a:extLst>
                    <a:ext uri="{9D8B030D-6E8A-4147-A177-3AD203B41FA5}">
                      <a16:colId xmlns:a16="http://schemas.microsoft.com/office/drawing/2014/main" val="526149528"/>
                    </a:ext>
                  </a:extLst>
                </a:gridCol>
                <a:gridCol w="1152525">
                  <a:extLst>
                    <a:ext uri="{9D8B030D-6E8A-4147-A177-3AD203B41FA5}">
                      <a16:colId xmlns:a16="http://schemas.microsoft.com/office/drawing/2014/main" val="15154684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35112089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 Nova Light" panose="020B0304020202020204" pitchFamily="34" charset="0"/>
                        </a:rPr>
                        <a:t>Trading</a:t>
                      </a:r>
                      <a:endParaRPr lang="en-US" sz="14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rial Nova Light" panose="020B0304020202020204" pitchFamily="34" charset="0"/>
                        <a:ea typeface="DengXian" panose="020B0503020204020204" pitchFamily="2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 Nova Light" panose="020B0304020202020204" pitchFamily="34" charset="0"/>
                        </a:rPr>
                        <a:t>About us</a:t>
                      </a:r>
                      <a:endParaRPr lang="en-US" sz="14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rial Nova Light" panose="020B0304020202020204" pitchFamily="34" charset="0"/>
                        <a:ea typeface="DengXian" panose="020B0503020204020204" pitchFamily="2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rial Nova Light" panose="020B0304020202020204" pitchFamily="34" charset="0"/>
                        <a:ea typeface="DengXian" panose="020B0503020204020204" pitchFamily="2" charset="-122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77316309"/>
                  </a:ext>
                </a:extLst>
              </a:tr>
            </a:tbl>
          </a:graphicData>
        </a:graphic>
      </p:graphicFrame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FD18A9C7-6958-B98C-849F-F72B29F317B5}"/>
              </a:ext>
            </a:extLst>
          </p:cNvPr>
          <p:cNvSpPr/>
          <p:nvPr/>
        </p:nvSpPr>
        <p:spPr>
          <a:xfrm>
            <a:off x="5624512" y="458510"/>
            <a:ext cx="1409700" cy="370840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Arial Nova Light" panose="020B0304020202020204" pitchFamily="34" charset="0"/>
                <a:ea typeface="DengXian" panose="02010600030101010101" pitchFamily="2" charset="-122"/>
              </a:rPr>
              <a:t>Apri un </a:t>
            </a:r>
            <a:r>
              <a:rPr lang="en-US" sz="1200" b="1" dirty="0" err="1">
                <a:latin typeface="Arial Nova Light" panose="020B0304020202020204" pitchFamily="34" charset="0"/>
                <a:ea typeface="DengXian" panose="02010600030101010101" pitchFamily="2" charset="-122"/>
              </a:rPr>
              <a:t>conto</a:t>
            </a:r>
            <a:endParaRPr lang="en-US" sz="1200" b="1" dirty="0">
              <a:latin typeface="Arial Nova Light" panose="020B0304020202020204" pitchFamily="34" charset="0"/>
              <a:ea typeface="DengXian" panose="02010600030101010101" pitchFamily="2" charset="-122"/>
            </a:endParaRPr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1403EBB9-420D-C555-FF6D-28DE83C5F9C0}"/>
              </a:ext>
            </a:extLst>
          </p:cNvPr>
          <p:cNvSpPr/>
          <p:nvPr/>
        </p:nvSpPr>
        <p:spPr>
          <a:xfrm>
            <a:off x="7186612" y="443915"/>
            <a:ext cx="1409700" cy="37084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latin typeface="Arial Nova Light" panose="020B0304020202020204" pitchFamily="34" charset="0"/>
                <a:ea typeface="DengXian" panose="02010600030101010101" pitchFamily="2" charset="-122"/>
              </a:rPr>
              <a:t>Log In</a:t>
            </a:r>
          </a:p>
        </p:txBody>
      </p:sp>
      <p:pic>
        <p:nvPicPr>
          <p:cNvPr id="6" name="Elemento grafico 5" descr="Lente di ingrandimento contorno">
            <a:extLst>
              <a:ext uri="{FF2B5EF4-FFF2-40B4-BE49-F238E27FC236}">
                <a16:creationId xmlns:a16="http://schemas.microsoft.com/office/drawing/2014/main" id="{7B3741B7-7712-1858-1267-7755BAE1C6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33962" y="557558"/>
            <a:ext cx="209552" cy="209552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275440EB-372D-868E-8CA9-60EEDE42AE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988" y="2300886"/>
            <a:ext cx="6640842" cy="2796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0548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FA93700-7F87-6E45-9902-A8B2384A3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741" y="0"/>
            <a:ext cx="8761797" cy="600075"/>
          </a:xfrm>
        </p:spPr>
        <p:txBody>
          <a:bodyPr>
            <a:normAutofit fontScale="90000"/>
          </a:bodyPr>
          <a:lstStyle/>
          <a:p>
            <a:r>
              <a:rPr lang="en-US" dirty="0"/>
              <a:t>Dataset Description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068E8217-0879-6045-A028-80534F620714}"/>
              </a:ext>
            </a:extLst>
          </p:cNvPr>
          <p:cNvSpPr txBox="1"/>
          <p:nvPr/>
        </p:nvSpPr>
        <p:spPr>
          <a:xfrm>
            <a:off x="182740" y="258901"/>
            <a:ext cx="8961260" cy="63401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2000" b="1" i="1" dirty="0"/>
              <a:t>Source: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Assets history collected via script using Yahoo Finance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News from Kaggle</a:t>
            </a:r>
            <a:br>
              <a:rPr lang="en-US" sz="2000" dirty="0"/>
            </a:br>
            <a:r>
              <a:rPr lang="en-US" u="sng" dirty="0">
                <a:hlinkClick r:id="rId2"/>
              </a:rPr>
              <a:t>https://www.kaggle.com/datasets/pratyushpuri/financial-news-market-events-dataset-2025</a:t>
            </a:r>
            <a:br>
              <a:rPr lang="en-US" sz="2000" dirty="0"/>
            </a:br>
            <a:r>
              <a:rPr lang="en-US" u="sng" dirty="0">
                <a:hlinkClick r:id="rId3"/>
              </a:rPr>
              <a:t>https://www.kaggle.com/datasets/aravsood7/sentiment-analysis-labelled-financial-news-data</a:t>
            </a:r>
            <a:br>
              <a:rPr lang="en-US" sz="2000" dirty="0"/>
            </a:br>
            <a:r>
              <a:rPr lang="en-US" u="sng" dirty="0">
                <a:hlinkClick r:id="rId4"/>
              </a:rPr>
              <a:t>https://www.kaggle.com/datasets/sayelabualigah/high-quality-financial-news-dataset-for-nlp-tasks?select=dataset.csv</a:t>
            </a:r>
            <a:r>
              <a:rPr lang="it-IT" dirty="0"/>
              <a:t> </a:t>
            </a:r>
            <a:endParaRPr lang="en-US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Transaction from Kaggle</a:t>
            </a:r>
            <a:br>
              <a:rPr lang="en-US" sz="2000" dirty="0"/>
            </a:br>
            <a:r>
              <a:rPr lang="en-US" u="sng" dirty="0">
                <a:hlinkClick r:id="rId5"/>
              </a:rPr>
              <a:t>https://www.kaggle.com/datasets/mahmoudshaheen1134/trades-dataset</a:t>
            </a:r>
            <a:r>
              <a:rPr lang="it-IT" dirty="0"/>
              <a:t> </a:t>
            </a:r>
            <a:br>
              <a:rPr lang="it-IT" dirty="0"/>
            </a:br>
            <a:endParaRPr lang="en-US" sz="2000" b="1" i="1" dirty="0"/>
          </a:p>
          <a:p>
            <a:pPr lvl="0"/>
            <a:r>
              <a:rPr lang="en-US" sz="2000" b="1" i="1" dirty="0"/>
              <a:t>Description: </a:t>
            </a:r>
            <a:r>
              <a:rPr lang="en-US" sz="2000" dirty="0"/>
              <a:t>The dataset used in </a:t>
            </a:r>
            <a:r>
              <a:rPr lang="en-US" sz="2000" i="1" dirty="0" err="1"/>
              <a:t>MyFuture</a:t>
            </a:r>
            <a:r>
              <a:rPr lang="en-US" sz="2000" dirty="0"/>
              <a:t> combines historical price data of 	various financial assets, transaction, and a set of financial news articles.</a:t>
            </a:r>
            <a:endParaRPr lang="en-US" sz="2000" b="1" i="1" dirty="0"/>
          </a:p>
          <a:p>
            <a:pPr lvl="0"/>
            <a:r>
              <a:rPr lang="en-US" sz="2000" b="1" i="1" dirty="0"/>
              <a:t>Volume: </a:t>
            </a:r>
            <a:r>
              <a:rPr lang="en-US" sz="2000" dirty="0"/>
              <a:t>1625 assets (</a:t>
            </a:r>
            <a:r>
              <a:rPr lang="en-US" sz="2000" b="1" dirty="0"/>
              <a:t>964,8MB</a:t>
            </a:r>
            <a:r>
              <a:rPr lang="en-US" sz="2000" dirty="0"/>
              <a:t>), 39222 transaction (</a:t>
            </a:r>
            <a:r>
              <a:rPr lang="en-US" sz="2000" b="1" dirty="0"/>
              <a:t>1,45MB</a:t>
            </a:r>
            <a:r>
              <a:rPr lang="en-US" sz="2000" dirty="0"/>
              <a:t>), 5263 news (</a:t>
            </a:r>
            <a:r>
              <a:rPr lang="en-US" sz="2000" b="1" dirty="0"/>
              <a:t>9,88MB</a:t>
            </a:r>
            <a:r>
              <a:rPr lang="en-US" sz="2000" dirty="0"/>
              <a:t>)</a:t>
            </a:r>
          </a:p>
          <a:p>
            <a:pPr lvl="0"/>
            <a:br>
              <a:rPr lang="en-US" sz="2000" b="1" i="1" dirty="0"/>
            </a:br>
            <a:r>
              <a:rPr lang="en-US" sz="2000" b="1" i="1" dirty="0"/>
              <a:t>Variety</a:t>
            </a:r>
            <a:r>
              <a:rPr lang="en-US" sz="2000" dirty="0"/>
              <a:t>: The dataset integrates information from different and heterogeneous 	sources (Yahoo Finance and Kaggle) with diverse attributes and formats.</a:t>
            </a:r>
          </a:p>
          <a:p>
            <a:pPr lvl="0"/>
            <a:endParaRPr lang="en-US" sz="2000" b="1" i="1" dirty="0"/>
          </a:p>
          <a:p>
            <a:pPr lvl="0"/>
            <a:r>
              <a:rPr lang="en-US" sz="2000" b="1" i="1" dirty="0"/>
              <a:t>Velocity/Variability</a:t>
            </a:r>
            <a:r>
              <a:rPr lang="en-US" sz="2000" dirty="0"/>
              <a:t>: assets current prices collect continuously.</a:t>
            </a:r>
            <a:endParaRPr lang="it-IT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566795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1A7364-9B4E-DC49-AA70-BE5A302DE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Preliminary UML Class Diagram</a:t>
            </a:r>
          </a:p>
        </p:txBody>
      </p:sp>
      <p:pic>
        <p:nvPicPr>
          <p:cNvPr id="6" name="Immagine 5" descr="Immagine che contiene testo, diagramma, Piano, Parallelo&#10;&#10;Il contenuto generato dall'IA potrebbe non essere corretto.">
            <a:extLst>
              <a:ext uri="{FF2B5EF4-FFF2-40B4-BE49-F238E27FC236}">
                <a16:creationId xmlns:a16="http://schemas.microsoft.com/office/drawing/2014/main" id="{BEDBD575-8541-936E-1CA3-E9131EBEAE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4144" y="936534"/>
            <a:ext cx="5475712" cy="4984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7925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C7EEC7-48BB-B542-9A2A-E3C09D99B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Relevant Queries and Entities </a:t>
            </a:r>
            <a:br>
              <a:rPr lang="en-US" dirty="0"/>
            </a:br>
            <a:r>
              <a:rPr lang="en-US" dirty="0"/>
              <a:t>handled by Document DB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EACFDDDE-7C48-D314-60A3-49ADC540D82F}"/>
              </a:ext>
            </a:extLst>
          </p:cNvPr>
          <p:cNvSpPr txBox="1"/>
          <p:nvPr/>
        </p:nvSpPr>
        <p:spPr>
          <a:xfrm>
            <a:off x="182741" y="1055235"/>
            <a:ext cx="877851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Entities</a:t>
            </a:r>
            <a:r>
              <a:rPr lang="en-US" dirty="0"/>
              <a:t>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User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Asset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 err="1"/>
              <a:t>Asset_price</a:t>
            </a:r>
            <a:endParaRPr lang="it-IT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 err="1"/>
              <a:t>Transaction</a:t>
            </a:r>
            <a:endParaRPr lang="it-IT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News</a:t>
            </a:r>
          </a:p>
          <a:p>
            <a:r>
              <a:rPr lang="en-US" dirty="0"/>
              <a:t>	</a:t>
            </a:r>
          </a:p>
          <a:p>
            <a:r>
              <a:rPr lang="en-US" b="1" dirty="0"/>
              <a:t>Requirements</a:t>
            </a:r>
            <a:r>
              <a:rPr lang="en-US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View the top 10 assets with the best growth or worst decline over the past day or week;</a:t>
            </a:r>
            <a:endParaRPr lang="it-IT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View the top 10 most traded assets on the platform;</a:t>
            </a:r>
            <a:endParaRPr lang="it-IT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Analyze the number of transaction, by categories, over time;</a:t>
            </a:r>
            <a:endParaRPr lang="it-IT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Analyze the number of transactions by payment type.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View the total amount of money invested in assets over a specific time range (</a:t>
            </a:r>
            <a:r>
              <a:rPr lang="en-US" dirty="0" err="1"/>
              <a:t>e,g</a:t>
            </a:r>
            <a:r>
              <a:rPr lang="en-US" dirty="0"/>
              <a:t>, week, month, …).</a:t>
            </a:r>
            <a:endParaRPr lang="it-IT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Visualize the positive or negative financial flow generated by buy/sell operations within a selected time period (e.g. week, month, …).</a:t>
            </a:r>
            <a:endParaRPr lang="it-IT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5658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C7EEC7-48BB-B542-9A2A-E3C09D99B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Relevant queries and Entities </a:t>
            </a:r>
            <a:br>
              <a:rPr lang="en-US" dirty="0"/>
            </a:br>
            <a:r>
              <a:rPr lang="en-US" dirty="0"/>
              <a:t>handled by Key-Value DB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DB1C88CA-0927-DAAA-D3C2-B7F66AC697BD}"/>
              </a:ext>
            </a:extLst>
          </p:cNvPr>
          <p:cNvSpPr txBox="1"/>
          <p:nvPr/>
        </p:nvSpPr>
        <p:spPr>
          <a:xfrm>
            <a:off x="538843" y="1469572"/>
            <a:ext cx="749481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Entities</a:t>
            </a:r>
            <a:r>
              <a:rPr lang="en-US" dirty="0"/>
              <a:t>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User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Asset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 err="1"/>
              <a:t>Asset_price</a:t>
            </a:r>
            <a:endParaRPr lang="it-IT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 err="1"/>
              <a:t>Transaction</a:t>
            </a:r>
            <a:endParaRPr lang="it-IT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News</a:t>
            </a:r>
          </a:p>
          <a:p>
            <a:r>
              <a:rPr lang="en-US" dirty="0"/>
              <a:t>	</a:t>
            </a:r>
          </a:p>
          <a:p>
            <a:r>
              <a:rPr lang="en-US" b="1" dirty="0"/>
              <a:t>Requirements</a:t>
            </a:r>
            <a:r>
              <a:rPr lang="en-US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Add real-time asset price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Update last-time asset price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See daily history price for assets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Get assets list and their information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Get latest k news</a:t>
            </a:r>
          </a:p>
        </p:txBody>
      </p:sp>
    </p:spTree>
    <p:extLst>
      <p:ext uri="{BB962C8B-B14F-4D97-AF65-F5344CB8AC3E}">
        <p14:creationId xmlns:p14="http://schemas.microsoft.com/office/powerpoint/2010/main" val="416586108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BB8A863AA77604BB9E099A2A78889A6" ma:contentTypeVersion="14" ma:contentTypeDescription="Create a new document." ma:contentTypeScope="" ma:versionID="2512cb8a8dbd6bdee4fe64ec99762001">
  <xsd:schema xmlns:xsd="http://www.w3.org/2001/XMLSchema" xmlns:xs="http://www.w3.org/2001/XMLSchema" xmlns:p="http://schemas.microsoft.com/office/2006/metadata/properties" xmlns:ns3="0b8d8c9a-4875-4109-b71c-bbab02fd9f8c" xmlns:ns4="cca397da-9f88-4e2c-9716-c2644b85d665" targetNamespace="http://schemas.microsoft.com/office/2006/metadata/properties" ma:root="true" ma:fieldsID="8a8f1d516c362469492653a1d89df286" ns3:_="" ns4:_="">
    <xsd:import namespace="0b8d8c9a-4875-4109-b71c-bbab02fd9f8c"/>
    <xsd:import namespace="cca397da-9f88-4e2c-9716-c2644b85d665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SearchProperties" minOccurs="0"/>
                <xsd:element ref="ns3:MediaServiceDateTaken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b8d8c9a-4875-4109-b71c-bbab02fd9f8c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ca397da-9f88-4e2c-9716-c2644b85d665" elementFormDefault="qualified">
    <xsd:import namespace="http://schemas.microsoft.com/office/2006/documentManagement/types"/>
    <xsd:import namespace="http://schemas.microsoft.com/office/infopath/2007/PartnerControls"/>
    <xsd:element name="SharedWithUsers" ma:index="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1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0b8d8c9a-4875-4109-b71c-bbab02fd9f8c" xsi:nil="true"/>
  </documentManagement>
</p:properties>
</file>

<file path=customXml/itemProps1.xml><?xml version="1.0" encoding="utf-8"?>
<ds:datastoreItem xmlns:ds="http://schemas.openxmlformats.org/officeDocument/2006/customXml" ds:itemID="{45268C08-178F-4382-8E26-2D22CC3C784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0A0F443-8F77-48E6-BAB8-D9A58A9686B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b8d8c9a-4875-4109-b71c-bbab02fd9f8c"/>
    <ds:schemaRef ds:uri="cca397da-9f88-4e2c-9716-c2644b85d66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83EEF11-A4F4-4715-AB9B-5F0BA3F89513}">
  <ds:schemaRefs>
    <ds:schemaRef ds:uri="http://purl.org/dc/dcmitype/"/>
    <ds:schemaRef ds:uri="http://schemas.openxmlformats.org/package/2006/metadata/core-properties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cca397da-9f88-4e2c-9716-c2644b85d665"/>
    <ds:schemaRef ds:uri="0b8d8c9a-4875-4109-b71c-bbab02fd9f8c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4202</TotalTime>
  <Words>802</Words>
  <Application>Microsoft Office PowerPoint</Application>
  <PresentationFormat>Presentazione su schermo (4:3)</PresentationFormat>
  <Paragraphs>170</Paragraphs>
  <Slides>13</Slides>
  <Notes>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13</vt:i4>
      </vt:variant>
    </vt:vector>
  </HeadingPairs>
  <TitlesOfParts>
    <vt:vector size="17" baseType="lpstr">
      <vt:lpstr>Arial</vt:lpstr>
      <vt:lpstr>Arial Nova Light</vt:lpstr>
      <vt:lpstr>Calibri</vt:lpstr>
      <vt:lpstr>Tema di Office</vt:lpstr>
      <vt:lpstr>Large-Scale and Multi-Structured Databases Project Design MyFuture</vt:lpstr>
      <vt:lpstr>Application Highlights</vt:lpstr>
      <vt:lpstr>Actors and Use cases</vt:lpstr>
      <vt:lpstr>Mock-ups (0)</vt:lpstr>
      <vt:lpstr>Presentazione standard di PowerPoint</vt:lpstr>
      <vt:lpstr>Mock-ups (1)</vt:lpstr>
      <vt:lpstr>Presentazione standard di PowerPoint</vt:lpstr>
      <vt:lpstr>Mock-ups (2)</vt:lpstr>
      <vt:lpstr>Presentazione standard di PowerPoint</vt:lpstr>
      <vt:lpstr>Dataset Description</vt:lpstr>
      <vt:lpstr>Preliminary UML Class Diagram</vt:lpstr>
      <vt:lpstr>Relevant Queries and Entities  handled by Document DB</vt:lpstr>
      <vt:lpstr>Relevant queries and Entities  handled by Key-Value DB</vt:lpstr>
    </vt:vector>
  </TitlesOfParts>
  <Company>Università di Pisa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Large Scale and Non-Structured Databases The Database Revolutions</dc:title>
  <dc:creator>Francesco  Marcelloni</dc:creator>
  <cp:lastModifiedBy>Alessandro Diana</cp:lastModifiedBy>
  <cp:revision>192</cp:revision>
  <dcterms:created xsi:type="dcterms:W3CDTF">2019-07-02T09:26:30Z</dcterms:created>
  <dcterms:modified xsi:type="dcterms:W3CDTF">2025-11-10T19:05:36Z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0x0101006BB8A863AA77604BB9E099A2A78889A6</vt:lpwstr>
  </property>
</Properties>
</file>