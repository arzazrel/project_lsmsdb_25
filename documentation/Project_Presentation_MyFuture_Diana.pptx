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256" r:id="rId2"/>
    <p:sldId id="257" r:id="rId3"/>
    <p:sldId id="285" r:id="rId4"/>
    <p:sldId id="258" r:id="rId5"/>
    <p:sldId id="259" r:id="rId6"/>
    <p:sldId id="306" r:id="rId7"/>
    <p:sldId id="307" r:id="rId8"/>
    <p:sldId id="311" r:id="rId9"/>
    <p:sldId id="322" r:id="rId10"/>
    <p:sldId id="324" r:id="rId11"/>
    <p:sldId id="325" r:id="rId12"/>
    <p:sldId id="326" r:id="rId13"/>
    <p:sldId id="327" r:id="rId14"/>
    <p:sldId id="330" r:id="rId15"/>
    <p:sldId id="331" r:id="rId16"/>
    <p:sldId id="332" r:id="rId17"/>
    <p:sldId id="333" r:id="rId18"/>
    <p:sldId id="334" r:id="rId19"/>
    <p:sldId id="335" r:id="rId20"/>
    <p:sldId id="336" r:id="rId21"/>
    <p:sldId id="337" r:id="rId22"/>
    <p:sldId id="308" r:id="rId23"/>
    <p:sldId id="312" r:id="rId24"/>
    <p:sldId id="338" r:id="rId25"/>
    <p:sldId id="313" r:id="rId26"/>
    <p:sldId id="339" r:id="rId27"/>
    <p:sldId id="314" r:id="rId28"/>
    <p:sldId id="340" r:id="rId29"/>
    <p:sldId id="309" r:id="rId30"/>
    <p:sldId id="315" r:id="rId31"/>
    <p:sldId id="317" r:id="rId32"/>
    <p:sldId id="316" r:id="rId33"/>
    <p:sldId id="318" r:id="rId34"/>
    <p:sldId id="279" r:id="rId35"/>
    <p:sldId id="299" r:id="rId36"/>
    <p:sldId id="300" r:id="rId37"/>
    <p:sldId id="310" r:id="rId38"/>
    <p:sldId id="319" r:id="rId39"/>
    <p:sldId id="320" r:id="rId40"/>
    <p:sldId id="321" r:id="rId41"/>
    <p:sldId id="271" r:id="rId42"/>
    <p:sldId id="275" r:id="rId43"/>
    <p:sldId id="278" r:id="rId44"/>
    <p:sldId id="301" r:id="rId45"/>
    <p:sldId id="302" r:id="rId46"/>
    <p:sldId id="304" r:id="rId47"/>
    <p:sldId id="305" r:id="rId48"/>
    <p:sldId id="281" r:id="rId49"/>
    <p:sldId id="341" r:id="rId50"/>
    <p:sldId id="342" r:id="rId51"/>
    <p:sldId id="343" r:id="rId52"/>
  </p:sldIdLst>
  <p:sldSz cx="9144000" cy="6858000" type="screen4x3"/>
  <p:notesSz cx="6858000" cy="9144000"/>
  <p:defaultText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81972" autoAdjust="0"/>
  </p:normalViewPr>
  <p:slideViewPr>
    <p:cSldViewPr snapToGrid="0" snapToObjects="1">
      <p:cViewPr varScale="1">
        <p:scale>
          <a:sx n="68" d="100"/>
          <a:sy n="68" d="100"/>
        </p:scale>
        <p:origin x="1661"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EF95162-6873-F647-B392-BF6A1F606277}" type="datetimeFigureOut">
              <a:rPr lang="it-IT" smtClean="0"/>
              <a:t>25/02/2026</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0FDF8BA-B6A2-CC4D-B552-37BF044E1040}" type="slidenum">
              <a:rPr lang="it-IT" smtClean="0"/>
              <a:t>‹N›</a:t>
            </a:fld>
            <a:endParaRPr lang="it-IT"/>
          </a:p>
        </p:txBody>
      </p:sp>
    </p:spTree>
    <p:extLst>
      <p:ext uri="{BB962C8B-B14F-4D97-AF65-F5344CB8AC3E}">
        <p14:creationId xmlns:p14="http://schemas.microsoft.com/office/powerpoint/2010/main" val="114686005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fld id="{60FDF8BA-B6A2-CC4D-B552-37BF044E1040}" type="slidenum">
              <a:rPr lang="it-IT" smtClean="0"/>
              <a:t>45</a:t>
            </a:fld>
            <a:endParaRPr lang="it-IT"/>
          </a:p>
        </p:txBody>
      </p:sp>
    </p:spTree>
    <p:extLst>
      <p:ext uri="{BB962C8B-B14F-4D97-AF65-F5344CB8AC3E}">
        <p14:creationId xmlns:p14="http://schemas.microsoft.com/office/powerpoint/2010/main" val="88887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6FD76-7889-C0B0-6866-172CD637484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785D6E6-0D73-2189-75D1-BB79ECD9E0A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9F3A8735-1909-3B42-60A2-BDEF1741CC64}"/>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5AB6D029-EE77-ED1D-ED7D-52E33D685650}"/>
              </a:ext>
            </a:extLst>
          </p:cNvPr>
          <p:cNvSpPr>
            <a:spLocks noGrp="1"/>
          </p:cNvSpPr>
          <p:nvPr>
            <p:ph type="sldNum" sz="quarter" idx="5"/>
          </p:nvPr>
        </p:nvSpPr>
        <p:spPr/>
        <p:txBody>
          <a:bodyPr/>
          <a:lstStyle/>
          <a:p>
            <a:fld id="{60FDF8BA-B6A2-CC4D-B552-37BF044E1040}" type="slidenum">
              <a:rPr lang="it-IT" smtClean="0"/>
              <a:t>46</a:t>
            </a:fld>
            <a:endParaRPr lang="it-IT"/>
          </a:p>
        </p:txBody>
      </p:sp>
    </p:spTree>
    <p:extLst>
      <p:ext uri="{BB962C8B-B14F-4D97-AF65-F5344CB8AC3E}">
        <p14:creationId xmlns:p14="http://schemas.microsoft.com/office/powerpoint/2010/main" val="32517228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6ED47-3AFB-F5F2-44A0-9A5573EA135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F6EB77F-73EE-EDA6-42BA-75623EFD247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0E81A358-AEA3-A234-2499-F9F9AFCE2B14}"/>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1E249FD6-F516-A8E6-A893-363E6DB9426E}"/>
              </a:ext>
            </a:extLst>
          </p:cNvPr>
          <p:cNvSpPr>
            <a:spLocks noGrp="1"/>
          </p:cNvSpPr>
          <p:nvPr>
            <p:ph type="sldNum" sz="quarter" idx="5"/>
          </p:nvPr>
        </p:nvSpPr>
        <p:spPr/>
        <p:txBody>
          <a:bodyPr/>
          <a:lstStyle/>
          <a:p>
            <a:fld id="{60FDF8BA-B6A2-CC4D-B552-37BF044E1040}" type="slidenum">
              <a:rPr lang="it-IT" smtClean="0"/>
              <a:t>47</a:t>
            </a:fld>
            <a:endParaRPr lang="it-IT"/>
          </a:p>
        </p:txBody>
      </p:sp>
    </p:spTree>
    <p:extLst>
      <p:ext uri="{BB962C8B-B14F-4D97-AF65-F5344CB8AC3E}">
        <p14:creationId xmlns:p14="http://schemas.microsoft.com/office/powerpoint/2010/main" val="1830511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a:t>Fare clic per modificare stile</a:t>
            </a:r>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p>
        </p:txBody>
      </p:sp>
      <p:sp>
        <p:nvSpPr>
          <p:cNvPr id="4" name="Segnaposto data 3"/>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25/02/2026</a:t>
            </a:fld>
            <a:endParaRPr lang="it-IT"/>
          </a:p>
        </p:txBody>
      </p:sp>
      <p:sp>
        <p:nvSpPr>
          <p:cNvPr id="5" name="Segnaposto piè di pagina 4"/>
          <p:cNvSpPr>
            <a:spLocks noGrp="1"/>
          </p:cNvSpPr>
          <p:nvPr>
            <p:ph type="ftr" sz="quarter" idx="11"/>
          </p:nvPr>
        </p:nvSpPr>
        <p:spPr>
          <a:xfrm>
            <a:off x="3124200" y="6356350"/>
            <a:ext cx="2895600" cy="365125"/>
          </a:xfrm>
          <a:prstGeom prst="rect">
            <a:avLst/>
          </a:prstGeom>
        </p:spPr>
        <p:txBody>
          <a:bodyPr/>
          <a:lstStyle/>
          <a:p>
            <a:endParaRPr lang="it-IT"/>
          </a:p>
        </p:txBody>
      </p:sp>
      <p:sp>
        <p:nvSpPr>
          <p:cNvPr id="6" name="Segnaposto numero diapositiva 5"/>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1780815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contenuto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25/02/2026</a:t>
            </a:fld>
            <a:endParaRPr lang="it-IT"/>
          </a:p>
        </p:txBody>
      </p:sp>
      <p:sp>
        <p:nvSpPr>
          <p:cNvPr id="5" name="Segnaposto piè di pagina 4"/>
          <p:cNvSpPr>
            <a:spLocks noGrp="1"/>
          </p:cNvSpPr>
          <p:nvPr>
            <p:ph type="ftr" sz="quarter" idx="11"/>
          </p:nvPr>
        </p:nvSpPr>
        <p:spPr>
          <a:xfrm>
            <a:off x="3124200" y="6356350"/>
            <a:ext cx="2895600" cy="365125"/>
          </a:xfrm>
          <a:prstGeom prst="rect">
            <a:avLst/>
          </a:prstGeom>
        </p:spPr>
        <p:txBody>
          <a:bodyPr/>
          <a:lstStyle/>
          <a:p>
            <a:endParaRPr lang="it-IT"/>
          </a:p>
        </p:txBody>
      </p:sp>
      <p:sp>
        <p:nvSpPr>
          <p:cNvPr id="6" name="Segnaposto numero diapositiva 5"/>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4201116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a:t>Fare clic per modificare stile</a:t>
            </a:r>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Segnaposto data 3"/>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25/02/2026</a:t>
            </a:fld>
            <a:endParaRPr lang="it-IT"/>
          </a:p>
        </p:txBody>
      </p:sp>
      <p:sp>
        <p:nvSpPr>
          <p:cNvPr id="5" name="Segnaposto piè di pagina 4"/>
          <p:cNvSpPr>
            <a:spLocks noGrp="1"/>
          </p:cNvSpPr>
          <p:nvPr>
            <p:ph type="ftr" sz="quarter" idx="11"/>
          </p:nvPr>
        </p:nvSpPr>
        <p:spPr>
          <a:xfrm>
            <a:off x="3124200" y="6356350"/>
            <a:ext cx="2895600" cy="365125"/>
          </a:xfrm>
          <a:prstGeom prst="rect">
            <a:avLst/>
          </a:prstGeom>
        </p:spPr>
        <p:txBody>
          <a:bodyPr/>
          <a:lstStyle/>
          <a:p>
            <a:endParaRPr lang="it-IT"/>
          </a:p>
        </p:txBody>
      </p:sp>
      <p:sp>
        <p:nvSpPr>
          <p:cNvPr id="6" name="Segnaposto numero diapositiva 5"/>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3897685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nuto 2">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25/02/2026</a:t>
            </a:fld>
            <a:endParaRPr lang="it-IT"/>
          </a:p>
        </p:txBody>
      </p:sp>
      <p:sp>
        <p:nvSpPr>
          <p:cNvPr id="6" name="Segnaposto piè di pagina 5"/>
          <p:cNvSpPr>
            <a:spLocks noGrp="1"/>
          </p:cNvSpPr>
          <p:nvPr>
            <p:ph type="ftr" sz="quarter" idx="11"/>
          </p:nvPr>
        </p:nvSpPr>
        <p:spPr>
          <a:xfrm>
            <a:off x="3124200" y="6356350"/>
            <a:ext cx="2895600" cy="365125"/>
          </a:xfrm>
          <a:prstGeom prst="rect">
            <a:avLst/>
          </a:prstGeom>
        </p:spPr>
        <p:txBody>
          <a:bodyPr/>
          <a:lstStyle/>
          <a:p>
            <a:endParaRPr lang="it-IT"/>
          </a:p>
        </p:txBody>
      </p:sp>
      <p:sp>
        <p:nvSpPr>
          <p:cNvPr id="7" name="Segnaposto numero diapositiva 6"/>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938557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a:t>Fare clic per modificare stile</a:t>
            </a:r>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25/02/2026</a:t>
            </a:fld>
            <a:endParaRPr lang="it-IT"/>
          </a:p>
        </p:txBody>
      </p:sp>
      <p:sp>
        <p:nvSpPr>
          <p:cNvPr id="8" name="Segnaposto piè di pagina 7"/>
          <p:cNvSpPr>
            <a:spLocks noGrp="1"/>
          </p:cNvSpPr>
          <p:nvPr>
            <p:ph type="ftr" sz="quarter" idx="11"/>
          </p:nvPr>
        </p:nvSpPr>
        <p:spPr>
          <a:xfrm>
            <a:off x="3124200" y="6356350"/>
            <a:ext cx="2895600" cy="365125"/>
          </a:xfrm>
          <a:prstGeom prst="rect">
            <a:avLst/>
          </a:prstGeom>
        </p:spPr>
        <p:txBody>
          <a:bodyPr/>
          <a:lstStyle/>
          <a:p>
            <a:endParaRPr lang="it-IT"/>
          </a:p>
        </p:txBody>
      </p:sp>
      <p:sp>
        <p:nvSpPr>
          <p:cNvPr id="9" name="Segnaposto numero diapositiva 8"/>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3635088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data 2"/>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25/02/2026</a:t>
            </a:fld>
            <a:endParaRPr lang="it-IT"/>
          </a:p>
        </p:txBody>
      </p:sp>
      <p:sp>
        <p:nvSpPr>
          <p:cNvPr id="4" name="Segnaposto piè di pagina 3"/>
          <p:cNvSpPr>
            <a:spLocks noGrp="1"/>
          </p:cNvSpPr>
          <p:nvPr>
            <p:ph type="ftr" sz="quarter" idx="11"/>
          </p:nvPr>
        </p:nvSpPr>
        <p:spPr>
          <a:xfrm>
            <a:off x="3124200" y="6356350"/>
            <a:ext cx="2895600" cy="365125"/>
          </a:xfrm>
          <a:prstGeom prst="rect">
            <a:avLst/>
          </a:prstGeom>
        </p:spPr>
        <p:txBody>
          <a:bodyPr/>
          <a:lstStyle/>
          <a:p>
            <a:endParaRPr lang="it-IT"/>
          </a:p>
        </p:txBody>
      </p:sp>
      <p:sp>
        <p:nvSpPr>
          <p:cNvPr id="5" name="Segnaposto numero diapositiva 4"/>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266758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o">
    <p:spTree>
      <p:nvGrpSpPr>
        <p:cNvPr id="1" name=""/>
        <p:cNvGrpSpPr/>
        <p:nvPr/>
      </p:nvGrpSpPr>
      <p:grpSpPr>
        <a:xfrm>
          <a:off x="0" y="0"/>
          <a:ext cx="0" cy="0"/>
          <a:chOff x="0" y="0"/>
          <a:chExt cx="0" cy="0"/>
        </a:xfrm>
      </p:grpSpPr>
      <p:sp>
        <p:nvSpPr>
          <p:cNvPr id="2" name="Segnaposto data 1"/>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25/02/2026</a:t>
            </a:fld>
            <a:endParaRPr lang="it-IT"/>
          </a:p>
        </p:txBody>
      </p:sp>
      <p:sp>
        <p:nvSpPr>
          <p:cNvPr id="3" name="Segnaposto piè di pagina 2"/>
          <p:cNvSpPr>
            <a:spLocks noGrp="1"/>
          </p:cNvSpPr>
          <p:nvPr>
            <p:ph type="ftr" sz="quarter" idx="11"/>
          </p:nvPr>
        </p:nvSpPr>
        <p:spPr>
          <a:xfrm>
            <a:off x="3124200" y="6356350"/>
            <a:ext cx="2895600" cy="365125"/>
          </a:xfrm>
          <a:prstGeom prst="rect">
            <a:avLst/>
          </a:prstGeom>
        </p:spPr>
        <p:txBody>
          <a:bodyPr/>
          <a:lstStyle/>
          <a:p>
            <a:endParaRPr lang="it-IT"/>
          </a:p>
        </p:txBody>
      </p:sp>
      <p:sp>
        <p:nvSpPr>
          <p:cNvPr id="4" name="Segnaposto numero diapositiva 3"/>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1124255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a:t>Fare clic per modificare stile</a:t>
            </a:r>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Segnaposto data 4"/>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25/02/2026</a:t>
            </a:fld>
            <a:endParaRPr lang="it-IT"/>
          </a:p>
        </p:txBody>
      </p:sp>
      <p:sp>
        <p:nvSpPr>
          <p:cNvPr id="6" name="Segnaposto piè di pagina 5"/>
          <p:cNvSpPr>
            <a:spLocks noGrp="1"/>
          </p:cNvSpPr>
          <p:nvPr>
            <p:ph type="ftr" sz="quarter" idx="11"/>
          </p:nvPr>
        </p:nvSpPr>
        <p:spPr>
          <a:xfrm>
            <a:off x="3124200" y="6356350"/>
            <a:ext cx="2895600" cy="365125"/>
          </a:xfrm>
          <a:prstGeom prst="rect">
            <a:avLst/>
          </a:prstGeom>
        </p:spPr>
        <p:txBody>
          <a:bodyPr/>
          <a:lstStyle/>
          <a:p>
            <a:endParaRPr lang="it-IT"/>
          </a:p>
        </p:txBody>
      </p:sp>
      <p:sp>
        <p:nvSpPr>
          <p:cNvPr id="7" name="Segnaposto numero diapositiva 6"/>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1524671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a:t>Fare clic per modificare stile</a:t>
            </a:r>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Segnaposto data 4"/>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25/02/2026</a:t>
            </a:fld>
            <a:endParaRPr lang="it-IT"/>
          </a:p>
        </p:txBody>
      </p:sp>
      <p:sp>
        <p:nvSpPr>
          <p:cNvPr id="6" name="Segnaposto piè di pagina 5"/>
          <p:cNvSpPr>
            <a:spLocks noGrp="1"/>
          </p:cNvSpPr>
          <p:nvPr>
            <p:ph type="ftr" sz="quarter" idx="11"/>
          </p:nvPr>
        </p:nvSpPr>
        <p:spPr>
          <a:xfrm>
            <a:off x="3124200" y="6356350"/>
            <a:ext cx="2895600" cy="365125"/>
          </a:xfrm>
          <a:prstGeom prst="rect">
            <a:avLst/>
          </a:prstGeom>
        </p:spPr>
        <p:txBody>
          <a:bodyPr/>
          <a:lstStyle/>
          <a:p>
            <a:endParaRPr lang="it-IT"/>
          </a:p>
        </p:txBody>
      </p:sp>
      <p:sp>
        <p:nvSpPr>
          <p:cNvPr id="7" name="Segnaposto numero diapositiva 6"/>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2954062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testo verticale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25/02/2026</a:t>
            </a:fld>
            <a:endParaRPr lang="it-IT"/>
          </a:p>
        </p:txBody>
      </p:sp>
      <p:sp>
        <p:nvSpPr>
          <p:cNvPr id="5" name="Segnaposto piè di pagina 4"/>
          <p:cNvSpPr>
            <a:spLocks noGrp="1"/>
          </p:cNvSpPr>
          <p:nvPr>
            <p:ph type="ftr" sz="quarter" idx="11"/>
          </p:nvPr>
        </p:nvSpPr>
        <p:spPr>
          <a:xfrm>
            <a:off x="3124200" y="6356350"/>
            <a:ext cx="2895600" cy="365125"/>
          </a:xfrm>
          <a:prstGeom prst="rect">
            <a:avLst/>
          </a:prstGeom>
        </p:spPr>
        <p:txBody>
          <a:bodyPr/>
          <a:lstStyle/>
          <a:p>
            <a:endParaRPr lang="it-IT"/>
          </a:p>
        </p:txBody>
      </p:sp>
      <p:sp>
        <p:nvSpPr>
          <p:cNvPr id="6" name="Segnaposto numero diapositiva 5"/>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79310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verticale e testo">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a:t>Fare clic per modificare stile</a:t>
            </a:r>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a:xfrm>
            <a:off x="457200" y="6356350"/>
            <a:ext cx="2133600" cy="365125"/>
          </a:xfrm>
          <a:prstGeom prst="rect">
            <a:avLst/>
          </a:prstGeom>
        </p:spPr>
        <p:txBody>
          <a:bodyPr/>
          <a:lstStyle/>
          <a:p>
            <a:fld id="{2FDCBEE4-315A-8E42-835E-29A1DAE07625}" type="datetimeFigureOut">
              <a:rPr lang="it-IT" smtClean="0"/>
              <a:t>25/02/2026</a:t>
            </a:fld>
            <a:endParaRPr lang="it-IT"/>
          </a:p>
        </p:txBody>
      </p:sp>
      <p:sp>
        <p:nvSpPr>
          <p:cNvPr id="5" name="Segnaposto piè di pagina 4"/>
          <p:cNvSpPr>
            <a:spLocks noGrp="1"/>
          </p:cNvSpPr>
          <p:nvPr>
            <p:ph type="ftr" sz="quarter" idx="11"/>
          </p:nvPr>
        </p:nvSpPr>
        <p:spPr>
          <a:xfrm>
            <a:off x="3124200" y="6356350"/>
            <a:ext cx="2895600" cy="365125"/>
          </a:xfrm>
          <a:prstGeom prst="rect">
            <a:avLst/>
          </a:prstGeom>
        </p:spPr>
        <p:txBody>
          <a:bodyPr/>
          <a:lstStyle/>
          <a:p>
            <a:endParaRPr lang="it-IT"/>
          </a:p>
        </p:txBody>
      </p:sp>
      <p:sp>
        <p:nvSpPr>
          <p:cNvPr id="6" name="Segnaposto numero diapositiva 5"/>
          <p:cNvSpPr>
            <a:spLocks noGrp="1"/>
          </p:cNvSpPr>
          <p:nvPr>
            <p:ph type="sldNum" sz="quarter" idx="12"/>
          </p:nvPr>
        </p:nvSpPr>
        <p:spPr>
          <a:xfrm>
            <a:off x="6553200" y="6356350"/>
            <a:ext cx="2133600" cy="365125"/>
          </a:xfrm>
          <a:prstGeom prst="rect">
            <a:avLst/>
          </a:prstGeom>
        </p:spPr>
        <p:txBody>
          <a:bodyPr/>
          <a:lstStyle/>
          <a:p>
            <a:fld id="{F3EAF9BD-73C2-C944-967F-16A9AD6CE362}" type="slidenum">
              <a:rPr lang="it-IT" smtClean="0"/>
              <a:t>‹N›</a:t>
            </a:fld>
            <a:endParaRPr lang="it-IT"/>
          </a:p>
        </p:txBody>
      </p:sp>
    </p:spTree>
    <p:extLst>
      <p:ext uri="{BB962C8B-B14F-4D97-AF65-F5344CB8AC3E}">
        <p14:creationId xmlns:p14="http://schemas.microsoft.com/office/powerpoint/2010/main" val="3082130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182741" y="90093"/>
            <a:ext cx="8761797" cy="1143000"/>
          </a:xfrm>
          <a:prstGeom prst="rect">
            <a:avLst/>
          </a:prstGeom>
        </p:spPr>
        <p:txBody>
          <a:bodyPr vert="horz" lIns="91440" tIns="45720" rIns="91440" bIns="45720" rtlCol="0" anchor="ctr">
            <a:normAutofit/>
          </a:bodyPr>
          <a:lstStyle/>
          <a:p>
            <a:r>
              <a:rPr lang="en-US" noProof="0" dirty="0"/>
              <a:t>Fare </a:t>
            </a:r>
            <a:r>
              <a:rPr lang="en-US" noProof="0" dirty="0" err="1"/>
              <a:t>clic</a:t>
            </a:r>
            <a:r>
              <a:rPr lang="en-US" noProof="0" dirty="0"/>
              <a:t> per </a:t>
            </a:r>
            <a:r>
              <a:rPr lang="en-US" noProof="0" dirty="0" err="1"/>
              <a:t>modificare</a:t>
            </a:r>
            <a:r>
              <a:rPr lang="en-US" noProof="0" dirty="0"/>
              <a:t> stile</a:t>
            </a:r>
          </a:p>
        </p:txBody>
      </p:sp>
      <p:sp>
        <p:nvSpPr>
          <p:cNvPr id="3" name="Segnaposto testo 2"/>
          <p:cNvSpPr>
            <a:spLocks noGrp="1"/>
          </p:cNvSpPr>
          <p:nvPr>
            <p:ph type="body" idx="1"/>
          </p:nvPr>
        </p:nvSpPr>
        <p:spPr>
          <a:xfrm>
            <a:off x="182741" y="1350522"/>
            <a:ext cx="8761797" cy="4794457"/>
          </a:xfrm>
          <a:prstGeom prst="rect">
            <a:avLst/>
          </a:prstGeom>
        </p:spPr>
        <p:txBody>
          <a:bodyPr vert="horz" lIns="91440" tIns="45720" rIns="91440" bIns="45720" rtlCol="0">
            <a:normAutofit/>
          </a:bodyPr>
          <a:lstStyle/>
          <a:p>
            <a:pPr lvl="0"/>
            <a:r>
              <a:rPr lang="en-US" noProof="0" dirty="0"/>
              <a:t>Fare </a:t>
            </a:r>
            <a:r>
              <a:rPr lang="en-US" noProof="0" dirty="0" err="1"/>
              <a:t>clic</a:t>
            </a:r>
            <a:r>
              <a:rPr lang="en-US" noProof="0" dirty="0"/>
              <a:t> per </a:t>
            </a:r>
            <a:r>
              <a:rPr lang="en-US" noProof="0" dirty="0" err="1"/>
              <a:t>modificare</a:t>
            </a:r>
            <a:r>
              <a:rPr lang="en-US" noProof="0" dirty="0"/>
              <a:t> </a:t>
            </a:r>
            <a:r>
              <a:rPr lang="en-US" noProof="0" dirty="0" err="1"/>
              <a:t>gli</a:t>
            </a:r>
            <a:r>
              <a:rPr lang="en-US" noProof="0" dirty="0"/>
              <a:t> </a:t>
            </a:r>
            <a:r>
              <a:rPr lang="en-US" noProof="0" dirty="0" err="1"/>
              <a:t>stili</a:t>
            </a:r>
            <a:r>
              <a:rPr lang="en-US" noProof="0" dirty="0"/>
              <a:t> del </a:t>
            </a:r>
            <a:r>
              <a:rPr lang="en-US" noProof="0" dirty="0" err="1"/>
              <a:t>testo</a:t>
            </a:r>
            <a:r>
              <a:rPr lang="en-US" noProof="0" dirty="0"/>
              <a:t> </a:t>
            </a:r>
            <a:r>
              <a:rPr lang="en-US" noProof="0" dirty="0" err="1"/>
              <a:t>dello</a:t>
            </a:r>
            <a:r>
              <a:rPr lang="en-US" noProof="0" dirty="0"/>
              <a:t> schema</a:t>
            </a:r>
          </a:p>
          <a:p>
            <a:pPr lvl="1"/>
            <a:r>
              <a:rPr lang="en-US" noProof="0" dirty="0"/>
              <a:t>Secondo </a:t>
            </a:r>
            <a:r>
              <a:rPr lang="en-US" noProof="0" dirty="0" err="1"/>
              <a:t>livello</a:t>
            </a:r>
            <a:endParaRPr lang="en-US" noProof="0" dirty="0"/>
          </a:p>
          <a:p>
            <a:pPr lvl="2"/>
            <a:r>
              <a:rPr lang="en-US" noProof="0" dirty="0" err="1"/>
              <a:t>Terzo</a:t>
            </a:r>
            <a:r>
              <a:rPr lang="en-US" noProof="0" dirty="0"/>
              <a:t> </a:t>
            </a:r>
            <a:r>
              <a:rPr lang="en-US" noProof="0" dirty="0" err="1"/>
              <a:t>livello</a:t>
            </a:r>
            <a:endParaRPr lang="en-US" noProof="0" dirty="0"/>
          </a:p>
          <a:p>
            <a:pPr lvl="3"/>
            <a:r>
              <a:rPr lang="en-US" noProof="0" dirty="0"/>
              <a:t>Quarto </a:t>
            </a:r>
            <a:r>
              <a:rPr lang="en-US" noProof="0" dirty="0" err="1"/>
              <a:t>livello</a:t>
            </a:r>
            <a:endParaRPr lang="en-US" noProof="0" dirty="0"/>
          </a:p>
          <a:p>
            <a:pPr lvl="4"/>
            <a:r>
              <a:rPr lang="en-US" noProof="0" dirty="0" err="1"/>
              <a:t>Quinto</a:t>
            </a:r>
            <a:r>
              <a:rPr lang="en-US" noProof="0" dirty="0"/>
              <a:t> </a:t>
            </a:r>
            <a:r>
              <a:rPr lang="en-US" noProof="0" dirty="0" err="1"/>
              <a:t>livello</a:t>
            </a:r>
            <a:endParaRPr lang="en-US" noProof="0" dirty="0"/>
          </a:p>
        </p:txBody>
      </p:sp>
      <p:pic>
        <p:nvPicPr>
          <p:cNvPr id="9" name="Immagine 8" descr="crossLabLogo.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130101" y="6226140"/>
            <a:ext cx="1556700" cy="511003"/>
          </a:xfrm>
          <a:prstGeom prst="rect">
            <a:avLst/>
          </a:prstGeom>
        </p:spPr>
      </p:pic>
      <p:pic>
        <p:nvPicPr>
          <p:cNvPr id="10" name="Immagine 9" descr="Schermata 2019-07-02 alle 11.33.44.png"/>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82742" y="6226140"/>
            <a:ext cx="2392045" cy="548860"/>
          </a:xfrm>
          <a:prstGeom prst="rect">
            <a:avLst/>
          </a:prstGeom>
        </p:spPr>
      </p:pic>
      <p:pic>
        <p:nvPicPr>
          <p:cNvPr id="12" name="Immagine 11" descr="logoUnipi.png"/>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4068848" y="6144979"/>
            <a:ext cx="1307462" cy="696420"/>
          </a:xfrm>
          <a:prstGeom prst="rect">
            <a:avLst/>
          </a:prstGeom>
        </p:spPr>
      </p:pic>
    </p:spTree>
    <p:extLst>
      <p:ext uri="{BB962C8B-B14F-4D97-AF65-F5344CB8AC3E}">
        <p14:creationId xmlns:p14="http://schemas.microsoft.com/office/powerpoint/2010/main" val="11478826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s://www.kaggle.com/datasets/aravsood7/sentiment-analysis-labelled-financial-news-data" TargetMode="External"/><Relationship Id="rId2" Type="http://schemas.openxmlformats.org/officeDocument/2006/relationships/hyperlink" Target="https://www.kaggle.com/datasets/pratyushpuri/financial-news-market-events-dataset-2025" TargetMode="External"/><Relationship Id="rId1" Type="http://schemas.openxmlformats.org/officeDocument/2006/relationships/slideLayout" Target="../slideLayouts/slideLayout6.xml"/><Relationship Id="rId5" Type="http://schemas.openxmlformats.org/officeDocument/2006/relationships/hyperlink" Target="https://www.kaggle.com/datasets/mahmoudshaheen1134/trades-dataset" TargetMode="External"/><Relationship Id="rId4" Type="http://schemas.openxmlformats.org/officeDocument/2006/relationships/hyperlink" Target="https://www.kaggle.com/datasets/sayelabualigah/high-quality-financial-news-dataset-for-nlp-tasks?select=dataset.csv"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0" y="2130425"/>
            <a:ext cx="9144000" cy="1470025"/>
          </a:xfrm>
        </p:spPr>
        <p:txBody>
          <a:bodyPr>
            <a:normAutofit fontScale="90000"/>
          </a:bodyPr>
          <a:lstStyle/>
          <a:p>
            <a:r>
              <a:rPr lang="en-US" sz="3900"/>
              <a:t>Large-Scale and Multi-Structured Databases</a:t>
            </a:r>
            <a:br>
              <a:rPr lang="en-US" sz="4000"/>
            </a:br>
            <a:r>
              <a:rPr lang="en-US" sz="4000" b="1" i="1"/>
              <a:t>Project Design</a:t>
            </a:r>
            <a:br>
              <a:rPr lang="en-US" sz="4000" b="1" i="1"/>
            </a:br>
            <a:r>
              <a:rPr lang="en-US" sz="4000" b="1" i="1"/>
              <a:t>MyFuture</a:t>
            </a:r>
            <a:endParaRPr lang="en-US" sz="3300" i="1" dirty="0"/>
          </a:p>
        </p:txBody>
      </p:sp>
      <p:sp>
        <p:nvSpPr>
          <p:cNvPr id="3" name="Sottotitolo 2"/>
          <p:cNvSpPr>
            <a:spLocks noGrp="1"/>
          </p:cNvSpPr>
          <p:nvPr>
            <p:ph type="subTitle" idx="1"/>
          </p:nvPr>
        </p:nvSpPr>
        <p:spPr/>
        <p:txBody>
          <a:bodyPr/>
          <a:lstStyle/>
          <a:p>
            <a:r>
              <a:rPr lang="it-IT"/>
              <a:t>Alessandro Diana</a:t>
            </a:r>
            <a:endParaRPr lang="it-IT" dirty="0"/>
          </a:p>
        </p:txBody>
      </p:sp>
    </p:spTree>
    <p:extLst>
      <p:ext uri="{BB962C8B-B14F-4D97-AF65-F5344CB8AC3E}">
        <p14:creationId xmlns:p14="http://schemas.microsoft.com/office/powerpoint/2010/main" val="1621469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B33632E-76E6-2A49-A199-3826627DF6B8}"/>
              </a:ext>
            </a:extLst>
          </p:cNvPr>
          <p:cNvSpPr>
            <a:spLocks noGrp="1"/>
          </p:cNvSpPr>
          <p:nvPr>
            <p:ph type="title"/>
          </p:nvPr>
        </p:nvSpPr>
        <p:spPr/>
        <p:txBody>
          <a:bodyPr/>
          <a:lstStyle/>
          <a:p>
            <a:r>
              <a:rPr lang="en-US" dirty="0"/>
              <a:t>Application Highlights</a:t>
            </a:r>
          </a:p>
        </p:txBody>
      </p:sp>
      <p:sp>
        <p:nvSpPr>
          <p:cNvPr id="3" name="CasellaDiTesto 2">
            <a:extLst>
              <a:ext uri="{FF2B5EF4-FFF2-40B4-BE49-F238E27FC236}">
                <a16:creationId xmlns:a16="http://schemas.microsoft.com/office/drawing/2014/main" id="{A701C8F0-FB4C-4E4E-804F-9EE05D7441C4}"/>
              </a:ext>
            </a:extLst>
          </p:cNvPr>
          <p:cNvSpPr txBox="1"/>
          <p:nvPr/>
        </p:nvSpPr>
        <p:spPr>
          <a:xfrm>
            <a:off x="424543" y="1404256"/>
            <a:ext cx="8343900" cy="5078313"/>
          </a:xfrm>
          <a:prstGeom prst="rect">
            <a:avLst/>
          </a:prstGeom>
          <a:noFill/>
        </p:spPr>
        <p:txBody>
          <a:bodyPr wrap="square" rtlCol="0">
            <a:spAutoFit/>
          </a:bodyPr>
          <a:lstStyle/>
          <a:p>
            <a:r>
              <a:rPr lang="en-US" dirty="0" err="1"/>
              <a:t>MyFuture</a:t>
            </a:r>
            <a:r>
              <a:rPr lang="en-US" dirty="0"/>
              <a:t> is a trading web application that provides access to a wide range of financial assets, including stocks, ETFs, and cryptocurrencies.</a:t>
            </a:r>
            <a:br>
              <a:rPr lang="en-US" dirty="0"/>
            </a:br>
            <a:r>
              <a:rPr lang="en-US" dirty="0"/>
              <a:t>The platform allows users to manage their personal account and investment portfolio, enabling them to view, buy, and sell the available assets directly through the app.</a:t>
            </a:r>
          </a:p>
          <a:p>
            <a:r>
              <a:rPr lang="en-US" dirty="0"/>
              <a:t>Users can track their open positions, transactions, and account balance in real time.</a:t>
            </a:r>
            <a:br>
              <a:rPr lang="en-US" dirty="0"/>
            </a:br>
            <a:r>
              <a:rPr lang="en-US" dirty="0"/>
              <a:t>In addition, </a:t>
            </a:r>
            <a:r>
              <a:rPr lang="en-US" dirty="0" err="1"/>
              <a:t>MyFuture</a:t>
            </a:r>
            <a:r>
              <a:rPr lang="en-US" dirty="0"/>
              <a:t> offers a section dedicated to financial news and market updates, helping users stay informed and make better investment decisions.</a:t>
            </a:r>
          </a:p>
          <a:p>
            <a:endParaRPr lang="en-US" dirty="0"/>
          </a:p>
          <a:p>
            <a:r>
              <a:rPr lang="en-US" dirty="0"/>
              <a:t>Summary:</a:t>
            </a:r>
          </a:p>
          <a:p>
            <a:pPr marL="285750" indent="-285750">
              <a:buFont typeface="Arial" panose="020B0604020202020204" pitchFamily="34" charset="0"/>
              <a:buChar char="•"/>
            </a:pPr>
            <a:r>
              <a:rPr lang="en-US" dirty="0"/>
              <a:t>User can browse the assets;</a:t>
            </a:r>
          </a:p>
          <a:p>
            <a:pPr marL="285750" indent="-285750">
              <a:buFont typeface="Arial" panose="020B0604020202020204" pitchFamily="34" charset="0"/>
              <a:buChar char="•"/>
            </a:pPr>
            <a:r>
              <a:rPr lang="en-US" dirty="0"/>
              <a:t>User can visualize plot of assets prices;</a:t>
            </a:r>
          </a:p>
          <a:p>
            <a:pPr marL="285750" indent="-285750">
              <a:buFont typeface="Arial" panose="020B0604020202020204" pitchFamily="34" charset="0"/>
              <a:buChar char="•"/>
            </a:pPr>
            <a:r>
              <a:rPr lang="en-US" dirty="0"/>
              <a:t>User can buy and sell assets;</a:t>
            </a:r>
          </a:p>
          <a:p>
            <a:pPr marL="285750" indent="-285750">
              <a:buFont typeface="Arial" panose="020B0604020202020204" pitchFamily="34" charset="0"/>
              <a:buChar char="•"/>
            </a:pPr>
            <a:r>
              <a:rPr lang="en-US" dirty="0"/>
              <a:t>User can browse the news;</a:t>
            </a:r>
          </a:p>
          <a:p>
            <a:pPr marL="285750" indent="-285750">
              <a:buFont typeface="Arial" panose="020B0604020202020204" pitchFamily="34" charset="0"/>
              <a:buChar char="•"/>
            </a:pPr>
            <a:r>
              <a:rPr lang="en-US" dirty="0"/>
              <a:t>Admin can update, add, or remove assets;</a:t>
            </a:r>
          </a:p>
          <a:p>
            <a:pPr marL="285750" indent="-285750">
              <a:buFont typeface="Arial" panose="020B0604020202020204" pitchFamily="34" charset="0"/>
              <a:buChar char="•"/>
            </a:pPr>
            <a:r>
              <a:rPr lang="en-US" dirty="0"/>
              <a:t>Admin can modify and suspend user accounts.</a:t>
            </a:r>
          </a:p>
          <a:p>
            <a:pPr marL="285750" indent="-285750">
              <a:buFont typeface="Arial" panose="020B0604020202020204" pitchFamily="34" charset="0"/>
              <a:buChar char="•"/>
            </a:pPr>
            <a:r>
              <a:rPr lang="en-US" dirty="0"/>
              <a:t>Admin can calculate analytics.</a:t>
            </a:r>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042111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11D8A20-7DC5-3042-A86D-62CF3361ACA7}"/>
              </a:ext>
            </a:extLst>
          </p:cNvPr>
          <p:cNvSpPr>
            <a:spLocks noGrp="1"/>
          </p:cNvSpPr>
          <p:nvPr>
            <p:ph type="title"/>
          </p:nvPr>
        </p:nvSpPr>
        <p:spPr/>
        <p:txBody>
          <a:bodyPr>
            <a:normAutofit/>
          </a:bodyPr>
          <a:lstStyle/>
          <a:p>
            <a:r>
              <a:rPr lang="en-US" dirty="0"/>
              <a:t>Actors and Use cases</a:t>
            </a:r>
          </a:p>
        </p:txBody>
      </p:sp>
      <p:sp>
        <p:nvSpPr>
          <p:cNvPr id="3" name="CasellaDiTesto 2">
            <a:extLst>
              <a:ext uri="{FF2B5EF4-FFF2-40B4-BE49-F238E27FC236}">
                <a16:creationId xmlns:a16="http://schemas.microsoft.com/office/drawing/2014/main" id="{391F4034-971B-8A4B-888B-5902E8333D6B}"/>
              </a:ext>
            </a:extLst>
          </p:cNvPr>
          <p:cNvSpPr txBox="1"/>
          <p:nvPr/>
        </p:nvSpPr>
        <p:spPr>
          <a:xfrm>
            <a:off x="199462" y="985838"/>
            <a:ext cx="3858188" cy="4801314"/>
          </a:xfrm>
          <a:prstGeom prst="rect">
            <a:avLst/>
          </a:prstGeom>
          <a:noFill/>
        </p:spPr>
        <p:txBody>
          <a:bodyPr wrap="square" rtlCol="0">
            <a:spAutoFit/>
          </a:bodyPr>
          <a:lstStyle/>
          <a:p>
            <a:r>
              <a:rPr lang="en-US" dirty="0"/>
              <a:t>Main actors:</a:t>
            </a:r>
          </a:p>
          <a:p>
            <a:pPr marL="285750" indent="-285750">
              <a:buFont typeface="Arial" panose="020B0604020202020204" pitchFamily="34" charset="0"/>
              <a:buChar char="•"/>
            </a:pPr>
            <a:r>
              <a:rPr lang="en-US" b="1" dirty="0"/>
              <a:t>Unregistered User:</a:t>
            </a:r>
            <a:r>
              <a:rPr lang="en-US" dirty="0"/>
              <a:t> can browse the platform and access basic features.</a:t>
            </a:r>
            <a:br>
              <a:rPr lang="en-US" dirty="0"/>
            </a:br>
            <a:r>
              <a:rPr lang="en-US" dirty="0"/>
              <a:t>However, they cannot perform trading actions or manage a personal portfolio.</a:t>
            </a:r>
            <a:br>
              <a:rPr lang="en-US" dirty="0"/>
            </a:br>
            <a:endParaRPr lang="en-US" b="1" dirty="0"/>
          </a:p>
          <a:p>
            <a:pPr marL="285750" indent="-285750">
              <a:buFont typeface="Arial" panose="020B0604020202020204" pitchFamily="34" charset="0"/>
              <a:buChar char="•"/>
            </a:pPr>
            <a:r>
              <a:rPr lang="en-US" b="1" dirty="0"/>
              <a:t>Registered User:</a:t>
            </a:r>
            <a:r>
              <a:rPr lang="en-US" dirty="0"/>
              <a:t> has full access to the trading functionalities.</a:t>
            </a:r>
            <a:br>
              <a:rPr lang="en-US" dirty="0"/>
            </a:br>
            <a:r>
              <a:rPr lang="en-US" dirty="0"/>
              <a:t>They can view detailed asset data, buy and sell financial assets, manage their portfolio, and track their account balance within the platform.</a:t>
            </a:r>
            <a:br>
              <a:rPr lang="en-US" dirty="0"/>
            </a:br>
            <a:endParaRPr lang="en-US" dirty="0"/>
          </a:p>
          <a:p>
            <a:pPr marL="285750" indent="-285750">
              <a:buFont typeface="Arial" panose="020B0604020202020204" pitchFamily="34" charset="0"/>
              <a:buChar char="•"/>
            </a:pPr>
            <a:r>
              <a:rPr lang="en-US" b="1" dirty="0"/>
              <a:t>Admin: </a:t>
            </a:r>
            <a:r>
              <a:rPr lang="en-US" dirty="0"/>
              <a:t>is responsible for managing the platform’s data and users.</a:t>
            </a:r>
          </a:p>
        </p:txBody>
      </p:sp>
      <p:pic>
        <p:nvPicPr>
          <p:cNvPr id="5" name="Immagine 4" descr="Immagine che contiene testo, diagramma, schermata, calligrafia&#10;&#10;Il contenuto generato dall'IA potrebbe non essere corretto.">
            <a:extLst>
              <a:ext uri="{FF2B5EF4-FFF2-40B4-BE49-F238E27FC236}">
                <a16:creationId xmlns:a16="http://schemas.microsoft.com/office/drawing/2014/main" id="{DC7D7829-E963-F08F-DE9C-B28B920960F7}"/>
              </a:ext>
            </a:extLst>
          </p:cNvPr>
          <p:cNvPicPr>
            <a:picLocks noChangeAspect="1"/>
          </p:cNvPicPr>
          <p:nvPr/>
        </p:nvPicPr>
        <p:blipFill>
          <a:blip r:embed="rId2"/>
          <a:stretch>
            <a:fillRect/>
          </a:stretch>
        </p:blipFill>
        <p:spPr>
          <a:xfrm>
            <a:off x="3917244" y="874167"/>
            <a:ext cx="5226756" cy="5748297"/>
          </a:xfrm>
          <a:prstGeom prst="rect">
            <a:avLst/>
          </a:prstGeom>
        </p:spPr>
      </p:pic>
    </p:spTree>
    <p:extLst>
      <p:ext uri="{BB962C8B-B14F-4D97-AF65-F5344CB8AC3E}">
        <p14:creationId xmlns:p14="http://schemas.microsoft.com/office/powerpoint/2010/main" val="865407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FA93700-7F87-6E45-9902-A8B2384A37AF}"/>
              </a:ext>
            </a:extLst>
          </p:cNvPr>
          <p:cNvSpPr>
            <a:spLocks noGrp="1"/>
          </p:cNvSpPr>
          <p:nvPr>
            <p:ph type="title"/>
          </p:nvPr>
        </p:nvSpPr>
        <p:spPr>
          <a:xfrm>
            <a:off x="182741" y="0"/>
            <a:ext cx="8761797" cy="600075"/>
          </a:xfrm>
        </p:spPr>
        <p:txBody>
          <a:bodyPr>
            <a:normAutofit fontScale="90000"/>
          </a:bodyPr>
          <a:lstStyle/>
          <a:p>
            <a:r>
              <a:rPr lang="en-US" dirty="0"/>
              <a:t>Dataset Description</a:t>
            </a:r>
          </a:p>
        </p:txBody>
      </p:sp>
      <p:sp>
        <p:nvSpPr>
          <p:cNvPr id="3" name="CasellaDiTesto 2">
            <a:extLst>
              <a:ext uri="{FF2B5EF4-FFF2-40B4-BE49-F238E27FC236}">
                <a16:creationId xmlns:a16="http://schemas.microsoft.com/office/drawing/2014/main" id="{068E8217-0879-6045-A028-80534F620714}"/>
              </a:ext>
            </a:extLst>
          </p:cNvPr>
          <p:cNvSpPr txBox="1"/>
          <p:nvPr/>
        </p:nvSpPr>
        <p:spPr>
          <a:xfrm>
            <a:off x="182740" y="258901"/>
            <a:ext cx="8961260" cy="63401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0" normalizeH="0" baseline="0" noProof="0" dirty="0">
                <a:ln>
                  <a:noFill/>
                </a:ln>
                <a:solidFill>
                  <a:prstClr val="black"/>
                </a:solidFill>
                <a:effectLst/>
                <a:uLnTx/>
                <a:uFillTx/>
                <a:latin typeface="Calibri"/>
                <a:ea typeface="+mn-ea"/>
                <a:cs typeface="+mn-cs"/>
              </a:rPr>
              <a:t>Source: </a:t>
            </a:r>
          </a:p>
          <a:p>
            <a:pPr marL="800100" marR="0" lvl="1"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Assets history collected via script using Yahoo Finance</a:t>
            </a:r>
          </a:p>
          <a:p>
            <a:pPr marL="800100" marR="0" lvl="1"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News from Kaggle</a:t>
            </a:r>
            <a:br>
              <a:rPr kumimoji="0" lang="en-US" sz="20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sng" strike="noStrike" kern="1200" cap="none" spc="0" normalizeH="0" baseline="0" noProof="0" dirty="0">
                <a:ln>
                  <a:noFill/>
                </a:ln>
                <a:solidFill>
                  <a:prstClr val="black"/>
                </a:solidFill>
                <a:effectLst/>
                <a:uLnTx/>
                <a:uFillTx/>
                <a:latin typeface="Calibri"/>
                <a:ea typeface="+mn-ea"/>
                <a:cs typeface="+mn-cs"/>
                <a:hlinkClick r:id="rId2"/>
              </a:rPr>
              <a:t>https://www.kaggle.com/datasets/pratyushpuri/financial-news-market-events-dataset-2025</a:t>
            </a:r>
            <a:br>
              <a:rPr kumimoji="0" lang="en-US" sz="20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sng" strike="noStrike" kern="1200" cap="none" spc="0" normalizeH="0" baseline="0" noProof="0" dirty="0">
                <a:ln>
                  <a:noFill/>
                </a:ln>
                <a:solidFill>
                  <a:prstClr val="black"/>
                </a:solidFill>
                <a:effectLst/>
                <a:uLnTx/>
                <a:uFillTx/>
                <a:latin typeface="Calibri"/>
                <a:ea typeface="+mn-ea"/>
                <a:cs typeface="+mn-cs"/>
                <a:hlinkClick r:id="rId3"/>
              </a:rPr>
              <a:t>https://www.kaggle.com/datasets/aravsood7/sentiment-analysis-labelled-financial-news-data</a:t>
            </a:r>
            <a:br>
              <a:rPr kumimoji="0" lang="en-US" sz="20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sng" strike="noStrike" kern="1200" cap="none" spc="0" normalizeH="0" baseline="0" noProof="0" dirty="0">
                <a:ln>
                  <a:noFill/>
                </a:ln>
                <a:solidFill>
                  <a:prstClr val="black"/>
                </a:solidFill>
                <a:effectLst/>
                <a:uLnTx/>
                <a:uFillTx/>
                <a:latin typeface="Calibri"/>
                <a:ea typeface="+mn-ea"/>
                <a:cs typeface="+mn-cs"/>
                <a:hlinkClick r:id="rId4"/>
              </a:rPr>
              <a:t>https://www.kaggle.com/datasets/sayelabualigah/high-quality-financial-news-dataset-for-nlp-tasks?select=dataset.csv</a:t>
            </a:r>
            <a:r>
              <a:rPr kumimoji="0" lang="it-IT" sz="1800" b="0" i="0" u="none" strike="noStrike" kern="1200" cap="none" spc="0" normalizeH="0" baseline="0" noProof="0" dirty="0">
                <a:ln>
                  <a:noFill/>
                </a:ln>
                <a:solidFill>
                  <a:prstClr val="black"/>
                </a:solidFill>
                <a:effectLst/>
                <a:uLnTx/>
                <a:uFillTx/>
                <a:latin typeface="Calibri"/>
                <a:ea typeface="+mn-ea"/>
                <a:cs typeface="+mn-cs"/>
              </a:rPr>
              <a:t> </a:t>
            </a: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marL="800100" marR="0" lvl="1"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Transaction from Kaggle</a:t>
            </a:r>
            <a:br>
              <a:rPr kumimoji="0" lang="en-US" sz="20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sng" strike="noStrike" kern="1200" cap="none" spc="0" normalizeH="0" baseline="0" noProof="0" dirty="0">
                <a:ln>
                  <a:noFill/>
                </a:ln>
                <a:solidFill>
                  <a:prstClr val="black"/>
                </a:solidFill>
                <a:effectLst/>
                <a:uLnTx/>
                <a:uFillTx/>
                <a:latin typeface="Calibri"/>
                <a:ea typeface="+mn-ea"/>
                <a:cs typeface="+mn-cs"/>
                <a:hlinkClick r:id="rId5"/>
              </a:rPr>
              <a:t>https://www.kaggle.com/datasets/mahmoudshaheen1134/trades-dataset</a:t>
            </a:r>
            <a:r>
              <a:rPr kumimoji="0" lang="it-IT" sz="1800" b="0" i="0" u="none" strike="noStrike" kern="1200" cap="none" spc="0" normalizeH="0" baseline="0" noProof="0" dirty="0">
                <a:ln>
                  <a:noFill/>
                </a:ln>
                <a:solidFill>
                  <a:prstClr val="black"/>
                </a:solidFill>
                <a:effectLst/>
                <a:uLnTx/>
                <a:uFillTx/>
                <a:latin typeface="Calibri"/>
                <a:ea typeface="+mn-ea"/>
                <a:cs typeface="+mn-cs"/>
              </a:rPr>
              <a:t> </a:t>
            </a:r>
            <a:br>
              <a:rPr kumimoji="0" lang="it-IT" sz="1800" b="0" i="0" u="none" strike="noStrike" kern="1200" cap="none" spc="0" normalizeH="0" baseline="0" noProof="0" dirty="0">
                <a:ln>
                  <a:noFill/>
                </a:ln>
                <a:solidFill>
                  <a:prstClr val="black"/>
                </a:solidFill>
                <a:effectLst/>
                <a:uLnTx/>
                <a:uFillTx/>
                <a:latin typeface="Calibri"/>
                <a:ea typeface="+mn-ea"/>
                <a:cs typeface="+mn-cs"/>
              </a:rPr>
            </a:br>
            <a:endParaRPr kumimoji="0" lang="en-US" sz="2000" b="1" i="1"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0" normalizeH="0" baseline="0" noProof="0" dirty="0">
                <a:ln>
                  <a:noFill/>
                </a:ln>
                <a:solidFill>
                  <a:prstClr val="black"/>
                </a:solidFill>
                <a:effectLst/>
                <a:uLnTx/>
                <a:uFillTx/>
                <a:latin typeface="Calibri"/>
                <a:ea typeface="+mn-ea"/>
                <a:cs typeface="+mn-cs"/>
              </a:rPr>
              <a:t>Description: </a:t>
            </a:r>
            <a:r>
              <a:rPr kumimoji="0" lang="en-US" sz="2000" b="0" i="0" u="none" strike="noStrike" kern="1200" cap="none" spc="0" normalizeH="0" baseline="0" noProof="0" dirty="0">
                <a:ln>
                  <a:noFill/>
                </a:ln>
                <a:solidFill>
                  <a:prstClr val="black"/>
                </a:solidFill>
                <a:effectLst/>
                <a:uLnTx/>
                <a:uFillTx/>
                <a:latin typeface="Calibri"/>
                <a:ea typeface="+mn-ea"/>
                <a:cs typeface="+mn-cs"/>
              </a:rPr>
              <a:t>The dataset used in </a:t>
            </a:r>
            <a:r>
              <a:rPr kumimoji="0" lang="en-US" sz="2000" b="0" i="1" u="none" strike="noStrike" kern="1200" cap="none" spc="0" normalizeH="0" baseline="0" noProof="0" dirty="0" err="1">
                <a:ln>
                  <a:noFill/>
                </a:ln>
                <a:solidFill>
                  <a:prstClr val="black"/>
                </a:solidFill>
                <a:effectLst/>
                <a:uLnTx/>
                <a:uFillTx/>
                <a:latin typeface="Calibri"/>
                <a:ea typeface="+mn-ea"/>
                <a:cs typeface="+mn-cs"/>
              </a:rPr>
              <a:t>MyFuture</a:t>
            </a:r>
            <a:r>
              <a:rPr kumimoji="0" lang="en-US" sz="2000" b="0" i="0" u="none" strike="noStrike" kern="1200" cap="none" spc="0" normalizeH="0" baseline="0" noProof="0" dirty="0">
                <a:ln>
                  <a:noFill/>
                </a:ln>
                <a:solidFill>
                  <a:prstClr val="black"/>
                </a:solidFill>
                <a:effectLst/>
                <a:uLnTx/>
                <a:uFillTx/>
                <a:latin typeface="Calibri"/>
                <a:ea typeface="+mn-ea"/>
                <a:cs typeface="+mn-cs"/>
              </a:rPr>
              <a:t> combines historical price data of 	various financial assets, transaction, and a set of financial news articles.</a:t>
            </a:r>
            <a:endParaRPr kumimoji="0" lang="en-US" sz="2000" b="1" i="1"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0" normalizeH="0" baseline="0" noProof="0" dirty="0">
                <a:ln>
                  <a:noFill/>
                </a:ln>
                <a:solidFill>
                  <a:prstClr val="black"/>
                </a:solidFill>
                <a:effectLst/>
                <a:uLnTx/>
                <a:uFillTx/>
                <a:latin typeface="Calibri"/>
                <a:ea typeface="+mn-ea"/>
                <a:cs typeface="+mn-cs"/>
              </a:rPr>
              <a:t>Volume</a:t>
            </a:r>
            <a:r>
              <a:rPr kumimoji="0" lang="en-US" sz="2000" b="1" i="1" u="none" strike="noStrike" kern="1200" cap="none" spc="0" normalizeH="0" baseline="0" noProof="0">
                <a:ln>
                  <a:noFill/>
                </a:ln>
                <a:solidFill>
                  <a:prstClr val="black"/>
                </a:solidFill>
                <a:effectLst/>
                <a:uLnTx/>
                <a:uFillTx/>
                <a:latin typeface="Calibri"/>
                <a:ea typeface="+mn-ea"/>
                <a:cs typeface="+mn-cs"/>
              </a:rPr>
              <a:t>: </a:t>
            </a:r>
            <a:r>
              <a:rPr kumimoji="0" lang="en-US" sz="2000" b="0" i="0" u="none" strike="noStrike" kern="1200" cap="none" spc="0" normalizeH="0" baseline="0" noProof="0">
                <a:ln>
                  <a:noFill/>
                </a:ln>
                <a:solidFill>
                  <a:prstClr val="black"/>
                </a:solidFill>
                <a:effectLst/>
                <a:uLnTx/>
                <a:uFillTx/>
                <a:latin typeface="Calibri"/>
                <a:ea typeface="+mn-ea"/>
                <a:cs typeface="+mn-cs"/>
              </a:rPr>
              <a:t>1</a:t>
            </a:r>
            <a:r>
              <a:rPr lang="en-US" sz="2000">
                <a:solidFill>
                  <a:prstClr val="black"/>
                </a:solidFill>
                <a:latin typeface="Calibri"/>
              </a:rPr>
              <a:t>666</a:t>
            </a:r>
            <a:r>
              <a:rPr kumimoji="0" lang="en-US" sz="2000" b="0" i="0" u="none" strike="noStrike" kern="1200" cap="none" spc="0" normalizeH="0" baseline="0" noProof="0">
                <a:ln>
                  <a:noFill/>
                </a:ln>
                <a:solidFill>
                  <a:prstClr val="black"/>
                </a:solidFill>
                <a:effectLst/>
                <a:uLnTx/>
                <a:uFillTx/>
                <a:latin typeface="Calibri"/>
                <a:ea typeface="+mn-ea"/>
                <a:cs typeface="+mn-cs"/>
              </a:rPr>
              <a:t> </a:t>
            </a:r>
            <a:r>
              <a:rPr kumimoji="0" lang="en-US" sz="2000" b="0" i="0" u="none" strike="noStrike" kern="1200" cap="none" spc="0" normalizeH="0" baseline="0" noProof="0" dirty="0">
                <a:ln>
                  <a:noFill/>
                </a:ln>
                <a:solidFill>
                  <a:prstClr val="black"/>
                </a:solidFill>
                <a:effectLst/>
                <a:uLnTx/>
                <a:uFillTx/>
                <a:latin typeface="Calibri"/>
                <a:ea typeface="+mn-ea"/>
                <a:cs typeface="+mn-cs"/>
              </a:rPr>
              <a:t>assets (</a:t>
            </a:r>
            <a:r>
              <a:rPr kumimoji="0" lang="en-US" sz="2000" b="1" i="0" u="none" strike="noStrike" kern="1200" cap="none" spc="0" normalizeH="0" baseline="0" noProof="0" dirty="0">
                <a:ln>
                  <a:noFill/>
                </a:ln>
                <a:solidFill>
                  <a:prstClr val="black"/>
                </a:solidFill>
                <a:effectLst/>
                <a:uLnTx/>
                <a:uFillTx/>
                <a:latin typeface="Calibri"/>
                <a:ea typeface="+mn-ea"/>
                <a:cs typeface="+mn-cs"/>
              </a:rPr>
              <a:t>964,8MB</a:t>
            </a:r>
            <a:r>
              <a:rPr kumimoji="0" lang="en-US" sz="2000" b="0" i="0" u="none" strike="noStrike" kern="1200" cap="none" spc="0" normalizeH="0" baseline="0" noProof="0" dirty="0">
                <a:ln>
                  <a:noFill/>
                </a:ln>
                <a:solidFill>
                  <a:prstClr val="black"/>
                </a:solidFill>
                <a:effectLst/>
                <a:uLnTx/>
                <a:uFillTx/>
                <a:latin typeface="Calibri"/>
                <a:ea typeface="+mn-ea"/>
                <a:cs typeface="+mn-cs"/>
              </a:rPr>
              <a:t>), 39222 transaction (</a:t>
            </a:r>
            <a:r>
              <a:rPr kumimoji="0" lang="en-US" sz="2000" b="1" i="0" u="none" strike="noStrike" kern="1200" cap="none" spc="0" normalizeH="0" baseline="0" noProof="0" dirty="0">
                <a:ln>
                  <a:noFill/>
                </a:ln>
                <a:solidFill>
                  <a:prstClr val="black"/>
                </a:solidFill>
                <a:effectLst/>
                <a:uLnTx/>
                <a:uFillTx/>
                <a:latin typeface="Calibri"/>
                <a:ea typeface="+mn-ea"/>
                <a:cs typeface="+mn-cs"/>
              </a:rPr>
              <a:t>1,45MB</a:t>
            </a:r>
            <a:r>
              <a:rPr kumimoji="0" lang="en-US" sz="2000" b="0" i="0" u="none" strike="noStrike" kern="1200" cap="none" spc="0" normalizeH="0" baseline="0" noProof="0" dirty="0">
                <a:ln>
                  <a:noFill/>
                </a:ln>
                <a:solidFill>
                  <a:prstClr val="black"/>
                </a:solidFill>
                <a:effectLst/>
                <a:uLnTx/>
                <a:uFillTx/>
                <a:latin typeface="Calibri"/>
                <a:ea typeface="+mn-ea"/>
                <a:cs typeface="+mn-cs"/>
              </a:rPr>
              <a:t>), 5263 news (</a:t>
            </a:r>
            <a:r>
              <a:rPr kumimoji="0" lang="en-US" sz="2000" b="1" i="0" u="none" strike="noStrike" kern="1200" cap="none" spc="0" normalizeH="0" baseline="0" noProof="0" dirty="0">
                <a:ln>
                  <a:noFill/>
                </a:ln>
                <a:solidFill>
                  <a:prstClr val="black"/>
                </a:solidFill>
                <a:effectLst/>
                <a:uLnTx/>
                <a:uFillTx/>
                <a:latin typeface="Calibri"/>
                <a:ea typeface="+mn-ea"/>
                <a:cs typeface="+mn-cs"/>
              </a:rPr>
              <a:t>9,88MB</a:t>
            </a:r>
            <a:r>
              <a:rPr kumimoji="0" lang="en-US" sz="2000" b="0" i="0" u="none" strike="noStrike" kern="1200" cap="none" spc="0" normalizeH="0" baseline="0" noProof="0" dirty="0">
                <a:ln>
                  <a:noFill/>
                </a:ln>
                <a:solidFill>
                  <a:prstClr val="black"/>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br>
              <a:rPr kumimoji="0" lang="en-US" sz="2000" b="1" i="1" u="none" strike="noStrike" kern="1200" cap="none" spc="0" normalizeH="0" baseline="0" noProof="0" dirty="0">
                <a:ln>
                  <a:noFill/>
                </a:ln>
                <a:solidFill>
                  <a:prstClr val="black"/>
                </a:solidFill>
                <a:effectLst/>
                <a:uLnTx/>
                <a:uFillTx/>
                <a:latin typeface="Calibri"/>
                <a:ea typeface="+mn-ea"/>
                <a:cs typeface="+mn-cs"/>
              </a:rPr>
            </a:br>
            <a:r>
              <a:rPr kumimoji="0" lang="en-US" sz="2000" b="1" i="1" u="none" strike="noStrike" kern="1200" cap="none" spc="0" normalizeH="0" baseline="0" noProof="0" dirty="0">
                <a:ln>
                  <a:noFill/>
                </a:ln>
                <a:solidFill>
                  <a:prstClr val="black"/>
                </a:solidFill>
                <a:effectLst/>
                <a:uLnTx/>
                <a:uFillTx/>
                <a:latin typeface="Calibri"/>
                <a:ea typeface="+mn-ea"/>
                <a:cs typeface="+mn-cs"/>
              </a:rPr>
              <a:t>Variety</a:t>
            </a:r>
            <a:r>
              <a:rPr kumimoji="0" lang="en-US" sz="2000" b="0" i="0" u="none" strike="noStrike" kern="1200" cap="none" spc="0" normalizeH="0" baseline="0" noProof="0" dirty="0">
                <a:ln>
                  <a:noFill/>
                </a:ln>
                <a:solidFill>
                  <a:prstClr val="black"/>
                </a:solidFill>
                <a:effectLst/>
                <a:uLnTx/>
                <a:uFillTx/>
                <a:latin typeface="Calibri"/>
                <a:ea typeface="+mn-ea"/>
                <a:cs typeface="+mn-cs"/>
              </a:rPr>
              <a:t>: The dataset integrates information from different and heterogeneous 	sources (Yahoo Finance and Kaggle) with diverse attributes and formats.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1" i="1"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0" normalizeH="0" baseline="0" noProof="0" dirty="0">
                <a:ln>
                  <a:noFill/>
                </a:ln>
                <a:solidFill>
                  <a:prstClr val="black"/>
                </a:solidFill>
                <a:effectLst/>
                <a:uLnTx/>
                <a:uFillTx/>
                <a:latin typeface="Calibri"/>
                <a:ea typeface="+mn-ea"/>
                <a:cs typeface="+mn-cs"/>
              </a:rPr>
              <a:t>Velocity/Variability</a:t>
            </a:r>
            <a:r>
              <a:rPr kumimoji="0" lang="en-US" sz="2000" b="0" i="0" u="none" strike="noStrike" kern="1200" cap="none" spc="0" normalizeH="0" baseline="0" noProof="0" dirty="0">
                <a:ln>
                  <a:noFill/>
                </a:ln>
                <a:solidFill>
                  <a:prstClr val="black"/>
                </a:solidFill>
                <a:effectLst/>
                <a:uLnTx/>
                <a:uFillTx/>
                <a:latin typeface="Calibri"/>
                <a:ea typeface="+mn-ea"/>
                <a:cs typeface="+mn-cs"/>
              </a:rPr>
              <a:t>: assets current prices collect continuously.</a:t>
            </a:r>
            <a:endParaRPr kumimoji="0" lang="it-IT" sz="20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56679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31A7364-9B4E-DC49-AA70-BE5A302DEAAF}"/>
              </a:ext>
            </a:extLst>
          </p:cNvPr>
          <p:cNvSpPr>
            <a:spLocks noGrp="1"/>
          </p:cNvSpPr>
          <p:nvPr>
            <p:ph type="title"/>
          </p:nvPr>
        </p:nvSpPr>
        <p:spPr>
          <a:xfrm>
            <a:off x="191100" y="-180737"/>
            <a:ext cx="8761797" cy="1143000"/>
          </a:xfrm>
        </p:spPr>
        <p:txBody>
          <a:bodyPr/>
          <a:lstStyle/>
          <a:p>
            <a:r>
              <a:rPr lang="en-US" dirty="0"/>
              <a:t>UML Design Class Diagram</a:t>
            </a:r>
          </a:p>
        </p:txBody>
      </p:sp>
      <p:pic>
        <p:nvPicPr>
          <p:cNvPr id="5" name="Immagine 4" descr="Immagine che contiene testo, diagramma, Piano, Parallelo&#10;&#10;Il contenuto generato dall'IA potrebbe non essere corretto.">
            <a:extLst>
              <a:ext uri="{FF2B5EF4-FFF2-40B4-BE49-F238E27FC236}">
                <a16:creationId xmlns:a16="http://schemas.microsoft.com/office/drawing/2014/main" id="{01C397A2-3BD3-A3AA-3166-9E2A81BE496A}"/>
              </a:ext>
            </a:extLst>
          </p:cNvPr>
          <p:cNvPicPr>
            <a:picLocks noChangeAspect="1"/>
          </p:cNvPicPr>
          <p:nvPr/>
        </p:nvPicPr>
        <p:blipFill>
          <a:blip r:embed="rId2"/>
          <a:stretch>
            <a:fillRect/>
          </a:stretch>
        </p:blipFill>
        <p:spPr>
          <a:xfrm>
            <a:off x="2310443" y="680041"/>
            <a:ext cx="4523114" cy="5885406"/>
          </a:xfrm>
          <a:prstGeom prst="rect">
            <a:avLst/>
          </a:prstGeom>
        </p:spPr>
      </p:pic>
    </p:spTree>
    <p:extLst>
      <p:ext uri="{BB962C8B-B14F-4D97-AF65-F5344CB8AC3E}">
        <p14:creationId xmlns:p14="http://schemas.microsoft.com/office/powerpoint/2010/main" val="773792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DB2339-A96F-FCB4-9975-EC6C7C3CA428}"/>
              </a:ext>
            </a:extLst>
          </p:cNvPr>
          <p:cNvSpPr>
            <a:spLocks noGrp="1"/>
          </p:cNvSpPr>
          <p:nvPr>
            <p:ph type="title"/>
          </p:nvPr>
        </p:nvSpPr>
        <p:spPr>
          <a:xfrm>
            <a:off x="182741" y="-11507"/>
            <a:ext cx="8761797" cy="1143000"/>
          </a:xfrm>
        </p:spPr>
        <p:txBody>
          <a:bodyPr>
            <a:normAutofit/>
          </a:bodyPr>
          <a:lstStyle/>
          <a:p>
            <a:r>
              <a:rPr lang="it-IT"/>
              <a:t>Why MongoDB</a:t>
            </a:r>
          </a:p>
        </p:txBody>
      </p:sp>
      <p:sp>
        <p:nvSpPr>
          <p:cNvPr id="3" name="CasellaDiTesto 2">
            <a:extLst>
              <a:ext uri="{FF2B5EF4-FFF2-40B4-BE49-F238E27FC236}">
                <a16:creationId xmlns:a16="http://schemas.microsoft.com/office/drawing/2014/main" id="{C08EE191-1084-A864-6E5C-A1180AF73DC4}"/>
              </a:ext>
            </a:extLst>
          </p:cNvPr>
          <p:cNvSpPr txBox="1"/>
          <p:nvPr/>
        </p:nvSpPr>
        <p:spPr>
          <a:xfrm>
            <a:off x="83009" y="903111"/>
            <a:ext cx="9060991" cy="5355312"/>
          </a:xfrm>
          <a:prstGeom prst="rect">
            <a:avLst/>
          </a:prstGeom>
          <a:noFill/>
        </p:spPr>
        <p:txBody>
          <a:bodyPr wrap="square" rtlCol="0">
            <a:spAutoFit/>
          </a:bodyPr>
          <a:lstStyle/>
          <a:p>
            <a:r>
              <a:rPr lang="it-IT"/>
              <a:t>In my system MongoDB is the Analytical Core and Persistent Store.</a:t>
            </a:r>
          </a:p>
          <a:p>
            <a:endParaRPr lang="it-IT" b="1"/>
          </a:p>
          <a:p>
            <a:r>
              <a:rPr lang="it-IT" b="1"/>
              <a:t>Why I chose it?</a:t>
            </a:r>
          </a:p>
          <a:p>
            <a:pPr marL="285750" indent="-285750">
              <a:buFont typeface="Arial" panose="020B0604020202020204" pitchFamily="34" charset="0"/>
              <a:buChar char="•"/>
            </a:pPr>
            <a:r>
              <a:rPr lang="it-IT" b="1"/>
              <a:t>Document-Oriented Flexibility:</a:t>
            </a:r>
            <a:r>
              <a:rPr lang="it-IT"/>
              <a:t> financial assets (shares, cryptocurrencies, ETFs) and transactions (purchases, sales, deposits, withdrawals) have different attributes. MongoDB's document model allows you to manage this heterogeneity without rigid schemas.</a:t>
            </a:r>
          </a:p>
          <a:p>
            <a:pPr marL="285750" indent="-285750">
              <a:buFont typeface="Arial" panose="020B0604020202020204" pitchFamily="34" charset="0"/>
              <a:buChar char="•"/>
            </a:pPr>
            <a:r>
              <a:rPr lang="it-IT" b="1"/>
              <a:t>Powerful Aggregation Framework:</a:t>
            </a:r>
            <a:r>
              <a:rPr lang="it-IT"/>
              <a:t> </a:t>
            </a:r>
            <a:r>
              <a:rPr lang="en-US"/>
              <a:t>essential for analytics functions (e.g. Top-K gainers, transaction volume by sector, etc.). </a:t>
            </a:r>
          </a:p>
          <a:p>
            <a:pPr marL="285750" indent="-285750">
              <a:buFont typeface="Arial" panose="020B0604020202020204" pitchFamily="34" charset="0"/>
              <a:buChar char="•"/>
            </a:pPr>
            <a:r>
              <a:rPr lang="en-US" b="1"/>
              <a:t>Managing large amounts of data</a:t>
            </a:r>
            <a:r>
              <a:rPr lang="en-US"/>
              <a:t>: ability to manage large volumes of data and the ease with which it allows complex analytical insights to be extracted through aggregation pipelines.</a:t>
            </a:r>
            <a:br>
              <a:rPr lang="en-US"/>
            </a:br>
            <a:endParaRPr lang="it-IT" b="1"/>
          </a:p>
          <a:p>
            <a:r>
              <a:rPr lang="it-IT" b="1"/>
              <a:t>Application Functionalities Covered</a:t>
            </a:r>
          </a:p>
          <a:p>
            <a:pPr marL="285750" indent="-285750">
              <a:buFont typeface="Arial" panose="020B0604020202020204" pitchFamily="34" charset="0"/>
              <a:buChar char="•"/>
            </a:pPr>
            <a:r>
              <a:rPr lang="it-IT" b="1"/>
              <a:t>Persistence:</a:t>
            </a:r>
            <a:r>
              <a:rPr lang="it-IT"/>
              <a:t> </a:t>
            </a:r>
            <a:r>
              <a:rPr lang="en-US"/>
              <a:t>Permanent storage of users, transactions, news, assets, and asset metadata.</a:t>
            </a:r>
          </a:p>
          <a:p>
            <a:pPr marL="285750" indent="-285750">
              <a:buFont typeface="Arial" panose="020B0604020202020204" pitchFamily="34" charset="0"/>
              <a:buChar char="•"/>
            </a:pPr>
            <a:r>
              <a:rPr lang="it-IT" b="1"/>
              <a:t>Complex Queries:</a:t>
            </a:r>
            <a:r>
              <a:rPr lang="it-IT"/>
              <a:t> </a:t>
            </a:r>
            <a:r>
              <a:rPr lang="en-US"/>
              <a:t>ability to implement advanced filters to perform complex queries and aggregations on saved entities (e.g. on transactions to extract statistics on traded assets and invested money).</a:t>
            </a:r>
          </a:p>
          <a:p>
            <a:pPr marL="285750" indent="-285750">
              <a:buFont typeface="Arial" panose="020B0604020202020204" pitchFamily="34" charset="0"/>
              <a:buChar char="•"/>
            </a:pPr>
            <a:endParaRPr lang="en-US" b="1"/>
          </a:p>
          <a:p>
            <a:r>
              <a:rPr lang="it-IT" b="1"/>
              <a:t>Strategic Value</a:t>
            </a:r>
            <a:r>
              <a:rPr lang="it-IT"/>
              <a:t>: </a:t>
            </a:r>
            <a:r>
              <a:rPr lang="en-US"/>
              <a:t>MongoDB was chosen as the system's ‘Source of Truth’ due to its flexibility and analytical power.</a:t>
            </a:r>
            <a:endParaRPr lang="it-IT" b="1"/>
          </a:p>
        </p:txBody>
      </p:sp>
    </p:spTree>
    <p:extLst>
      <p:ext uri="{BB962C8B-B14F-4D97-AF65-F5344CB8AC3E}">
        <p14:creationId xmlns:p14="http://schemas.microsoft.com/office/powerpoint/2010/main" val="2668245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702F2-276D-7B56-BF93-3C82E25FF3F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A7D6D8E-6368-F25F-F488-FE5A694EE960}"/>
              </a:ext>
            </a:extLst>
          </p:cNvPr>
          <p:cNvSpPr>
            <a:spLocks noGrp="1"/>
          </p:cNvSpPr>
          <p:nvPr>
            <p:ph type="title"/>
          </p:nvPr>
        </p:nvSpPr>
        <p:spPr>
          <a:xfrm>
            <a:off x="191101" y="-192129"/>
            <a:ext cx="8761797" cy="1143000"/>
          </a:xfrm>
        </p:spPr>
        <p:txBody>
          <a:bodyPr>
            <a:normAutofit/>
          </a:bodyPr>
          <a:lstStyle/>
          <a:p>
            <a:r>
              <a:rPr lang="it-IT"/>
              <a:t>Why Redis</a:t>
            </a:r>
          </a:p>
        </p:txBody>
      </p:sp>
      <p:sp>
        <p:nvSpPr>
          <p:cNvPr id="3" name="CasellaDiTesto 2">
            <a:extLst>
              <a:ext uri="{FF2B5EF4-FFF2-40B4-BE49-F238E27FC236}">
                <a16:creationId xmlns:a16="http://schemas.microsoft.com/office/drawing/2014/main" id="{BEA57E6D-59EA-7116-AAB1-5C14844A7164}"/>
              </a:ext>
            </a:extLst>
          </p:cNvPr>
          <p:cNvSpPr txBox="1"/>
          <p:nvPr/>
        </p:nvSpPr>
        <p:spPr>
          <a:xfrm>
            <a:off x="-1" y="612844"/>
            <a:ext cx="9144000" cy="5632311"/>
          </a:xfrm>
          <a:prstGeom prst="rect">
            <a:avLst/>
          </a:prstGeom>
          <a:noFill/>
        </p:spPr>
        <p:txBody>
          <a:bodyPr wrap="square" rtlCol="0">
            <a:spAutoFit/>
          </a:bodyPr>
          <a:lstStyle/>
          <a:p>
            <a:r>
              <a:rPr lang="it-IT"/>
              <a:t>In my system Redis is the Real Time Engine.</a:t>
            </a:r>
          </a:p>
          <a:p>
            <a:endParaRPr lang="it-IT" b="1"/>
          </a:p>
          <a:p>
            <a:r>
              <a:rPr lang="it-IT" b="1"/>
              <a:t>Why I chose it?</a:t>
            </a:r>
          </a:p>
          <a:p>
            <a:pPr marL="285750" indent="-285750">
              <a:buFont typeface="Arial" panose="020B0604020202020204" pitchFamily="34" charset="0"/>
              <a:buChar char="•"/>
            </a:pPr>
            <a:r>
              <a:rPr lang="en-US" b="1"/>
              <a:t>In-Memory Speed</a:t>
            </a:r>
            <a:r>
              <a:rPr lang="en-US"/>
              <a:t>: Latency very low, essential for a system that simulates the stock market (injection and read of current price for the assets).</a:t>
            </a:r>
          </a:p>
          <a:p>
            <a:pPr marL="285750" indent="-285750">
              <a:buFont typeface="Arial" panose="020B0604020202020204" pitchFamily="34" charset="0"/>
              <a:buChar char="•"/>
            </a:pPr>
            <a:r>
              <a:rPr lang="it-IT" b="1"/>
              <a:t>High-Performance Schemaless Design</a:t>
            </a:r>
            <a:r>
              <a:rPr lang="en-US"/>
              <a:t>: Redis combines the simplicity of a key-value database (no rigid schema, maximum access speed) with the power of advanced data structures (hashes, sets, lists), ensuring minimal computational complexity.</a:t>
            </a:r>
            <a:br>
              <a:rPr lang="en-US"/>
            </a:br>
            <a:endParaRPr lang="it-IT" b="1"/>
          </a:p>
          <a:p>
            <a:r>
              <a:rPr lang="it-IT" b="1"/>
              <a:t>Application Functionalities Covered</a:t>
            </a:r>
          </a:p>
          <a:p>
            <a:pPr marL="285750" indent="-285750">
              <a:buFont typeface="Arial" panose="020B0604020202020204" pitchFamily="34" charset="0"/>
              <a:buChar char="•"/>
            </a:pPr>
            <a:r>
              <a:rPr lang="en-US" b="1"/>
              <a:t>Real-Time Market Data</a:t>
            </a:r>
            <a:r>
              <a:rPr lang="en-US"/>
              <a:t>: Storage of current prices and intraday series.</a:t>
            </a:r>
          </a:p>
          <a:p>
            <a:pPr marL="285750" indent="-285750">
              <a:buFont typeface="Arial" panose="020B0604020202020204" pitchFamily="34" charset="0"/>
              <a:buChar char="•"/>
            </a:pPr>
            <a:r>
              <a:rPr lang="en-US" b="1"/>
              <a:t>High-Frequency Caching</a:t>
            </a:r>
            <a:r>
              <a:rPr lang="en-US"/>
              <a:t>: caching of most frequently accessed data (e.g. the latest news, list of assets,user data) to reduce the load on MongoDB.</a:t>
            </a:r>
          </a:p>
          <a:p>
            <a:pPr marL="285750" indent="-285750">
              <a:buFont typeface="Arial" panose="020B0604020202020204" pitchFamily="34" charset="0"/>
              <a:buChar char="•"/>
            </a:pPr>
            <a:r>
              <a:rPr lang="it-IT" b="1"/>
              <a:t>Native Data Mapping</a:t>
            </a:r>
            <a:r>
              <a:rPr lang="it-IT"/>
              <a:t>: </a:t>
            </a:r>
            <a:r>
              <a:rPr lang="en-US"/>
              <a:t>Redis offers complex integrated structures such as Hashes for efficient asset profile management, Sorted Sets for news time management (automatic ranking) and Lists for intraday data flows, simplifying keys and logic.</a:t>
            </a:r>
          </a:p>
          <a:p>
            <a:pPr marL="285750" indent="-285750">
              <a:buFont typeface="Arial" panose="020B0604020202020204" pitchFamily="34" charset="0"/>
              <a:buChar char="•"/>
            </a:pPr>
            <a:endParaRPr lang="en-US" b="1"/>
          </a:p>
          <a:p>
            <a:r>
              <a:rPr lang="it-IT" b="1"/>
              <a:t>Strategic Value</a:t>
            </a:r>
            <a:r>
              <a:rPr lang="en-US"/>
              <a:t>: Redis solves the problem of responsiveness. In a financial application, consulting the database on disk for every price change would be a bottleneck. Redis acts as an accelerator for volatile and frequently accessed data.</a:t>
            </a:r>
            <a:endParaRPr lang="it-IT" b="1"/>
          </a:p>
        </p:txBody>
      </p:sp>
    </p:spTree>
    <p:extLst>
      <p:ext uri="{BB962C8B-B14F-4D97-AF65-F5344CB8AC3E}">
        <p14:creationId xmlns:p14="http://schemas.microsoft.com/office/powerpoint/2010/main" val="1024178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91B17-F7A0-DBAA-D166-38325A62B18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DE2628B-33B3-B20C-5192-BA48D4F8CD1D}"/>
              </a:ext>
            </a:extLst>
          </p:cNvPr>
          <p:cNvSpPr>
            <a:spLocks noGrp="1"/>
          </p:cNvSpPr>
          <p:nvPr>
            <p:ph type="title"/>
          </p:nvPr>
        </p:nvSpPr>
        <p:spPr>
          <a:xfrm>
            <a:off x="191101" y="2857500"/>
            <a:ext cx="8761797" cy="1143000"/>
          </a:xfrm>
        </p:spPr>
        <p:txBody>
          <a:bodyPr>
            <a:normAutofit/>
          </a:bodyPr>
          <a:lstStyle/>
          <a:p>
            <a:r>
              <a:rPr lang="en-GB"/>
              <a:t>MongoDB: relationship modeling</a:t>
            </a:r>
            <a:endParaRPr lang="en-US" dirty="0"/>
          </a:p>
        </p:txBody>
      </p:sp>
    </p:spTree>
    <p:extLst>
      <p:ext uri="{BB962C8B-B14F-4D97-AF65-F5344CB8AC3E}">
        <p14:creationId xmlns:p14="http://schemas.microsoft.com/office/powerpoint/2010/main" val="1977202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9311E-F7E0-4DBB-0332-688BFB4594C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991EBA8-7EE3-B138-468E-05035D164288}"/>
              </a:ext>
            </a:extLst>
          </p:cNvPr>
          <p:cNvSpPr>
            <a:spLocks noGrp="1"/>
          </p:cNvSpPr>
          <p:nvPr>
            <p:ph type="title"/>
          </p:nvPr>
        </p:nvSpPr>
        <p:spPr>
          <a:xfrm>
            <a:off x="191101" y="0"/>
            <a:ext cx="8761797" cy="1143000"/>
          </a:xfrm>
        </p:spPr>
        <p:txBody>
          <a:bodyPr>
            <a:normAutofit/>
          </a:bodyPr>
          <a:lstStyle/>
          <a:p>
            <a:r>
              <a:rPr lang="en-GB"/>
              <a:t>System assumptions – request data</a:t>
            </a:r>
            <a:endParaRPr lang="en-US" dirty="0"/>
          </a:p>
        </p:txBody>
      </p:sp>
      <p:sp>
        <p:nvSpPr>
          <p:cNvPr id="3" name="CasellaDiTesto 2">
            <a:extLst>
              <a:ext uri="{FF2B5EF4-FFF2-40B4-BE49-F238E27FC236}">
                <a16:creationId xmlns:a16="http://schemas.microsoft.com/office/drawing/2014/main" id="{118C77A5-F81B-85C6-625F-BA53D5E696DB}"/>
              </a:ext>
            </a:extLst>
          </p:cNvPr>
          <p:cNvSpPr txBox="1"/>
          <p:nvPr/>
        </p:nvSpPr>
        <p:spPr>
          <a:xfrm>
            <a:off x="0" y="1201830"/>
            <a:ext cx="9144000" cy="4801314"/>
          </a:xfrm>
          <a:prstGeom prst="rect">
            <a:avLst/>
          </a:prstGeom>
          <a:noFill/>
        </p:spPr>
        <p:txBody>
          <a:bodyPr wrap="square" rtlCol="0">
            <a:spAutoFit/>
          </a:bodyPr>
          <a:lstStyle/>
          <a:p>
            <a:pPr lvl="0"/>
            <a:r>
              <a:rPr lang="en-US"/>
              <a:t>The following estimates represent the average request probability per user session:</a:t>
            </a:r>
          </a:p>
          <a:p>
            <a:pPr marL="285750" lvl="0" indent="-285750">
              <a:buFont typeface="Arial" panose="020B0604020202020204" pitchFamily="34" charset="0"/>
              <a:buChar char="•"/>
            </a:pPr>
            <a:r>
              <a:rPr lang="en-US" b="1"/>
              <a:t>Market Exploration and Assets </a:t>
            </a:r>
            <a:r>
              <a:rPr lang="en-US"/>
              <a:t>(</a:t>
            </a:r>
            <a:r>
              <a:rPr lang="en-US" b="1"/>
              <a:t>50% </a:t>
            </a:r>
            <a:r>
              <a:rPr lang="en-US"/>
              <a:t>average request rate): General browsing of available financial instruments, categorized by type;</a:t>
            </a:r>
          </a:p>
          <a:p>
            <a:pPr marL="742950" lvl="1" indent="-285750">
              <a:buFont typeface="Arial" panose="020B0604020202020204" pitchFamily="34" charset="0"/>
              <a:buChar char="•"/>
            </a:pPr>
            <a:r>
              <a:rPr lang="en-US"/>
              <a:t>Top/Flop Performance Metrics (30%): best/worst asset.</a:t>
            </a:r>
          </a:p>
          <a:p>
            <a:pPr marL="285750" lvl="0" indent="-285750">
              <a:buFont typeface="Arial" panose="020B0604020202020204" pitchFamily="34" charset="0"/>
              <a:buChar char="•"/>
            </a:pPr>
            <a:r>
              <a:rPr lang="en-US" b="1"/>
              <a:t>Asset Visualization and Charting </a:t>
            </a:r>
            <a:r>
              <a:rPr lang="en-US"/>
              <a:t>(</a:t>
            </a:r>
            <a:r>
              <a:rPr lang="en-US" b="1"/>
              <a:t>60–70% </a:t>
            </a:r>
            <a:r>
              <a:rPr lang="en-US"/>
              <a:t>high request rate): Retrieval of time-series data for one or more assets, both for market analysis and portfolio tracking;</a:t>
            </a:r>
          </a:p>
          <a:p>
            <a:pPr marL="285750" lvl="0" indent="-285750">
              <a:buFont typeface="Arial" panose="020B0604020202020204" pitchFamily="34" charset="0"/>
              <a:buChar char="•"/>
            </a:pPr>
            <a:r>
              <a:rPr lang="en-US" b="1"/>
              <a:t>User Portfolio and Balance </a:t>
            </a:r>
            <a:r>
              <a:rPr lang="en-US"/>
              <a:t>(</a:t>
            </a:r>
            <a:r>
              <a:rPr lang="en-US" b="1"/>
              <a:t>99% </a:t>
            </a:r>
            <a:r>
              <a:rPr lang="en-US"/>
              <a:t>critical request rate): This is the primary view (Home Screen) or the most visited section. It requires real-time access to asset holdings, current performance (P&amp;L), and liquidity. These data points are requested by nearly all users upon every login.</a:t>
            </a:r>
          </a:p>
          <a:p>
            <a:pPr marL="285750" lvl="0" indent="-285750">
              <a:buFont typeface="Arial" panose="020B0604020202020204" pitchFamily="34" charset="0"/>
              <a:buChar char="•"/>
            </a:pPr>
            <a:r>
              <a:rPr lang="en-US" b="1"/>
              <a:t>Transactions request</a:t>
            </a:r>
            <a:r>
              <a:rPr lang="en-US"/>
              <a:t>:</a:t>
            </a:r>
          </a:p>
          <a:p>
            <a:pPr marL="742950" lvl="1" indent="-285750">
              <a:buFont typeface="Arial" panose="020B0604020202020204" pitchFamily="34" charset="0"/>
              <a:buChar char="•"/>
            </a:pPr>
            <a:r>
              <a:rPr lang="en-US" b="1"/>
              <a:t>Recent Activity </a:t>
            </a:r>
            <a:r>
              <a:rPr lang="en-US"/>
              <a:t>(</a:t>
            </a:r>
            <a:r>
              <a:rPr lang="en-US" b="1"/>
              <a:t>30–40% </a:t>
            </a:r>
            <a:r>
              <a:rPr lang="en-US"/>
              <a:t>medium rate): Users typically focus on the last 10 opera-tions. For the majority of sessions, this subset is sufficient, and a full history fetchis unnecessary;</a:t>
            </a:r>
          </a:p>
          <a:p>
            <a:pPr marL="742950" lvl="1" indent="-285750">
              <a:buFont typeface="Arial" panose="020B0604020202020204" pitchFamily="34" charset="0"/>
              <a:buChar char="•"/>
            </a:pPr>
            <a:r>
              <a:rPr lang="en-US" b="1"/>
              <a:t>Historical Archive </a:t>
            </a:r>
            <a:r>
              <a:rPr lang="en-US"/>
              <a:t>(</a:t>
            </a:r>
            <a:r>
              <a:rPr lang="en-US" b="1"/>
              <a:t>5% </a:t>
            </a:r>
            <a:r>
              <a:rPr lang="en-US"/>
              <a:t>very low rate): Access to the full transaction history or specific timeframes (e.g., for annual tax reporting or deep audits) is restricted to power usersor specific seasonal events.</a:t>
            </a:r>
          </a:p>
        </p:txBody>
      </p:sp>
    </p:spTree>
    <p:extLst>
      <p:ext uri="{BB962C8B-B14F-4D97-AF65-F5344CB8AC3E}">
        <p14:creationId xmlns:p14="http://schemas.microsoft.com/office/powerpoint/2010/main" val="3643380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555D3-4C72-5C5B-4FAD-0ADF46885FD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AB73E63-F131-96FD-3873-0817045C40F8}"/>
              </a:ext>
            </a:extLst>
          </p:cNvPr>
          <p:cNvSpPr>
            <a:spLocks noGrp="1"/>
          </p:cNvSpPr>
          <p:nvPr>
            <p:ph type="title"/>
          </p:nvPr>
        </p:nvSpPr>
        <p:spPr>
          <a:xfrm>
            <a:off x="191101" y="-304800"/>
            <a:ext cx="8761797" cy="1143000"/>
          </a:xfrm>
        </p:spPr>
        <p:txBody>
          <a:bodyPr>
            <a:normAutofit/>
          </a:bodyPr>
          <a:lstStyle/>
          <a:p>
            <a:r>
              <a:rPr lang="en-GB"/>
              <a:t>System assumptions – user behavior</a:t>
            </a:r>
            <a:endParaRPr lang="en-US" dirty="0"/>
          </a:p>
        </p:txBody>
      </p:sp>
      <p:sp>
        <p:nvSpPr>
          <p:cNvPr id="3" name="CasellaDiTesto 2">
            <a:extLst>
              <a:ext uri="{FF2B5EF4-FFF2-40B4-BE49-F238E27FC236}">
                <a16:creationId xmlns:a16="http://schemas.microsoft.com/office/drawing/2014/main" id="{1B1D6540-FAF7-CE75-AF29-4BC97DE28B1F}"/>
              </a:ext>
            </a:extLst>
          </p:cNvPr>
          <p:cNvSpPr txBox="1"/>
          <p:nvPr/>
        </p:nvSpPr>
        <p:spPr>
          <a:xfrm>
            <a:off x="0" y="535786"/>
            <a:ext cx="9144000" cy="5355312"/>
          </a:xfrm>
          <a:prstGeom prst="rect">
            <a:avLst/>
          </a:prstGeom>
          <a:noFill/>
        </p:spPr>
        <p:txBody>
          <a:bodyPr wrap="square" rtlCol="0">
            <a:spAutoFit/>
          </a:bodyPr>
          <a:lstStyle/>
          <a:p>
            <a:pPr lvl="0"/>
            <a:r>
              <a:rPr lang="en-US"/>
              <a:t>User </a:t>
            </a:r>
            <a:r>
              <a:rPr lang="en-US" u="sng"/>
              <a:t>Profiles and Behavioral </a:t>
            </a:r>
            <a:r>
              <a:rPr lang="en-US"/>
              <a:t>Workload Analysis based on their </a:t>
            </a:r>
            <a:r>
              <a:rPr lang="en-US" u="sng"/>
              <a:t>transactional volume</a:t>
            </a:r>
            <a:r>
              <a:rPr lang="en-US"/>
              <a:t>:</a:t>
            </a:r>
          </a:p>
          <a:p>
            <a:pPr marL="285750" lvl="0" indent="-285750">
              <a:buFont typeface="Arial" panose="020B0604020202020204" pitchFamily="34" charset="0"/>
              <a:buChar char="•"/>
            </a:pPr>
            <a:r>
              <a:rPr lang="en-US" b="1"/>
              <a:t>The ”Passive/Casual” Investor </a:t>
            </a:r>
            <a:r>
              <a:rPr lang="en-US"/>
              <a:t>(Approx. </a:t>
            </a:r>
            <a:r>
              <a:rPr lang="en-US" b="1"/>
              <a:t>70% </a:t>
            </a:r>
            <a:r>
              <a:rPr lang="en-US"/>
              <a:t>of the user base): users who utilize the application as a long-term savings tool or a pension fund.</a:t>
            </a:r>
          </a:p>
          <a:p>
            <a:pPr marL="742950" lvl="1" indent="-285750">
              <a:buFont typeface="Arial" panose="020B0604020202020204" pitchFamily="34" charset="0"/>
              <a:buChar char="•"/>
            </a:pPr>
            <a:r>
              <a:rPr lang="en-US" u="sng"/>
              <a:t>Average Activity</a:t>
            </a:r>
            <a:r>
              <a:rPr lang="en-US"/>
              <a:t>: 1 – 3 transactions per month.</a:t>
            </a:r>
          </a:p>
          <a:p>
            <a:pPr marL="742950" lvl="1" indent="-285750">
              <a:buFont typeface="Arial" panose="020B0604020202020204" pitchFamily="34" charset="0"/>
              <a:buChar char="•"/>
            </a:pPr>
            <a:r>
              <a:rPr lang="en-US" u="sng"/>
              <a:t>Behavioral Pattern</a:t>
            </a:r>
            <a:r>
              <a:rPr lang="en-US"/>
              <a:t>: These users typically set up automated investment plans or pur- chase shares of well-known companies periodically. Transaction History is rarely accessed; the user’s primary focus is the portfolio balance and long-term performance.</a:t>
            </a:r>
          </a:p>
          <a:p>
            <a:pPr marL="285750" lvl="0" indent="-285750">
              <a:buFont typeface="Arial" panose="020B0604020202020204" pitchFamily="34" charset="0"/>
              <a:buChar char="•"/>
            </a:pPr>
            <a:r>
              <a:rPr lang="en-US" b="1"/>
              <a:t>The ”Active/Swing Trader” </a:t>
            </a:r>
            <a:r>
              <a:rPr lang="en-US"/>
              <a:t>(Approx. </a:t>
            </a:r>
            <a:r>
              <a:rPr lang="en-US" b="1"/>
              <a:t>25% </a:t>
            </a:r>
            <a:r>
              <a:rPr lang="en-US"/>
              <a:t>of the user base): users actively follow market trends and attempt to outperform the market indices.</a:t>
            </a:r>
          </a:p>
          <a:p>
            <a:pPr marL="742950" lvl="1" indent="-285750">
              <a:buFont typeface="Arial" panose="020B0604020202020204" pitchFamily="34" charset="0"/>
              <a:buChar char="•"/>
            </a:pPr>
            <a:r>
              <a:rPr lang="en-US" u="sng"/>
              <a:t>Average Activity</a:t>
            </a:r>
            <a:r>
              <a:rPr lang="en-US"/>
              <a:t>: 10 – 30 transactions per month.</a:t>
            </a:r>
          </a:p>
          <a:p>
            <a:pPr marL="742950" lvl="1" indent="-285750">
              <a:buFont typeface="Arial" panose="020B0604020202020204" pitchFamily="34" charset="0"/>
              <a:buChar char="•"/>
            </a:pPr>
            <a:r>
              <a:rPr lang="en-US" u="sng"/>
              <a:t>Behavioral Pattern</a:t>
            </a:r>
            <a:r>
              <a:rPr lang="en-US"/>
              <a:t>: Positions are opened and closed within days or weeks. Frequently consulting charts and financial news.For these users, recent transaction history is crucial for monitoring short-term movements.</a:t>
            </a:r>
          </a:p>
          <a:p>
            <a:pPr marL="285750" lvl="0" indent="-285750">
              <a:buFont typeface="Arial" panose="020B0604020202020204" pitchFamily="34" charset="0"/>
              <a:buChar char="•"/>
            </a:pPr>
            <a:r>
              <a:rPr lang="en-US" b="1"/>
              <a:t>The ”Day Trader” or Speculator </a:t>
            </a:r>
            <a:r>
              <a:rPr lang="en-US"/>
              <a:t>(Approx. </a:t>
            </a:r>
            <a:r>
              <a:rPr lang="en-US" b="1"/>
              <a:t>5% </a:t>
            </a:r>
            <a:r>
              <a:rPr lang="en-US"/>
              <a:t>of the user base): A highly active, often attracted to high-volatility assets and speculative opportunities.</a:t>
            </a:r>
          </a:p>
          <a:p>
            <a:pPr marL="742950" lvl="1" indent="-285750">
              <a:buFont typeface="Arial" panose="020B0604020202020204" pitchFamily="34" charset="0"/>
              <a:buChar char="•"/>
            </a:pPr>
            <a:r>
              <a:rPr lang="en-US" u="sng"/>
              <a:t>Average Activity</a:t>
            </a:r>
            <a:r>
              <a:rPr lang="en-US"/>
              <a:t>: 50 – 500 transactions per month.</a:t>
            </a:r>
          </a:p>
          <a:p>
            <a:pPr marL="742950" lvl="1" indent="-285750">
              <a:buFont typeface="Arial" panose="020B0604020202020204" pitchFamily="34" charset="0"/>
              <a:buChar char="•"/>
            </a:pPr>
            <a:r>
              <a:rPr lang="en-US" u="sng"/>
              <a:t>Behavioral Pattern</a:t>
            </a:r>
            <a:r>
              <a:rPr lang="en-US"/>
              <a:t>: A Day Trader may execute 10 to 30 micro-operations within a single trading session. Despite being a small minority, this group can generate over 50% of the total order volume. </a:t>
            </a:r>
          </a:p>
        </p:txBody>
      </p:sp>
    </p:spTree>
    <p:extLst>
      <p:ext uri="{BB962C8B-B14F-4D97-AF65-F5344CB8AC3E}">
        <p14:creationId xmlns:p14="http://schemas.microsoft.com/office/powerpoint/2010/main" val="2955497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A1195-1500-40F6-FF89-09FB57DB141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9A17F2D-A1C6-5303-9C14-0166D13D1BC5}"/>
              </a:ext>
            </a:extLst>
          </p:cNvPr>
          <p:cNvSpPr>
            <a:spLocks noGrp="1"/>
          </p:cNvSpPr>
          <p:nvPr>
            <p:ph type="title"/>
          </p:nvPr>
        </p:nvSpPr>
        <p:spPr>
          <a:xfrm>
            <a:off x="191101" y="0"/>
            <a:ext cx="8761797" cy="1143000"/>
          </a:xfrm>
        </p:spPr>
        <p:txBody>
          <a:bodyPr>
            <a:normAutofit/>
          </a:bodyPr>
          <a:lstStyle/>
          <a:p>
            <a:r>
              <a:rPr lang="en-GB"/>
              <a:t>System assumptions - market</a:t>
            </a:r>
            <a:endParaRPr lang="en-US" dirty="0"/>
          </a:p>
        </p:txBody>
      </p:sp>
      <p:sp>
        <p:nvSpPr>
          <p:cNvPr id="3" name="CasellaDiTesto 2">
            <a:extLst>
              <a:ext uri="{FF2B5EF4-FFF2-40B4-BE49-F238E27FC236}">
                <a16:creationId xmlns:a16="http://schemas.microsoft.com/office/drawing/2014/main" id="{ADC3D00B-DD51-6A92-7354-77347C60D3E3}"/>
              </a:ext>
            </a:extLst>
          </p:cNvPr>
          <p:cNvSpPr txBox="1"/>
          <p:nvPr/>
        </p:nvSpPr>
        <p:spPr>
          <a:xfrm>
            <a:off x="-1" y="840586"/>
            <a:ext cx="9144000" cy="2031325"/>
          </a:xfrm>
          <a:prstGeom prst="rect">
            <a:avLst/>
          </a:prstGeom>
          <a:noFill/>
        </p:spPr>
        <p:txBody>
          <a:bodyPr wrap="square" rtlCol="0">
            <a:spAutoFit/>
          </a:bodyPr>
          <a:lstStyle/>
          <a:p>
            <a:pPr lvl="0"/>
            <a:r>
              <a:rPr lang="en-US" b="1"/>
              <a:t>NYSE</a:t>
            </a:r>
          </a:p>
          <a:p>
            <a:pPr marL="285750" lvl="0" indent="-285750">
              <a:buFont typeface="Arial" panose="020B0604020202020204" pitchFamily="34" charset="0"/>
              <a:buChar char="•"/>
            </a:pPr>
            <a:r>
              <a:rPr lang="en-US"/>
              <a:t>Approximately 2,400-2,500 companies are listed on</a:t>
            </a:r>
          </a:p>
          <a:p>
            <a:pPr marL="285750" lvl="0" indent="-285750">
              <a:buFont typeface="Arial" panose="020B0604020202020204" pitchFamily="34" charset="0"/>
              <a:buChar char="•"/>
            </a:pPr>
            <a:r>
              <a:rPr lang="en-US"/>
              <a:t>Average daily trading volume of around 1.5-1.9 billion. </a:t>
            </a:r>
          </a:p>
          <a:p>
            <a:pPr marL="285750" lvl="0" indent="-285750">
              <a:buFont typeface="Arial" panose="020B0604020202020204" pitchFamily="34" charset="0"/>
              <a:buChar char="•"/>
            </a:pPr>
            <a:endParaRPr lang="en-US"/>
          </a:p>
          <a:p>
            <a:pPr lvl="0"/>
            <a:r>
              <a:rPr lang="en-US" b="1"/>
              <a:t>NASDAQ</a:t>
            </a:r>
          </a:p>
          <a:p>
            <a:pPr marL="285750" lvl="0" indent="-285750">
              <a:buFont typeface="Arial" panose="020B0604020202020204" pitchFamily="34" charset="0"/>
              <a:buChar char="•"/>
            </a:pPr>
            <a:r>
              <a:rPr lang="en-US"/>
              <a:t>Approximately 4,000-4,100 companies are listed on</a:t>
            </a:r>
          </a:p>
          <a:p>
            <a:pPr marL="285750" lvl="0" indent="-285750">
              <a:buFont typeface="Arial" panose="020B0604020202020204" pitchFamily="34" charset="0"/>
              <a:buChar char="•"/>
            </a:pPr>
            <a:r>
              <a:rPr lang="en-US"/>
              <a:t>Average daily trading volume of around 7.5-9 billion.</a:t>
            </a:r>
          </a:p>
        </p:txBody>
      </p:sp>
      <p:pic>
        <p:nvPicPr>
          <p:cNvPr id="5" name="Immagine 4" descr="Immagine che contiene testo, schermata, numero, Carattere&#10;&#10;Il contenuto generato dall'IA potrebbe non essere corretto.">
            <a:extLst>
              <a:ext uri="{FF2B5EF4-FFF2-40B4-BE49-F238E27FC236}">
                <a16:creationId xmlns:a16="http://schemas.microsoft.com/office/drawing/2014/main" id="{3A657DA1-DEA9-6FD7-56B9-1F3DE3AE9B28}"/>
              </a:ext>
            </a:extLst>
          </p:cNvPr>
          <p:cNvPicPr>
            <a:picLocks noChangeAspect="1"/>
          </p:cNvPicPr>
          <p:nvPr/>
        </p:nvPicPr>
        <p:blipFill>
          <a:blip r:embed="rId2"/>
          <a:stretch>
            <a:fillRect/>
          </a:stretch>
        </p:blipFill>
        <p:spPr>
          <a:xfrm>
            <a:off x="963782" y="2919794"/>
            <a:ext cx="7216434" cy="3097620"/>
          </a:xfrm>
          <a:prstGeom prst="rect">
            <a:avLst/>
          </a:prstGeom>
        </p:spPr>
      </p:pic>
    </p:spTree>
    <p:extLst>
      <p:ext uri="{BB962C8B-B14F-4D97-AF65-F5344CB8AC3E}">
        <p14:creationId xmlns:p14="http://schemas.microsoft.com/office/powerpoint/2010/main" val="3934407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9113E-F5CD-A8DF-36A6-1169C4F278D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3EA2EEC-1C98-9256-AF1D-98304ABAADF6}"/>
              </a:ext>
            </a:extLst>
          </p:cNvPr>
          <p:cNvSpPr>
            <a:spLocks noGrp="1"/>
          </p:cNvSpPr>
          <p:nvPr>
            <p:ph type="title"/>
          </p:nvPr>
        </p:nvSpPr>
        <p:spPr>
          <a:xfrm>
            <a:off x="191101" y="0"/>
            <a:ext cx="8761797" cy="1143000"/>
          </a:xfrm>
        </p:spPr>
        <p:txBody>
          <a:bodyPr>
            <a:normAutofit/>
          </a:bodyPr>
          <a:lstStyle/>
          <a:p>
            <a:r>
              <a:rPr lang="en-GB"/>
              <a:t>User ↔ Asset relationship modeling</a:t>
            </a:r>
            <a:endParaRPr lang="en-US" dirty="0"/>
          </a:p>
        </p:txBody>
      </p:sp>
      <p:sp>
        <p:nvSpPr>
          <p:cNvPr id="3" name="CasellaDiTesto 2">
            <a:extLst>
              <a:ext uri="{FF2B5EF4-FFF2-40B4-BE49-F238E27FC236}">
                <a16:creationId xmlns:a16="http://schemas.microsoft.com/office/drawing/2014/main" id="{50DCFAE5-5A74-51CF-451A-9E146845F00E}"/>
              </a:ext>
            </a:extLst>
          </p:cNvPr>
          <p:cNvSpPr txBox="1"/>
          <p:nvPr/>
        </p:nvSpPr>
        <p:spPr>
          <a:xfrm>
            <a:off x="0" y="889843"/>
            <a:ext cx="9144000" cy="3970318"/>
          </a:xfrm>
          <a:prstGeom prst="rect">
            <a:avLst/>
          </a:prstGeom>
          <a:noFill/>
        </p:spPr>
        <p:txBody>
          <a:bodyPr wrap="square" rtlCol="0">
            <a:spAutoFit/>
          </a:bodyPr>
          <a:lstStyle/>
          <a:p>
            <a:pPr lvl="0"/>
            <a:r>
              <a:rPr lang="en-US" b="1"/>
              <a:t>Final Decision</a:t>
            </a:r>
            <a:r>
              <a:rPr lang="en-US"/>
              <a:t>: </a:t>
            </a:r>
            <a:r>
              <a:rPr lang="en-US" b="1"/>
              <a:t>Document Embedding</a:t>
            </a:r>
          </a:p>
          <a:p>
            <a:pPr lvl="0"/>
            <a:r>
              <a:rPr lang="en-US"/>
              <a:t>The currently held assets are stored directly within the user’s collection as an array of objects</a:t>
            </a:r>
          </a:p>
          <a:p>
            <a:pPr lvl="0"/>
            <a:r>
              <a:rPr lang="en-US"/>
              <a:t>called Portfolio.</a:t>
            </a:r>
          </a:p>
          <a:p>
            <a:pPr lvl="0"/>
            <a:endParaRPr lang="en-US"/>
          </a:p>
          <a:p>
            <a:pPr lvl="0"/>
            <a:r>
              <a:rPr lang="en-US" b="1"/>
              <a:t>Technical Rationale</a:t>
            </a:r>
          </a:p>
          <a:p>
            <a:pPr marL="285750" lvl="0" indent="-285750">
              <a:buFont typeface="Arial" panose="020B0604020202020204" pitchFamily="34" charset="0"/>
              <a:buChar char="•"/>
            </a:pPr>
            <a:r>
              <a:rPr lang="en-US" b="1"/>
              <a:t>Immediate Access</a:t>
            </a:r>
            <a:r>
              <a:rPr lang="en-US"/>
              <a:t>: Since portfolio visualization is the most frequent operation, embedding allows the system to retrieve cash balance, quantities, and BEP with a single read operation.</a:t>
            </a:r>
          </a:p>
          <a:p>
            <a:pPr marL="285750" lvl="0" indent="-285750">
              <a:buFont typeface="Arial" panose="020B0604020202020204" pitchFamily="34" charset="0"/>
              <a:buChar char="•"/>
            </a:pPr>
            <a:r>
              <a:rPr lang="en-US" b="1"/>
              <a:t>Query-Driven Logic</a:t>
            </a:r>
            <a:r>
              <a:rPr lang="en-US"/>
              <a:t>: In 99% of use cases, the system asks ”what does this user own?” rather than ”who owns this asset?”. For administrative or analytical needs (e.g., identifying the most traded assets), the system can query the transactions collection.</a:t>
            </a:r>
          </a:p>
          <a:p>
            <a:pPr marL="285750" lvl="0" indent="-285750">
              <a:buFont typeface="Arial" panose="020B0604020202020204" pitchFamily="34" charset="0"/>
              <a:buChar char="•"/>
            </a:pPr>
            <a:r>
              <a:rPr lang="en-US" b="1"/>
              <a:t>Minimal Data Redundancy</a:t>
            </a:r>
            <a:r>
              <a:rPr lang="en-US"/>
              <a:t>: Only essential trading data (Symbol, Quantity, BEP) is embedded. Secondary metadata (company description, headquarters, sector) remains in the assets collection to keep the User document lightweight, accessible via the symbol reference if needed.</a:t>
            </a:r>
          </a:p>
        </p:txBody>
      </p:sp>
    </p:spTree>
    <p:extLst>
      <p:ext uri="{BB962C8B-B14F-4D97-AF65-F5344CB8AC3E}">
        <p14:creationId xmlns:p14="http://schemas.microsoft.com/office/powerpoint/2010/main" val="3838607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D25FD-359B-25A7-56DB-C61D76FFC73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2ECE0CA-B6FF-4980-ED43-66F2524655E6}"/>
              </a:ext>
            </a:extLst>
          </p:cNvPr>
          <p:cNvSpPr>
            <a:spLocks noGrp="1"/>
          </p:cNvSpPr>
          <p:nvPr>
            <p:ph type="title"/>
          </p:nvPr>
        </p:nvSpPr>
        <p:spPr>
          <a:xfrm>
            <a:off x="191101" y="-316089"/>
            <a:ext cx="8761797" cy="1143000"/>
          </a:xfrm>
        </p:spPr>
        <p:txBody>
          <a:bodyPr>
            <a:normAutofit fontScale="90000"/>
          </a:bodyPr>
          <a:lstStyle/>
          <a:p>
            <a:r>
              <a:rPr lang="en-GB"/>
              <a:t>User/Asset ↔ Transaction R. modeling</a:t>
            </a:r>
            <a:endParaRPr lang="en-US" dirty="0"/>
          </a:p>
        </p:txBody>
      </p:sp>
      <p:sp>
        <p:nvSpPr>
          <p:cNvPr id="3" name="CasellaDiTesto 2">
            <a:extLst>
              <a:ext uri="{FF2B5EF4-FFF2-40B4-BE49-F238E27FC236}">
                <a16:creationId xmlns:a16="http://schemas.microsoft.com/office/drawing/2014/main" id="{A3D4E282-4BFD-0CD6-172F-DB814C8B3E9E}"/>
              </a:ext>
            </a:extLst>
          </p:cNvPr>
          <p:cNvSpPr txBox="1"/>
          <p:nvPr/>
        </p:nvSpPr>
        <p:spPr>
          <a:xfrm>
            <a:off x="0" y="488244"/>
            <a:ext cx="9144000" cy="4801314"/>
          </a:xfrm>
          <a:prstGeom prst="rect">
            <a:avLst/>
          </a:prstGeom>
          <a:noFill/>
        </p:spPr>
        <p:txBody>
          <a:bodyPr wrap="square" rtlCol="0">
            <a:spAutoFit/>
          </a:bodyPr>
          <a:lstStyle/>
          <a:p>
            <a:pPr lvl="0"/>
            <a:r>
              <a:rPr lang="en-US" b="1"/>
              <a:t>Final Decision: Linking with Partial Embedding (Last Recent Transactions)</a:t>
            </a:r>
          </a:p>
          <a:p>
            <a:pPr lvl="0"/>
            <a:r>
              <a:rPr lang="en-US"/>
              <a:t>Transactions are stored in a dedicated collection with link to user and asset but a small array of the last transactions is maintained inside the User document (document embedded).</a:t>
            </a:r>
          </a:p>
          <a:p>
            <a:pPr lvl="0"/>
            <a:endParaRPr lang="en-US" b="1"/>
          </a:p>
          <a:p>
            <a:pPr lvl="0"/>
            <a:r>
              <a:rPr lang="en-US" b="1"/>
              <a:t>Advantages and Rationale</a:t>
            </a:r>
          </a:p>
          <a:p>
            <a:pPr marL="285750" lvl="0" indent="-285750">
              <a:buFont typeface="Arial" panose="020B0604020202020204" pitchFamily="34" charset="0"/>
              <a:buChar char="•"/>
            </a:pPr>
            <a:r>
              <a:rPr lang="en-US" b="1"/>
              <a:t>Mitigation of Document Bloat</a:t>
            </a:r>
            <a:r>
              <a:rPr lang="en-US"/>
              <a:t>: By decoupling the full history (potentially thousands of records) from the User document, we strictly adhere to the 16MB BSON limit and prevent performance degradation during User profi le serialization.</a:t>
            </a:r>
          </a:p>
          <a:p>
            <a:pPr marL="285750" lvl="0" indent="-285750">
              <a:buFont typeface="Arial" panose="020B0604020202020204" pitchFamily="34" charset="0"/>
              <a:buChar char="•"/>
            </a:pPr>
            <a:r>
              <a:rPr lang="en-US" b="1"/>
              <a:t>Query Versatility and Statistical Analysis</a:t>
            </a:r>
            <a:r>
              <a:rPr lang="en-US"/>
              <a:t>: A standalone transactions collection allows for complex aggregations (e.g., total volume per asset, seasonal trend analysis) that would be computationally prohibitive if data were encapsulated within individual User or Asset doc. </a:t>
            </a:r>
          </a:p>
          <a:p>
            <a:pPr marL="285750" lvl="0" indent="-285750">
              <a:buFont typeface="Arial" panose="020B0604020202020204" pitchFamily="34" charset="0"/>
              <a:buChar char="•"/>
            </a:pPr>
            <a:r>
              <a:rPr lang="en-US" b="1"/>
              <a:t>Hybrid Performance </a:t>
            </a:r>
            <a:r>
              <a:rPr lang="en-US"/>
              <a:t>(Extended Reference Pattern): Embedding the 10 most recent trans-actions ensures that the user’s Dashboard is populated instantaneously. </a:t>
            </a:r>
          </a:p>
          <a:p>
            <a:pPr marL="285750" lvl="0" indent="-285750">
              <a:buFont typeface="Arial" panose="020B0604020202020204" pitchFamily="34" charset="0"/>
              <a:buChar char="•"/>
            </a:pPr>
            <a:r>
              <a:rPr lang="en-US"/>
              <a:t>The decision to cap the embedded array at 10 positions is strictly driven by our User Behav-ioral Analysis:</a:t>
            </a:r>
          </a:p>
          <a:p>
            <a:pPr marL="742950" lvl="1" indent="-285750">
              <a:buFont typeface="Arial" panose="020B0604020202020204" pitchFamily="34" charset="0"/>
              <a:buChar char="•"/>
            </a:pPr>
            <a:r>
              <a:rPr lang="en-US"/>
              <a:t>For 70% of users (Passive Investors), 10 slots eff ectively cover 3 to 9 months of history.</a:t>
            </a:r>
          </a:p>
          <a:p>
            <a:pPr marL="742950" lvl="1" indent="-285750">
              <a:buFont typeface="Arial" panose="020B0604020202020204" pitchFamily="34" charset="0"/>
              <a:buChar char="•"/>
            </a:pPr>
            <a:r>
              <a:rPr lang="en-US"/>
              <a:t>For 25% of users (Active Traders), this buffer covers a significant window of 2 to 4 weeks</a:t>
            </a:r>
          </a:p>
        </p:txBody>
      </p:sp>
    </p:spTree>
    <p:extLst>
      <p:ext uri="{BB962C8B-B14F-4D97-AF65-F5344CB8AC3E}">
        <p14:creationId xmlns:p14="http://schemas.microsoft.com/office/powerpoint/2010/main" val="365233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74B8D-C414-C8B2-D745-8C6125BF504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6CFEDAD-5858-5DF0-D926-B2CAEC36081D}"/>
              </a:ext>
            </a:extLst>
          </p:cNvPr>
          <p:cNvSpPr>
            <a:spLocks noGrp="1"/>
          </p:cNvSpPr>
          <p:nvPr>
            <p:ph type="title"/>
          </p:nvPr>
        </p:nvSpPr>
        <p:spPr>
          <a:xfrm>
            <a:off x="191100" y="-302415"/>
            <a:ext cx="8761797" cy="1143000"/>
          </a:xfrm>
        </p:spPr>
        <p:txBody>
          <a:bodyPr>
            <a:normAutofit/>
          </a:bodyPr>
          <a:lstStyle/>
          <a:p>
            <a:r>
              <a:rPr lang="en-GB"/>
              <a:t>Asset ↔ Asset Prices R. modeling</a:t>
            </a:r>
            <a:endParaRPr lang="en-US" dirty="0"/>
          </a:p>
        </p:txBody>
      </p:sp>
      <p:sp>
        <p:nvSpPr>
          <p:cNvPr id="3" name="CasellaDiTesto 2">
            <a:extLst>
              <a:ext uri="{FF2B5EF4-FFF2-40B4-BE49-F238E27FC236}">
                <a16:creationId xmlns:a16="http://schemas.microsoft.com/office/drawing/2014/main" id="{7A91DAFC-C6A4-293B-4D09-9D9230A694F4}"/>
              </a:ext>
            </a:extLst>
          </p:cNvPr>
          <p:cNvSpPr txBox="1"/>
          <p:nvPr/>
        </p:nvSpPr>
        <p:spPr>
          <a:xfrm>
            <a:off x="-2" y="389029"/>
            <a:ext cx="9144000" cy="5909310"/>
          </a:xfrm>
          <a:prstGeom prst="rect">
            <a:avLst/>
          </a:prstGeom>
          <a:noFill/>
        </p:spPr>
        <p:txBody>
          <a:bodyPr wrap="square" rtlCol="0">
            <a:spAutoFit/>
          </a:bodyPr>
          <a:lstStyle/>
          <a:p>
            <a:pPr lvl="0"/>
            <a:r>
              <a:rPr lang="en-US" b="1"/>
              <a:t>Final Decision: Collection with Compound Indexing</a:t>
            </a:r>
          </a:p>
          <a:p>
            <a:pPr lvl="0"/>
            <a:r>
              <a:rPr lang="en-US"/>
              <a:t>Utilizes a dedicated Asset Prices collection with a compound index on { symbol: 1, date: -1 }.</a:t>
            </a:r>
          </a:p>
          <a:p>
            <a:pPr lvl="0"/>
            <a:endParaRPr lang="en-US"/>
          </a:p>
          <a:p>
            <a:pPr lvl="0"/>
            <a:r>
              <a:rPr lang="en-US" b="1"/>
              <a:t>Technical Rationale</a:t>
            </a:r>
          </a:p>
          <a:p>
            <a:pPr marL="285750" lvl="0" indent="-285750">
              <a:buFont typeface="Arial" panose="020B0604020202020204" pitchFamily="34" charset="0"/>
              <a:buChar char="•"/>
            </a:pPr>
            <a:r>
              <a:rPr lang="en-US" b="1"/>
              <a:t>Query-Driven Modeling</a:t>
            </a:r>
            <a:r>
              <a:rPr lang="en-US"/>
              <a:t>: The index is optimized for the primary query: ”fetch prices for asset X between time A and B.” Sorting by date in descending order aligns with how charts are typically rendered (from the most recent data backwards).</a:t>
            </a:r>
          </a:p>
          <a:p>
            <a:pPr marL="285750" lvl="0" indent="-285750">
              <a:buFont typeface="Arial" panose="020B0604020202020204" pitchFamily="34" charset="0"/>
              <a:buChar char="•"/>
            </a:pPr>
            <a:r>
              <a:rPr lang="en-US" b="1"/>
              <a:t>Write Efficiency</a:t>
            </a:r>
            <a:r>
              <a:rPr lang="en-US"/>
              <a:t>: Daily updates become pure insert operations rather than expensive $ push updates to large existing arrays.</a:t>
            </a:r>
          </a:p>
          <a:p>
            <a:pPr marL="285750" lvl="0" indent="-285750">
              <a:buFont typeface="Arial" panose="020B0604020202020204" pitchFamily="34" charset="0"/>
              <a:buChar char="•"/>
            </a:pPr>
            <a:r>
              <a:rPr lang="en-US" b="1"/>
              <a:t>Scalability</a:t>
            </a:r>
            <a:r>
              <a:rPr lang="en-US"/>
              <a:t>: This structure preserves the performance of the Assets collection ensuring that basic asset lookups remain lightweight regardless of how much historical price data is accumulated.</a:t>
            </a:r>
          </a:p>
          <a:p>
            <a:pPr marL="285750" lvl="0" indent="-285750">
              <a:buFont typeface="Arial" panose="020B0604020202020204" pitchFamily="34" charset="0"/>
              <a:buChar char="•"/>
            </a:pPr>
            <a:endParaRPr lang="en-US"/>
          </a:p>
          <a:p>
            <a:pPr lvl="0"/>
            <a:r>
              <a:rPr lang="en-US" b="1"/>
              <a:t>Evaluation of Approaches</a:t>
            </a:r>
          </a:p>
          <a:p>
            <a:pPr marL="285750" lvl="0" indent="-285750">
              <a:buFont typeface="Arial" panose="020B0604020202020204" pitchFamily="34" charset="0"/>
              <a:buChar char="•"/>
            </a:pPr>
            <a:r>
              <a:rPr lang="en-US" b="1"/>
              <a:t>Linking in Asset document</a:t>
            </a:r>
            <a:r>
              <a:rPr lang="en-US"/>
              <a:t>: Storing a list of price IDs within the Asset document is highly inefficient (IDs do not inherently contain date information).</a:t>
            </a:r>
          </a:p>
          <a:p>
            <a:pPr marL="285750" lvl="0" indent="-285750">
              <a:buFont typeface="Arial" panose="020B0604020202020204" pitchFamily="34" charset="0"/>
              <a:buChar char="•"/>
            </a:pPr>
            <a:r>
              <a:rPr lang="en-US" b="1"/>
              <a:t>Embedding within the Asset document</a:t>
            </a:r>
            <a:r>
              <a:rPr lang="en-US"/>
              <a:t>:</a:t>
            </a:r>
          </a:p>
          <a:p>
            <a:pPr marL="742950" lvl="1" indent="-285750">
              <a:buFont typeface="Arial" panose="020B0604020202020204" pitchFamily="34" charset="0"/>
              <a:buChar char="•"/>
            </a:pPr>
            <a:r>
              <a:rPr lang="en-US"/>
              <a:t>Storing 365 daily price points per year as embedded docs leads to massive array growth.</a:t>
            </a:r>
          </a:p>
          <a:p>
            <a:pPr marL="742950" lvl="1" indent="-285750">
              <a:buFont typeface="Arial" panose="020B0604020202020204" pitchFamily="34" charset="0"/>
              <a:buChar char="•"/>
            </a:pPr>
            <a:r>
              <a:rPr lang="en-US"/>
              <a:t>Performance Degradation: Large embedded arrays must be fully loaded into RAM before filtering, which is computationally expensive. Furthermore, constantly growing a document’s size leads to disk reallocation causing signifi cant write-performance spikes.</a:t>
            </a:r>
          </a:p>
        </p:txBody>
      </p:sp>
    </p:spTree>
    <p:extLst>
      <p:ext uri="{BB962C8B-B14F-4D97-AF65-F5344CB8AC3E}">
        <p14:creationId xmlns:p14="http://schemas.microsoft.com/office/powerpoint/2010/main" val="3816695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EC6E9-9959-BC0F-7382-FBE31CD5255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98FC236-F929-ED2F-245D-B68DE6F943A8}"/>
              </a:ext>
            </a:extLst>
          </p:cNvPr>
          <p:cNvSpPr>
            <a:spLocks noGrp="1"/>
          </p:cNvSpPr>
          <p:nvPr>
            <p:ph type="title"/>
          </p:nvPr>
        </p:nvSpPr>
        <p:spPr>
          <a:xfrm>
            <a:off x="191101" y="0"/>
            <a:ext cx="8761797" cy="1143000"/>
          </a:xfrm>
        </p:spPr>
        <p:txBody>
          <a:bodyPr>
            <a:normAutofit/>
          </a:bodyPr>
          <a:lstStyle/>
          <a:p>
            <a:r>
              <a:rPr lang="en-GB"/>
              <a:t>Benchmark for</a:t>
            </a:r>
            <a:r>
              <a:rPr lang="it-IT"/>
              <a:t> the choices (0)</a:t>
            </a:r>
            <a:endParaRPr lang="en-US" dirty="0"/>
          </a:p>
        </p:txBody>
      </p:sp>
      <p:pic>
        <p:nvPicPr>
          <p:cNvPr id="7" name="Immagine 6" descr="Immagine che contiene testo, schermata, Carattere, numero&#10;&#10;Il contenuto generato dall'IA potrebbe non essere corretto.">
            <a:extLst>
              <a:ext uri="{FF2B5EF4-FFF2-40B4-BE49-F238E27FC236}">
                <a16:creationId xmlns:a16="http://schemas.microsoft.com/office/drawing/2014/main" id="{92EF5F2D-0E7B-221A-52FF-7E18961AB01E}"/>
              </a:ext>
            </a:extLst>
          </p:cNvPr>
          <p:cNvPicPr>
            <a:picLocks noChangeAspect="1"/>
          </p:cNvPicPr>
          <p:nvPr/>
        </p:nvPicPr>
        <p:blipFill>
          <a:blip r:embed="rId2"/>
          <a:stretch>
            <a:fillRect/>
          </a:stretch>
        </p:blipFill>
        <p:spPr>
          <a:xfrm>
            <a:off x="1358086" y="1016093"/>
            <a:ext cx="6427826" cy="4825814"/>
          </a:xfrm>
          <a:prstGeom prst="rect">
            <a:avLst/>
          </a:prstGeom>
        </p:spPr>
      </p:pic>
    </p:spTree>
    <p:extLst>
      <p:ext uri="{BB962C8B-B14F-4D97-AF65-F5344CB8AC3E}">
        <p14:creationId xmlns:p14="http://schemas.microsoft.com/office/powerpoint/2010/main" val="17379434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27747-55BC-0808-6521-E239C12C4B6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41F2D0A-06BE-2A01-DEBA-F99E27B4C1F6}"/>
              </a:ext>
            </a:extLst>
          </p:cNvPr>
          <p:cNvSpPr>
            <a:spLocks noGrp="1"/>
          </p:cNvSpPr>
          <p:nvPr>
            <p:ph type="title"/>
          </p:nvPr>
        </p:nvSpPr>
        <p:spPr>
          <a:xfrm>
            <a:off x="191101" y="0"/>
            <a:ext cx="8761797" cy="1143000"/>
          </a:xfrm>
        </p:spPr>
        <p:txBody>
          <a:bodyPr>
            <a:normAutofit/>
          </a:bodyPr>
          <a:lstStyle/>
          <a:p>
            <a:r>
              <a:rPr lang="en-GB"/>
              <a:t>Benchmark for</a:t>
            </a:r>
            <a:r>
              <a:rPr lang="it-IT"/>
              <a:t> the choices (1)</a:t>
            </a:r>
            <a:endParaRPr lang="en-US" dirty="0"/>
          </a:p>
        </p:txBody>
      </p:sp>
      <p:pic>
        <p:nvPicPr>
          <p:cNvPr id="4" name="Immagine 3" descr="Immagine che contiene testo, schermata&#10;&#10;Il contenuto generato dall'IA potrebbe non essere corretto.">
            <a:extLst>
              <a:ext uri="{FF2B5EF4-FFF2-40B4-BE49-F238E27FC236}">
                <a16:creationId xmlns:a16="http://schemas.microsoft.com/office/drawing/2014/main" id="{B52C7286-BD9E-609C-2850-1C70F096723E}"/>
              </a:ext>
            </a:extLst>
          </p:cNvPr>
          <p:cNvPicPr>
            <a:picLocks noChangeAspect="1"/>
          </p:cNvPicPr>
          <p:nvPr/>
        </p:nvPicPr>
        <p:blipFill>
          <a:blip r:embed="rId2"/>
          <a:stretch>
            <a:fillRect/>
          </a:stretch>
        </p:blipFill>
        <p:spPr>
          <a:xfrm>
            <a:off x="262990" y="829915"/>
            <a:ext cx="8618018" cy="5198170"/>
          </a:xfrm>
          <a:prstGeom prst="rect">
            <a:avLst/>
          </a:prstGeom>
        </p:spPr>
      </p:pic>
    </p:spTree>
    <p:extLst>
      <p:ext uri="{BB962C8B-B14F-4D97-AF65-F5344CB8AC3E}">
        <p14:creationId xmlns:p14="http://schemas.microsoft.com/office/powerpoint/2010/main" val="3303533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92828-6353-0174-EF3F-9EE2A057155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81EE28E-FC13-76AF-72E1-22225BAFAC73}"/>
              </a:ext>
            </a:extLst>
          </p:cNvPr>
          <p:cNvSpPr>
            <a:spLocks noGrp="1"/>
          </p:cNvSpPr>
          <p:nvPr>
            <p:ph type="title"/>
          </p:nvPr>
        </p:nvSpPr>
        <p:spPr>
          <a:xfrm>
            <a:off x="191101" y="0"/>
            <a:ext cx="8761797" cy="1143000"/>
          </a:xfrm>
        </p:spPr>
        <p:txBody>
          <a:bodyPr>
            <a:normAutofit/>
          </a:bodyPr>
          <a:lstStyle/>
          <a:p>
            <a:r>
              <a:rPr lang="en-GB"/>
              <a:t>Benchmark for</a:t>
            </a:r>
            <a:r>
              <a:rPr lang="it-IT"/>
              <a:t> the choices (2)</a:t>
            </a:r>
            <a:endParaRPr lang="en-US" dirty="0"/>
          </a:p>
        </p:txBody>
      </p:sp>
      <p:pic>
        <p:nvPicPr>
          <p:cNvPr id="4" name="Immagine 3" descr="Immagine che contiene testo, schermata, Carattere&#10;&#10;Il contenuto generato dall'IA potrebbe non essere corretto.">
            <a:extLst>
              <a:ext uri="{FF2B5EF4-FFF2-40B4-BE49-F238E27FC236}">
                <a16:creationId xmlns:a16="http://schemas.microsoft.com/office/drawing/2014/main" id="{44347219-03AD-32EF-7BC8-3FBCC5BE08FF}"/>
              </a:ext>
            </a:extLst>
          </p:cNvPr>
          <p:cNvPicPr>
            <a:picLocks noChangeAspect="1"/>
          </p:cNvPicPr>
          <p:nvPr/>
        </p:nvPicPr>
        <p:blipFill>
          <a:blip r:embed="rId2"/>
          <a:stretch>
            <a:fillRect/>
          </a:stretch>
        </p:blipFill>
        <p:spPr>
          <a:xfrm>
            <a:off x="968103" y="870617"/>
            <a:ext cx="7207792" cy="5365121"/>
          </a:xfrm>
          <a:prstGeom prst="rect">
            <a:avLst/>
          </a:prstGeom>
        </p:spPr>
      </p:pic>
    </p:spTree>
    <p:extLst>
      <p:ext uri="{BB962C8B-B14F-4D97-AF65-F5344CB8AC3E}">
        <p14:creationId xmlns:p14="http://schemas.microsoft.com/office/powerpoint/2010/main" val="1919551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E79E9-D198-99DA-D750-A708038DE6A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8F09A64-5944-CE0C-0C98-9BFCC01662FB}"/>
              </a:ext>
            </a:extLst>
          </p:cNvPr>
          <p:cNvSpPr>
            <a:spLocks noGrp="1"/>
          </p:cNvSpPr>
          <p:nvPr>
            <p:ph type="title"/>
          </p:nvPr>
        </p:nvSpPr>
        <p:spPr>
          <a:xfrm>
            <a:off x="191101" y="-305238"/>
            <a:ext cx="8761797" cy="1143000"/>
          </a:xfrm>
        </p:spPr>
        <p:txBody>
          <a:bodyPr>
            <a:normAutofit/>
          </a:bodyPr>
          <a:lstStyle/>
          <a:p>
            <a:r>
              <a:rPr lang="it-IT"/>
              <a:t>MongoDB User Model</a:t>
            </a:r>
            <a:endParaRPr lang="en-US" dirty="0"/>
          </a:p>
        </p:txBody>
      </p:sp>
      <p:pic>
        <p:nvPicPr>
          <p:cNvPr id="7" name="Immagine 6" descr="Immagine che contiene testo, schermata&#10;&#10;Il contenuto generato dall'IA potrebbe non essere corretto.">
            <a:extLst>
              <a:ext uri="{FF2B5EF4-FFF2-40B4-BE49-F238E27FC236}">
                <a16:creationId xmlns:a16="http://schemas.microsoft.com/office/drawing/2014/main" id="{F9F970C7-5AFA-D972-16BA-247E1A1C039E}"/>
              </a:ext>
            </a:extLst>
          </p:cNvPr>
          <p:cNvPicPr>
            <a:picLocks noChangeAspect="1"/>
          </p:cNvPicPr>
          <p:nvPr/>
        </p:nvPicPr>
        <p:blipFill>
          <a:blip r:embed="rId2"/>
          <a:stretch>
            <a:fillRect/>
          </a:stretch>
        </p:blipFill>
        <p:spPr>
          <a:xfrm>
            <a:off x="303146" y="507045"/>
            <a:ext cx="4534340" cy="6108244"/>
          </a:xfrm>
          <a:prstGeom prst="rect">
            <a:avLst/>
          </a:prstGeom>
        </p:spPr>
      </p:pic>
      <p:pic>
        <p:nvPicPr>
          <p:cNvPr id="9" name="Immagine 8" descr="Immagine che contiene testo, schermata, Carattere&#10;&#10;Il contenuto generato dall'IA potrebbe non essere corretto.">
            <a:extLst>
              <a:ext uri="{FF2B5EF4-FFF2-40B4-BE49-F238E27FC236}">
                <a16:creationId xmlns:a16="http://schemas.microsoft.com/office/drawing/2014/main" id="{7D1CF88B-ABBF-0943-FB27-072D5ADBFDBD}"/>
              </a:ext>
            </a:extLst>
          </p:cNvPr>
          <p:cNvPicPr>
            <a:picLocks noChangeAspect="1"/>
          </p:cNvPicPr>
          <p:nvPr/>
        </p:nvPicPr>
        <p:blipFill>
          <a:blip r:embed="rId3"/>
          <a:stretch>
            <a:fillRect/>
          </a:stretch>
        </p:blipFill>
        <p:spPr>
          <a:xfrm>
            <a:off x="5971822" y="507045"/>
            <a:ext cx="2869032" cy="6174655"/>
          </a:xfrm>
          <a:prstGeom prst="rect">
            <a:avLst/>
          </a:prstGeom>
        </p:spPr>
      </p:pic>
    </p:spTree>
    <p:extLst>
      <p:ext uri="{BB962C8B-B14F-4D97-AF65-F5344CB8AC3E}">
        <p14:creationId xmlns:p14="http://schemas.microsoft.com/office/powerpoint/2010/main" val="1133565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CAA95-C684-EEA6-9628-A3FD9A10E94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493ADA4-FF67-1EAE-82E3-E6DCC9223E22}"/>
              </a:ext>
            </a:extLst>
          </p:cNvPr>
          <p:cNvSpPr>
            <a:spLocks noGrp="1"/>
          </p:cNvSpPr>
          <p:nvPr>
            <p:ph type="title"/>
          </p:nvPr>
        </p:nvSpPr>
        <p:spPr>
          <a:xfrm>
            <a:off x="191101" y="0"/>
            <a:ext cx="8761797" cy="1143000"/>
          </a:xfrm>
        </p:spPr>
        <p:txBody>
          <a:bodyPr>
            <a:normAutofit/>
          </a:bodyPr>
          <a:lstStyle/>
          <a:p>
            <a:r>
              <a:rPr lang="it-IT"/>
              <a:t>MongoDB Asset/Asset_prices Model</a:t>
            </a:r>
            <a:endParaRPr lang="en-US" dirty="0"/>
          </a:p>
        </p:txBody>
      </p:sp>
      <p:pic>
        <p:nvPicPr>
          <p:cNvPr id="4" name="Immagine 3" descr="Immagine che contiene testo, schermata, Carattere&#10;&#10;Il contenuto generato dall'IA potrebbe non essere corretto.">
            <a:extLst>
              <a:ext uri="{FF2B5EF4-FFF2-40B4-BE49-F238E27FC236}">
                <a16:creationId xmlns:a16="http://schemas.microsoft.com/office/drawing/2014/main" id="{B1533C88-8D8C-8C4B-CB4D-91D8E3C1FAC7}"/>
              </a:ext>
            </a:extLst>
          </p:cNvPr>
          <p:cNvPicPr>
            <a:picLocks noChangeAspect="1"/>
          </p:cNvPicPr>
          <p:nvPr/>
        </p:nvPicPr>
        <p:blipFill>
          <a:blip r:embed="rId2"/>
          <a:stretch>
            <a:fillRect/>
          </a:stretch>
        </p:blipFill>
        <p:spPr>
          <a:xfrm>
            <a:off x="101390" y="2364050"/>
            <a:ext cx="4470610" cy="2129900"/>
          </a:xfrm>
          <a:prstGeom prst="rect">
            <a:avLst/>
          </a:prstGeom>
        </p:spPr>
      </p:pic>
      <p:pic>
        <p:nvPicPr>
          <p:cNvPr id="8" name="Immagine 7" descr="Immagine che contiene testo, schermata, Carattere&#10;&#10;Il contenuto generato dall'IA potrebbe non essere corretto.">
            <a:extLst>
              <a:ext uri="{FF2B5EF4-FFF2-40B4-BE49-F238E27FC236}">
                <a16:creationId xmlns:a16="http://schemas.microsoft.com/office/drawing/2014/main" id="{AF4B68A1-987E-E432-969F-CE9EE750AA7E}"/>
              </a:ext>
            </a:extLst>
          </p:cNvPr>
          <p:cNvPicPr>
            <a:picLocks noChangeAspect="1"/>
          </p:cNvPicPr>
          <p:nvPr/>
        </p:nvPicPr>
        <p:blipFill>
          <a:blip r:embed="rId3"/>
          <a:stretch>
            <a:fillRect/>
          </a:stretch>
        </p:blipFill>
        <p:spPr>
          <a:xfrm>
            <a:off x="4666251" y="2324569"/>
            <a:ext cx="4376358" cy="2208861"/>
          </a:xfrm>
          <a:prstGeom prst="rect">
            <a:avLst/>
          </a:prstGeom>
        </p:spPr>
      </p:pic>
      <p:sp>
        <p:nvSpPr>
          <p:cNvPr id="9" name="CasellaDiTesto 8">
            <a:extLst>
              <a:ext uri="{FF2B5EF4-FFF2-40B4-BE49-F238E27FC236}">
                <a16:creationId xmlns:a16="http://schemas.microsoft.com/office/drawing/2014/main" id="{3A4E83D7-8CC1-1087-FE0A-BAFC55B156D7}"/>
              </a:ext>
            </a:extLst>
          </p:cNvPr>
          <p:cNvSpPr txBox="1"/>
          <p:nvPr/>
        </p:nvSpPr>
        <p:spPr>
          <a:xfrm>
            <a:off x="1166695" y="1764763"/>
            <a:ext cx="6999111" cy="369332"/>
          </a:xfrm>
          <a:prstGeom prst="rect">
            <a:avLst/>
          </a:prstGeom>
          <a:noFill/>
        </p:spPr>
        <p:txBody>
          <a:bodyPr wrap="square" rtlCol="0">
            <a:spAutoFit/>
          </a:bodyPr>
          <a:lstStyle/>
          <a:p>
            <a:r>
              <a:rPr lang="en-US" b="1"/>
              <a:t>Asset  								Asset_prices</a:t>
            </a:r>
            <a:endParaRPr lang="it-IT"/>
          </a:p>
        </p:txBody>
      </p:sp>
    </p:spTree>
    <p:extLst>
      <p:ext uri="{BB962C8B-B14F-4D97-AF65-F5344CB8AC3E}">
        <p14:creationId xmlns:p14="http://schemas.microsoft.com/office/powerpoint/2010/main" val="3566847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B5AB5-DFB3-DFF3-D40C-58F3BBEF7C6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9B4990C-42D1-2DAC-62A3-88AB8A025025}"/>
              </a:ext>
            </a:extLst>
          </p:cNvPr>
          <p:cNvSpPr>
            <a:spLocks noGrp="1"/>
          </p:cNvSpPr>
          <p:nvPr>
            <p:ph type="title"/>
          </p:nvPr>
        </p:nvSpPr>
        <p:spPr>
          <a:xfrm>
            <a:off x="191100" y="-122137"/>
            <a:ext cx="8761797" cy="1143000"/>
          </a:xfrm>
        </p:spPr>
        <p:txBody>
          <a:bodyPr>
            <a:normAutofit/>
          </a:bodyPr>
          <a:lstStyle/>
          <a:p>
            <a:r>
              <a:rPr lang="it-IT"/>
              <a:t>MongoDB Transactios Model</a:t>
            </a:r>
            <a:endParaRPr lang="en-US" dirty="0"/>
          </a:p>
        </p:txBody>
      </p:sp>
      <p:pic>
        <p:nvPicPr>
          <p:cNvPr id="4" name="Immagine 3" descr="Immagine che contiene testo, schermata, Carattere&#10;&#10;Il contenuto generato dall'IA potrebbe non essere corretto.">
            <a:extLst>
              <a:ext uri="{FF2B5EF4-FFF2-40B4-BE49-F238E27FC236}">
                <a16:creationId xmlns:a16="http://schemas.microsoft.com/office/drawing/2014/main" id="{E44D781D-4D44-2EB7-9FDC-BBD9C3E20965}"/>
              </a:ext>
            </a:extLst>
          </p:cNvPr>
          <p:cNvPicPr>
            <a:picLocks noChangeAspect="1"/>
          </p:cNvPicPr>
          <p:nvPr/>
        </p:nvPicPr>
        <p:blipFill>
          <a:blip r:embed="rId2"/>
          <a:stretch>
            <a:fillRect/>
          </a:stretch>
        </p:blipFill>
        <p:spPr>
          <a:xfrm>
            <a:off x="191100" y="1755447"/>
            <a:ext cx="4541206" cy="3347105"/>
          </a:xfrm>
          <a:prstGeom prst="rect">
            <a:avLst/>
          </a:prstGeom>
        </p:spPr>
      </p:pic>
      <p:pic>
        <p:nvPicPr>
          <p:cNvPr id="6" name="Immagine 5" descr="Immagine che contiene testo, schermata, Carattere&#10;&#10;Il contenuto generato dall'IA potrebbe non essere corretto.">
            <a:extLst>
              <a:ext uri="{FF2B5EF4-FFF2-40B4-BE49-F238E27FC236}">
                <a16:creationId xmlns:a16="http://schemas.microsoft.com/office/drawing/2014/main" id="{F2F7AD65-87BE-3E6B-8AB0-024362027493}"/>
              </a:ext>
            </a:extLst>
          </p:cNvPr>
          <p:cNvPicPr>
            <a:picLocks noChangeAspect="1"/>
          </p:cNvPicPr>
          <p:nvPr/>
        </p:nvPicPr>
        <p:blipFill>
          <a:blip r:embed="rId3"/>
          <a:stretch>
            <a:fillRect/>
          </a:stretch>
        </p:blipFill>
        <p:spPr>
          <a:xfrm>
            <a:off x="4815590" y="2186387"/>
            <a:ext cx="4137307" cy="2292067"/>
          </a:xfrm>
          <a:prstGeom prst="rect">
            <a:avLst/>
          </a:prstGeom>
        </p:spPr>
      </p:pic>
      <p:sp>
        <p:nvSpPr>
          <p:cNvPr id="7" name="CasellaDiTesto 6">
            <a:extLst>
              <a:ext uri="{FF2B5EF4-FFF2-40B4-BE49-F238E27FC236}">
                <a16:creationId xmlns:a16="http://schemas.microsoft.com/office/drawing/2014/main" id="{338D121A-4F1B-94C0-6073-B2E1094CED5F}"/>
              </a:ext>
            </a:extLst>
          </p:cNvPr>
          <p:cNvSpPr txBox="1"/>
          <p:nvPr/>
        </p:nvSpPr>
        <p:spPr>
          <a:xfrm>
            <a:off x="620889" y="1203489"/>
            <a:ext cx="8240889" cy="369332"/>
          </a:xfrm>
          <a:prstGeom prst="rect">
            <a:avLst/>
          </a:prstGeom>
          <a:noFill/>
        </p:spPr>
        <p:txBody>
          <a:bodyPr wrap="square" rtlCol="0">
            <a:spAutoFit/>
          </a:bodyPr>
          <a:lstStyle/>
          <a:p>
            <a:r>
              <a:rPr lang="en-US" b="1"/>
              <a:t>Sell/purchase </a:t>
            </a:r>
            <a:r>
              <a:rPr lang="en-US"/>
              <a:t>transaction</a:t>
            </a:r>
            <a:r>
              <a:rPr lang="en-US" b="1"/>
              <a:t>					deposit/withdrawal </a:t>
            </a:r>
            <a:r>
              <a:rPr lang="en-US"/>
              <a:t>transactions</a:t>
            </a:r>
            <a:endParaRPr lang="it-IT"/>
          </a:p>
        </p:txBody>
      </p:sp>
    </p:spTree>
    <p:extLst>
      <p:ext uri="{BB962C8B-B14F-4D97-AF65-F5344CB8AC3E}">
        <p14:creationId xmlns:p14="http://schemas.microsoft.com/office/powerpoint/2010/main" val="5570317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96FA4-8841-9859-EC54-722A0E2887B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2DDC4E6-A0BA-6B09-A860-49BF74733F30}"/>
              </a:ext>
            </a:extLst>
          </p:cNvPr>
          <p:cNvSpPr>
            <a:spLocks noGrp="1"/>
          </p:cNvSpPr>
          <p:nvPr>
            <p:ph type="title"/>
          </p:nvPr>
        </p:nvSpPr>
        <p:spPr>
          <a:xfrm>
            <a:off x="191100" y="-122137"/>
            <a:ext cx="8761797" cy="1143000"/>
          </a:xfrm>
        </p:spPr>
        <p:txBody>
          <a:bodyPr>
            <a:normAutofit/>
          </a:bodyPr>
          <a:lstStyle/>
          <a:p>
            <a:r>
              <a:rPr lang="it-IT"/>
              <a:t>MongoDB News/Counters Model</a:t>
            </a:r>
            <a:endParaRPr lang="en-US" dirty="0"/>
          </a:p>
        </p:txBody>
      </p:sp>
      <p:sp>
        <p:nvSpPr>
          <p:cNvPr id="7" name="CasellaDiTesto 6">
            <a:extLst>
              <a:ext uri="{FF2B5EF4-FFF2-40B4-BE49-F238E27FC236}">
                <a16:creationId xmlns:a16="http://schemas.microsoft.com/office/drawing/2014/main" id="{A3AC4B77-AA35-1275-8B24-1115E6CB949E}"/>
              </a:ext>
            </a:extLst>
          </p:cNvPr>
          <p:cNvSpPr txBox="1"/>
          <p:nvPr/>
        </p:nvSpPr>
        <p:spPr>
          <a:xfrm>
            <a:off x="451553" y="706947"/>
            <a:ext cx="8240889" cy="369332"/>
          </a:xfrm>
          <a:prstGeom prst="rect">
            <a:avLst/>
          </a:prstGeom>
          <a:noFill/>
        </p:spPr>
        <p:txBody>
          <a:bodyPr wrap="square" rtlCol="0">
            <a:spAutoFit/>
          </a:bodyPr>
          <a:lstStyle/>
          <a:p>
            <a:r>
              <a:rPr lang="en-US" b="1"/>
              <a:t>							News </a:t>
            </a:r>
            <a:r>
              <a:rPr lang="en-US"/>
              <a:t>transaction</a:t>
            </a:r>
            <a:endParaRPr lang="it-IT"/>
          </a:p>
        </p:txBody>
      </p:sp>
      <p:pic>
        <p:nvPicPr>
          <p:cNvPr id="5" name="Immagine 4" descr="Immagine che contiene testo, Carattere, schermata, linea&#10;&#10;Il contenuto generato dall'IA potrebbe non essere corretto.">
            <a:extLst>
              <a:ext uri="{FF2B5EF4-FFF2-40B4-BE49-F238E27FC236}">
                <a16:creationId xmlns:a16="http://schemas.microsoft.com/office/drawing/2014/main" id="{E77C9A1D-2007-D5BE-385F-717BB0BBB798}"/>
              </a:ext>
            </a:extLst>
          </p:cNvPr>
          <p:cNvPicPr>
            <a:picLocks noChangeAspect="1"/>
          </p:cNvPicPr>
          <p:nvPr/>
        </p:nvPicPr>
        <p:blipFill>
          <a:blip r:embed="rId2"/>
          <a:stretch>
            <a:fillRect/>
          </a:stretch>
        </p:blipFill>
        <p:spPr>
          <a:xfrm>
            <a:off x="2706689" y="5342107"/>
            <a:ext cx="3730621" cy="864155"/>
          </a:xfrm>
          <a:prstGeom prst="rect">
            <a:avLst/>
          </a:prstGeom>
        </p:spPr>
      </p:pic>
      <p:sp>
        <p:nvSpPr>
          <p:cNvPr id="8" name="CasellaDiTesto 7">
            <a:extLst>
              <a:ext uri="{FF2B5EF4-FFF2-40B4-BE49-F238E27FC236}">
                <a16:creationId xmlns:a16="http://schemas.microsoft.com/office/drawing/2014/main" id="{8B78CD7A-F177-1E1F-18FD-22B9587615C0}"/>
              </a:ext>
            </a:extLst>
          </p:cNvPr>
          <p:cNvSpPr txBox="1"/>
          <p:nvPr/>
        </p:nvSpPr>
        <p:spPr>
          <a:xfrm>
            <a:off x="287866" y="4972775"/>
            <a:ext cx="8240889" cy="369332"/>
          </a:xfrm>
          <a:prstGeom prst="rect">
            <a:avLst/>
          </a:prstGeom>
          <a:noFill/>
        </p:spPr>
        <p:txBody>
          <a:bodyPr wrap="square" rtlCol="0">
            <a:spAutoFit/>
          </a:bodyPr>
          <a:lstStyle/>
          <a:p>
            <a:r>
              <a:rPr lang="en-US" b="1"/>
              <a:t>							Counters </a:t>
            </a:r>
            <a:r>
              <a:rPr lang="en-US"/>
              <a:t>transactions</a:t>
            </a:r>
            <a:endParaRPr lang="it-IT"/>
          </a:p>
        </p:txBody>
      </p:sp>
      <p:pic>
        <p:nvPicPr>
          <p:cNvPr id="10" name="Immagine 9" descr="Immagine che contiene testo, schermata&#10;&#10;Il contenuto generato dall'IA potrebbe non essere corretto.">
            <a:extLst>
              <a:ext uri="{FF2B5EF4-FFF2-40B4-BE49-F238E27FC236}">
                <a16:creationId xmlns:a16="http://schemas.microsoft.com/office/drawing/2014/main" id="{9064FEEE-2690-EAB2-5E6F-67594D6DAA99}"/>
              </a:ext>
            </a:extLst>
          </p:cNvPr>
          <p:cNvPicPr>
            <a:picLocks noChangeAspect="1"/>
          </p:cNvPicPr>
          <p:nvPr/>
        </p:nvPicPr>
        <p:blipFill>
          <a:blip r:embed="rId3"/>
          <a:stretch>
            <a:fillRect/>
          </a:stretch>
        </p:blipFill>
        <p:spPr>
          <a:xfrm>
            <a:off x="685215" y="1103987"/>
            <a:ext cx="7446189" cy="3841080"/>
          </a:xfrm>
          <a:prstGeom prst="rect">
            <a:avLst/>
          </a:prstGeom>
        </p:spPr>
      </p:pic>
    </p:spTree>
    <p:extLst>
      <p:ext uri="{BB962C8B-B14F-4D97-AF65-F5344CB8AC3E}">
        <p14:creationId xmlns:p14="http://schemas.microsoft.com/office/powerpoint/2010/main" val="32162723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142DB-4345-6E39-3B47-CBF346F4EFA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08FF606-0F96-64C2-62EC-7D6E4CBB04FC}"/>
              </a:ext>
            </a:extLst>
          </p:cNvPr>
          <p:cNvSpPr>
            <a:spLocks noGrp="1"/>
          </p:cNvSpPr>
          <p:nvPr>
            <p:ph type="title"/>
          </p:nvPr>
        </p:nvSpPr>
        <p:spPr>
          <a:xfrm>
            <a:off x="191101" y="2857500"/>
            <a:ext cx="8761797" cy="1143000"/>
          </a:xfrm>
        </p:spPr>
        <p:txBody>
          <a:bodyPr>
            <a:normAutofit/>
          </a:bodyPr>
          <a:lstStyle/>
          <a:p>
            <a:r>
              <a:rPr lang="en-GB"/>
              <a:t>MongoDB aggregations</a:t>
            </a:r>
            <a:endParaRPr lang="en-US" dirty="0"/>
          </a:p>
        </p:txBody>
      </p:sp>
    </p:spTree>
    <p:extLst>
      <p:ext uri="{BB962C8B-B14F-4D97-AF65-F5344CB8AC3E}">
        <p14:creationId xmlns:p14="http://schemas.microsoft.com/office/powerpoint/2010/main" val="39280792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1162D-27FF-3406-4D1A-A108DA8DB28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CD3B2C8-054B-9F21-0DEE-10E580DC2A35}"/>
              </a:ext>
            </a:extLst>
          </p:cNvPr>
          <p:cNvSpPr>
            <a:spLocks noGrp="1"/>
          </p:cNvSpPr>
          <p:nvPr>
            <p:ph type="title"/>
          </p:nvPr>
        </p:nvSpPr>
        <p:spPr>
          <a:xfrm>
            <a:off x="1" y="90093"/>
            <a:ext cx="9144000" cy="1143000"/>
          </a:xfrm>
        </p:spPr>
        <p:txBody>
          <a:bodyPr>
            <a:normAutofit fontScale="90000"/>
          </a:bodyPr>
          <a:lstStyle/>
          <a:p>
            <a:r>
              <a:rPr lang="en-US"/>
              <a:t>Market Performance Analysis </a:t>
            </a:r>
            <a:br>
              <a:rPr lang="en-US"/>
            </a:br>
            <a:r>
              <a:rPr lang="en-US"/>
              <a:t>(Best/Worst Assets)</a:t>
            </a:r>
            <a:endParaRPr lang="en-US" dirty="0"/>
          </a:p>
        </p:txBody>
      </p:sp>
      <p:sp>
        <p:nvSpPr>
          <p:cNvPr id="3" name="CasellaDiTesto 2">
            <a:extLst>
              <a:ext uri="{FF2B5EF4-FFF2-40B4-BE49-F238E27FC236}">
                <a16:creationId xmlns:a16="http://schemas.microsoft.com/office/drawing/2014/main" id="{A4BE9838-B49F-5CE2-4080-859B0C52454B}"/>
              </a:ext>
            </a:extLst>
          </p:cNvPr>
          <p:cNvSpPr txBox="1"/>
          <p:nvPr/>
        </p:nvSpPr>
        <p:spPr>
          <a:xfrm>
            <a:off x="0" y="1395431"/>
            <a:ext cx="9144000" cy="4801314"/>
          </a:xfrm>
          <a:prstGeom prst="rect">
            <a:avLst/>
          </a:prstGeom>
          <a:noFill/>
        </p:spPr>
        <p:txBody>
          <a:bodyPr wrap="square" rtlCol="0">
            <a:spAutoFit/>
          </a:bodyPr>
          <a:lstStyle/>
          <a:p>
            <a:r>
              <a:rPr lang="en-US" b="1"/>
              <a:t>Natural Language</a:t>
            </a:r>
            <a:r>
              <a:rPr lang="en-US"/>
              <a:t>: This aggregation identifies the top 10 "Best Performers" or "Worst Decliners" within a dynamic time window (day, week, month,year). </a:t>
            </a:r>
          </a:p>
          <a:p>
            <a:r>
              <a:rPr lang="en-US"/>
              <a:t>It calculates the growth percentage by comparing the opening price of the first day in the window with the closing price of the last day.</a:t>
            </a:r>
          </a:p>
          <a:p>
            <a:endParaRPr lang="en-US"/>
          </a:p>
          <a:p>
            <a:r>
              <a:rPr lang="en-US" b="1"/>
              <a:t>Query Structure</a:t>
            </a:r>
            <a:r>
              <a:rPr lang="en-US"/>
              <a:t>: The pipeline uses $match for temporal filtering and a chronological $sort. The core logic resides in a $group stage using the $first and $last accumulators to isolate boundary prices, followed by an arithmetic $project to compute the percentage change.</a:t>
            </a:r>
          </a:p>
          <a:p>
            <a:endParaRPr lang="en-US"/>
          </a:p>
          <a:p>
            <a:r>
              <a:rPr lang="en-US" b="1"/>
              <a:t>Data Model Support</a:t>
            </a:r>
            <a:r>
              <a:rPr lang="en-US"/>
              <a:t>: This query is perfectly supported by our Reference/Linking model for asset_prices. By isolating time-series data from the main asset metadata, we can perform high-speed sorting and grouping on millions of price points without the overhead of large, embedded documents.</a:t>
            </a:r>
          </a:p>
          <a:p>
            <a:endParaRPr lang="en-US"/>
          </a:p>
          <a:p>
            <a:r>
              <a:rPr lang="en-US" b="1"/>
              <a:t>Use Case &amp; Actor</a:t>
            </a:r>
            <a:r>
              <a:rPr lang="en-US"/>
              <a:t>: </a:t>
            </a:r>
            <a:r>
              <a:rPr lang="en-US" b="1"/>
              <a:t>Registered User / Admin</a:t>
            </a:r>
            <a:r>
              <a:rPr lang="en-US"/>
              <a:t>. It fulfills the requirement to "Browse through assets" by providing actionable insights. It helps the user identify market trends and volatility before deciding to "Buy or sell an asset.“ Also admin can perform this action to analytics.</a:t>
            </a:r>
            <a:endParaRPr lang="it-IT"/>
          </a:p>
        </p:txBody>
      </p:sp>
    </p:spTree>
    <p:extLst>
      <p:ext uri="{BB962C8B-B14F-4D97-AF65-F5344CB8AC3E}">
        <p14:creationId xmlns:p14="http://schemas.microsoft.com/office/powerpoint/2010/main" val="6842376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3C5E5-401D-6D82-72CD-A5A6F41DAB0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9DB765A-539C-434C-1461-A8354162F11A}"/>
              </a:ext>
            </a:extLst>
          </p:cNvPr>
          <p:cNvSpPr>
            <a:spLocks noGrp="1"/>
          </p:cNvSpPr>
          <p:nvPr>
            <p:ph type="title"/>
          </p:nvPr>
        </p:nvSpPr>
        <p:spPr>
          <a:xfrm>
            <a:off x="1" y="-237285"/>
            <a:ext cx="9144000" cy="1143000"/>
          </a:xfrm>
        </p:spPr>
        <p:txBody>
          <a:bodyPr>
            <a:normAutofit/>
          </a:bodyPr>
          <a:lstStyle/>
          <a:p>
            <a:r>
              <a:rPr lang="en-US"/>
              <a:t>(Best/Worst Assets) code</a:t>
            </a:r>
            <a:endParaRPr lang="en-US" dirty="0"/>
          </a:p>
        </p:txBody>
      </p:sp>
      <p:pic>
        <p:nvPicPr>
          <p:cNvPr id="5" name="Immagine 4" descr="Immagine che contiene testo, schermata&#10;&#10;Il contenuto generato dall'IA potrebbe non essere corretto.">
            <a:extLst>
              <a:ext uri="{FF2B5EF4-FFF2-40B4-BE49-F238E27FC236}">
                <a16:creationId xmlns:a16="http://schemas.microsoft.com/office/drawing/2014/main" id="{8895B709-3B3A-8C86-DF2E-9C5CA4D5E0D8}"/>
              </a:ext>
            </a:extLst>
          </p:cNvPr>
          <p:cNvPicPr>
            <a:picLocks noChangeAspect="1"/>
          </p:cNvPicPr>
          <p:nvPr/>
        </p:nvPicPr>
        <p:blipFill>
          <a:blip r:embed="rId2"/>
          <a:stretch>
            <a:fillRect/>
          </a:stretch>
        </p:blipFill>
        <p:spPr>
          <a:xfrm>
            <a:off x="1311994" y="596220"/>
            <a:ext cx="6520012" cy="5665559"/>
          </a:xfrm>
          <a:prstGeom prst="rect">
            <a:avLst/>
          </a:prstGeom>
        </p:spPr>
      </p:pic>
    </p:spTree>
    <p:extLst>
      <p:ext uri="{BB962C8B-B14F-4D97-AF65-F5344CB8AC3E}">
        <p14:creationId xmlns:p14="http://schemas.microsoft.com/office/powerpoint/2010/main" val="12112281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DB2E4-2456-3F2E-1B0D-163DEAD3867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07729F6-FB85-DD5F-E826-AFF0889C3257}"/>
              </a:ext>
            </a:extLst>
          </p:cNvPr>
          <p:cNvSpPr>
            <a:spLocks noGrp="1"/>
          </p:cNvSpPr>
          <p:nvPr>
            <p:ph type="title"/>
          </p:nvPr>
        </p:nvSpPr>
        <p:spPr>
          <a:xfrm>
            <a:off x="1" y="90093"/>
            <a:ext cx="9144000" cy="1143000"/>
          </a:xfrm>
        </p:spPr>
        <p:txBody>
          <a:bodyPr>
            <a:normAutofit fontScale="90000"/>
          </a:bodyPr>
          <a:lstStyle/>
          <a:p>
            <a:r>
              <a:rPr lang="en-US"/>
              <a:t>User Net Financial Flow (Buy/Sell Balance)</a:t>
            </a:r>
            <a:endParaRPr lang="en-US" dirty="0"/>
          </a:p>
        </p:txBody>
      </p:sp>
      <p:sp>
        <p:nvSpPr>
          <p:cNvPr id="3" name="CasellaDiTesto 2">
            <a:extLst>
              <a:ext uri="{FF2B5EF4-FFF2-40B4-BE49-F238E27FC236}">
                <a16:creationId xmlns:a16="http://schemas.microsoft.com/office/drawing/2014/main" id="{7262C307-2EAF-9894-118E-4B297999FC08}"/>
              </a:ext>
            </a:extLst>
          </p:cNvPr>
          <p:cNvSpPr txBox="1"/>
          <p:nvPr/>
        </p:nvSpPr>
        <p:spPr>
          <a:xfrm>
            <a:off x="0" y="1395431"/>
            <a:ext cx="9144000" cy="4801314"/>
          </a:xfrm>
          <a:prstGeom prst="rect">
            <a:avLst/>
          </a:prstGeom>
          <a:noFill/>
        </p:spPr>
        <p:txBody>
          <a:bodyPr wrap="square" rtlCol="0">
            <a:spAutoFit/>
          </a:bodyPr>
          <a:lstStyle/>
          <a:p>
            <a:r>
              <a:rPr lang="en-US" b="1"/>
              <a:t>Natural Language</a:t>
            </a:r>
            <a:r>
              <a:rPr lang="en-US"/>
              <a:t>: This analytics tool ranks users based on their net financial impact on the platform. It calculates the difference between total sales (positive flow) and total purchases (negative flow), identifying who is liquidating positions and who is investing the most capital.</a:t>
            </a:r>
          </a:p>
          <a:p>
            <a:endParaRPr lang="en-US"/>
          </a:p>
          <a:p>
            <a:r>
              <a:rPr lang="en-US" b="1"/>
              <a:t>Query Structure</a:t>
            </a:r>
            <a:r>
              <a:rPr lang="en-US"/>
              <a:t>: The pipeline implements a conditional projection ($cond) to categorize totalPrice into buyAmount or sellAmount. It then uses a $group stage to sum these values per user_id and calculates the final netFlow via an arithmetic expression.</a:t>
            </a:r>
          </a:p>
          <a:p>
            <a:endParaRPr lang="en-US"/>
          </a:p>
          <a:p>
            <a:r>
              <a:rPr lang="en-US" b="1"/>
              <a:t>Data Model Support</a:t>
            </a:r>
            <a:r>
              <a:rPr lang="en-US"/>
              <a:t>: This is the best example of our efficiency with index (user id: 1, date: -1 ) and since all transaction documents for a specific user_id are co-located on the Sharding Strategy same shard, the $group operation is performed locally. This avoids expensive data shuffling across the cluster and ensures high performance even with a massive transaction history.</a:t>
            </a:r>
          </a:p>
          <a:p>
            <a:endParaRPr lang="en-US"/>
          </a:p>
          <a:p>
            <a:r>
              <a:rPr lang="en-US" b="1"/>
              <a:t>Use Case &amp; Actor</a:t>
            </a:r>
            <a:r>
              <a:rPr lang="en-US"/>
              <a:t>: </a:t>
            </a:r>
            <a:r>
              <a:rPr lang="en-US" b="1"/>
              <a:t>Admin</a:t>
            </a:r>
            <a:r>
              <a:rPr lang="en-US"/>
              <a:t>. It directly addresses the "Calculate statistics" requirement. It allows the Admin to monitor platform liquidity and identify high-volume traders for "Suspicious behavior" monitoring or "Platform health" reports.</a:t>
            </a:r>
            <a:endParaRPr lang="it-IT"/>
          </a:p>
        </p:txBody>
      </p:sp>
    </p:spTree>
    <p:extLst>
      <p:ext uri="{BB962C8B-B14F-4D97-AF65-F5344CB8AC3E}">
        <p14:creationId xmlns:p14="http://schemas.microsoft.com/office/powerpoint/2010/main" val="34272413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413FE-03B9-34AD-87B5-789CD767AB9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62C33BA-2A2D-0491-A46E-14EB985F112C}"/>
              </a:ext>
            </a:extLst>
          </p:cNvPr>
          <p:cNvSpPr>
            <a:spLocks noGrp="1"/>
          </p:cNvSpPr>
          <p:nvPr>
            <p:ph type="title"/>
          </p:nvPr>
        </p:nvSpPr>
        <p:spPr>
          <a:xfrm>
            <a:off x="1" y="90093"/>
            <a:ext cx="9144000" cy="1143000"/>
          </a:xfrm>
        </p:spPr>
        <p:txBody>
          <a:bodyPr>
            <a:normAutofit/>
          </a:bodyPr>
          <a:lstStyle/>
          <a:p>
            <a:r>
              <a:rPr lang="en-US"/>
              <a:t>User Net Financial Flow code</a:t>
            </a:r>
            <a:endParaRPr lang="en-US" dirty="0"/>
          </a:p>
        </p:txBody>
      </p:sp>
      <p:pic>
        <p:nvPicPr>
          <p:cNvPr id="5" name="Immagine 4" descr="Immagine che contiene testo, schermata&#10;&#10;Il contenuto generato dall'IA potrebbe non essere corretto.">
            <a:extLst>
              <a:ext uri="{FF2B5EF4-FFF2-40B4-BE49-F238E27FC236}">
                <a16:creationId xmlns:a16="http://schemas.microsoft.com/office/drawing/2014/main" id="{1A6CD613-481C-E847-4B48-6937026B3DA0}"/>
              </a:ext>
            </a:extLst>
          </p:cNvPr>
          <p:cNvPicPr>
            <a:picLocks noChangeAspect="1"/>
          </p:cNvPicPr>
          <p:nvPr/>
        </p:nvPicPr>
        <p:blipFill>
          <a:blip r:embed="rId2"/>
          <a:stretch>
            <a:fillRect/>
          </a:stretch>
        </p:blipFill>
        <p:spPr>
          <a:xfrm>
            <a:off x="1278467" y="918565"/>
            <a:ext cx="6587065" cy="5580338"/>
          </a:xfrm>
          <a:prstGeom prst="rect">
            <a:avLst/>
          </a:prstGeom>
        </p:spPr>
      </p:pic>
    </p:spTree>
    <p:extLst>
      <p:ext uri="{BB962C8B-B14F-4D97-AF65-F5344CB8AC3E}">
        <p14:creationId xmlns:p14="http://schemas.microsoft.com/office/powerpoint/2010/main" val="26260334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71C57-C4C7-8502-90A8-37E2194A164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3F1BF4A-B25A-E919-A279-209780F7BDC5}"/>
              </a:ext>
            </a:extLst>
          </p:cNvPr>
          <p:cNvSpPr>
            <a:spLocks noGrp="1"/>
          </p:cNvSpPr>
          <p:nvPr>
            <p:ph type="title"/>
          </p:nvPr>
        </p:nvSpPr>
        <p:spPr>
          <a:xfrm>
            <a:off x="1" y="90093"/>
            <a:ext cx="9144000" cy="1143000"/>
          </a:xfrm>
        </p:spPr>
        <p:txBody>
          <a:bodyPr>
            <a:normAutofit fontScale="90000"/>
          </a:bodyPr>
          <a:lstStyle/>
          <a:p>
            <a:r>
              <a:rPr lang="en-US"/>
              <a:t>Media Impact &amp; Brand Mentions (News)</a:t>
            </a:r>
            <a:endParaRPr lang="en-US" dirty="0"/>
          </a:p>
        </p:txBody>
      </p:sp>
      <p:sp>
        <p:nvSpPr>
          <p:cNvPr id="3" name="CasellaDiTesto 2">
            <a:extLst>
              <a:ext uri="{FF2B5EF4-FFF2-40B4-BE49-F238E27FC236}">
                <a16:creationId xmlns:a16="http://schemas.microsoft.com/office/drawing/2014/main" id="{F4ECC8A2-B357-4D2D-23E3-D50B6EB05D9A}"/>
              </a:ext>
            </a:extLst>
          </p:cNvPr>
          <p:cNvSpPr txBox="1"/>
          <p:nvPr/>
        </p:nvSpPr>
        <p:spPr>
          <a:xfrm>
            <a:off x="0" y="1395431"/>
            <a:ext cx="9144000" cy="4524315"/>
          </a:xfrm>
          <a:prstGeom prst="rect">
            <a:avLst/>
          </a:prstGeom>
          <a:noFill/>
        </p:spPr>
        <p:txBody>
          <a:bodyPr wrap="square" rtlCol="0">
            <a:spAutoFit/>
          </a:bodyPr>
          <a:lstStyle/>
          <a:p>
            <a:r>
              <a:rPr lang="en-US" b="1"/>
              <a:t>Natural Language</a:t>
            </a:r>
            <a:r>
              <a:rPr lang="en-US"/>
              <a:t>: This query identifies the top 5 companies that have been most frequently mentioned in financial news within a specific timeframe. It provides a metric to understand which assets are attracting the most media attention.</a:t>
            </a:r>
          </a:p>
          <a:p>
            <a:endParaRPr lang="en-US"/>
          </a:p>
          <a:p>
            <a:r>
              <a:rPr lang="en-US" b="1"/>
              <a:t>Query Structure</a:t>
            </a:r>
            <a:r>
              <a:rPr lang="en-US"/>
              <a:t>: The pipeline filters news by date, groups the data by the company field to calculate a $count, and then renames fields during the final $project stage to map the results directly to a Data Transfer Object (DTO).</a:t>
            </a:r>
          </a:p>
          <a:p>
            <a:endParaRPr lang="en-US"/>
          </a:p>
          <a:p>
            <a:r>
              <a:rPr lang="en-US" b="1"/>
              <a:t>Data Model Support</a:t>
            </a:r>
            <a:r>
              <a:rPr lang="en-US"/>
              <a:t>: The pipeline filters news by date, groups the data by the company field to calculate a $count, and then renames fields during the final $project stage to map the results directly to a Data Transfer Object (DTO).</a:t>
            </a:r>
          </a:p>
          <a:p>
            <a:endParaRPr lang="en-US"/>
          </a:p>
          <a:p>
            <a:r>
              <a:rPr lang="en-US" b="1"/>
              <a:t>Use Case &amp; Actor</a:t>
            </a:r>
            <a:r>
              <a:rPr lang="en-US"/>
              <a:t>: </a:t>
            </a:r>
            <a:r>
              <a:rPr lang="en-US" b="1"/>
              <a:t>Admin / Registered User.</a:t>
            </a:r>
            <a:r>
              <a:rPr lang="en-US"/>
              <a:t> For the Admin, it falls under "Manage platform data" (identifying trending topics). For the Registered User, it supports the requirement to "Browse through the news," helping them understand which assets are currently "Hot" in the media before visualizing the "Full text."</a:t>
            </a:r>
            <a:endParaRPr lang="it-IT"/>
          </a:p>
        </p:txBody>
      </p:sp>
    </p:spTree>
    <p:extLst>
      <p:ext uri="{BB962C8B-B14F-4D97-AF65-F5344CB8AC3E}">
        <p14:creationId xmlns:p14="http://schemas.microsoft.com/office/powerpoint/2010/main" val="26957468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5C4E9-186E-522B-8ADE-5FF46760652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FCB6E1A-E960-C076-4336-B92C29BC3F12}"/>
              </a:ext>
            </a:extLst>
          </p:cNvPr>
          <p:cNvSpPr>
            <a:spLocks noGrp="1"/>
          </p:cNvSpPr>
          <p:nvPr>
            <p:ph type="title"/>
          </p:nvPr>
        </p:nvSpPr>
        <p:spPr>
          <a:xfrm>
            <a:off x="1" y="-271151"/>
            <a:ext cx="9144000" cy="1143000"/>
          </a:xfrm>
        </p:spPr>
        <p:txBody>
          <a:bodyPr>
            <a:normAutofit/>
          </a:bodyPr>
          <a:lstStyle/>
          <a:p>
            <a:r>
              <a:rPr lang="en-US"/>
              <a:t>Media Impact &amp; Brand Mentions code</a:t>
            </a:r>
            <a:endParaRPr lang="en-US" dirty="0"/>
          </a:p>
        </p:txBody>
      </p:sp>
      <p:pic>
        <p:nvPicPr>
          <p:cNvPr id="5" name="Immagine 4" descr="Immagine che contiene testo, schermata&#10;&#10;Il contenuto generato dall'IA potrebbe non essere corretto.">
            <a:extLst>
              <a:ext uri="{FF2B5EF4-FFF2-40B4-BE49-F238E27FC236}">
                <a16:creationId xmlns:a16="http://schemas.microsoft.com/office/drawing/2014/main" id="{260BABA4-7ACF-86BF-85B6-5125497B57C7}"/>
              </a:ext>
            </a:extLst>
          </p:cNvPr>
          <p:cNvPicPr>
            <a:picLocks noChangeAspect="1"/>
          </p:cNvPicPr>
          <p:nvPr/>
        </p:nvPicPr>
        <p:blipFill>
          <a:blip r:embed="rId2"/>
          <a:stretch>
            <a:fillRect/>
          </a:stretch>
        </p:blipFill>
        <p:spPr>
          <a:xfrm>
            <a:off x="512559" y="712608"/>
            <a:ext cx="8118881" cy="5432783"/>
          </a:xfrm>
          <a:prstGeom prst="rect">
            <a:avLst/>
          </a:prstGeom>
        </p:spPr>
      </p:pic>
    </p:spTree>
    <p:extLst>
      <p:ext uri="{BB962C8B-B14F-4D97-AF65-F5344CB8AC3E}">
        <p14:creationId xmlns:p14="http://schemas.microsoft.com/office/powerpoint/2010/main" val="26695333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93EB9-19A1-545F-95D6-E23218D4CAA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324D2D5-01CA-62EE-AA77-2C784F25DEFB}"/>
              </a:ext>
            </a:extLst>
          </p:cNvPr>
          <p:cNvSpPr>
            <a:spLocks noGrp="1"/>
          </p:cNvSpPr>
          <p:nvPr>
            <p:ph type="title"/>
          </p:nvPr>
        </p:nvSpPr>
        <p:spPr>
          <a:xfrm>
            <a:off x="1" y="2857500"/>
            <a:ext cx="9144000" cy="1143000"/>
          </a:xfrm>
        </p:spPr>
        <p:txBody>
          <a:bodyPr>
            <a:normAutofit fontScale="90000"/>
          </a:bodyPr>
          <a:lstStyle/>
          <a:p>
            <a:r>
              <a:rPr lang="en-GB"/>
              <a:t>MongoDB indexes + performance evidence</a:t>
            </a:r>
            <a:endParaRPr lang="en-US" dirty="0"/>
          </a:p>
        </p:txBody>
      </p:sp>
    </p:spTree>
    <p:extLst>
      <p:ext uri="{BB962C8B-B14F-4D97-AF65-F5344CB8AC3E}">
        <p14:creationId xmlns:p14="http://schemas.microsoft.com/office/powerpoint/2010/main" val="26562668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96E6D-B4A0-A76D-CEC9-F1737B4EC78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270F50E-28A4-AAD6-1CFD-0C8E22DD7C99}"/>
              </a:ext>
            </a:extLst>
          </p:cNvPr>
          <p:cNvSpPr>
            <a:spLocks noGrp="1"/>
          </p:cNvSpPr>
          <p:nvPr>
            <p:ph type="title"/>
          </p:nvPr>
        </p:nvSpPr>
        <p:spPr>
          <a:xfrm>
            <a:off x="-2" y="-225996"/>
            <a:ext cx="9144000" cy="1143000"/>
          </a:xfrm>
        </p:spPr>
        <p:txBody>
          <a:bodyPr>
            <a:normAutofit/>
          </a:bodyPr>
          <a:lstStyle/>
          <a:p>
            <a:r>
              <a:rPr lang="en-GB" sz="3600"/>
              <a:t>Indexes for Users collection</a:t>
            </a:r>
            <a:endParaRPr lang="en-US" sz="3600" dirty="0"/>
          </a:p>
        </p:txBody>
      </p:sp>
      <p:sp>
        <p:nvSpPr>
          <p:cNvPr id="3" name="CasellaDiTesto 2">
            <a:extLst>
              <a:ext uri="{FF2B5EF4-FFF2-40B4-BE49-F238E27FC236}">
                <a16:creationId xmlns:a16="http://schemas.microsoft.com/office/drawing/2014/main" id="{26469F6A-2F50-7DE6-B1E0-CBB33A5E0235}"/>
              </a:ext>
            </a:extLst>
          </p:cNvPr>
          <p:cNvSpPr txBox="1"/>
          <p:nvPr/>
        </p:nvSpPr>
        <p:spPr>
          <a:xfrm>
            <a:off x="0" y="469112"/>
            <a:ext cx="9144001" cy="2862322"/>
          </a:xfrm>
          <a:prstGeom prst="rect">
            <a:avLst/>
          </a:prstGeom>
          <a:noFill/>
        </p:spPr>
        <p:txBody>
          <a:bodyPr wrap="square" rtlCol="0">
            <a:spAutoFit/>
          </a:bodyPr>
          <a:lstStyle/>
          <a:p>
            <a:pPr lvl="0"/>
            <a:r>
              <a:rPr lang="it-IT" b="1"/>
              <a:t>Indexes</a:t>
            </a:r>
            <a:r>
              <a:rPr lang="it-IT"/>
              <a:t>: </a:t>
            </a:r>
            <a:r>
              <a:rPr lang="it-IT" b="1"/>
              <a:t>( email: 1 , unique: true ) , ( userId: 1 , unique: true )</a:t>
            </a:r>
          </a:p>
          <a:p>
            <a:pPr lvl="0"/>
            <a:endParaRPr lang="it-IT"/>
          </a:p>
          <a:p>
            <a:pPr lvl="0"/>
            <a:r>
              <a:rPr lang="it-IT" b="1"/>
              <a:t>Motivation</a:t>
            </a:r>
            <a:r>
              <a:rPr lang="it-IT"/>
              <a:t>: optimize login, register and retrieval users purpose. </a:t>
            </a:r>
            <a:r>
              <a:rPr lang="en-US"/>
              <a:t>The uniqueness</a:t>
            </a:r>
          </a:p>
          <a:p>
            <a:pPr lvl="0"/>
            <a:r>
              <a:rPr lang="en-US"/>
              <a:t>constraint delegates duplicate-check logic to the database, simplifying the application layer.</a:t>
            </a:r>
            <a:endParaRPr lang="it-IT"/>
          </a:p>
          <a:p>
            <a:pPr lvl="0"/>
            <a:endParaRPr lang="it-IT"/>
          </a:p>
          <a:p>
            <a:pPr lvl="0"/>
            <a:r>
              <a:rPr lang="it-IT" b="1"/>
              <a:t>Query for testing</a:t>
            </a:r>
            <a:r>
              <a:rPr lang="it-IT"/>
              <a:t>: </a:t>
            </a:r>
            <a:r>
              <a:rPr lang="en-US"/>
              <a:t>retrieve a user by email</a:t>
            </a:r>
          </a:p>
          <a:p>
            <a:pPr lvl="0"/>
            <a:endParaRPr lang="it-IT"/>
          </a:p>
          <a:p>
            <a:pPr lvl="0"/>
            <a:r>
              <a:rPr lang="it-IT" b="1"/>
              <a:t>Results</a:t>
            </a:r>
            <a:r>
              <a:rPr lang="it-IT"/>
              <a:t>:  </a:t>
            </a:r>
          </a:p>
          <a:p>
            <a:pPr marL="285750" lvl="0" indent="-285750">
              <a:buFont typeface="Arial" panose="020B0604020202020204" pitchFamily="34" charset="0"/>
              <a:buChar char="•"/>
            </a:pPr>
            <a:r>
              <a:rPr lang="en-US" b="1"/>
              <a:t>Documents Examined:</a:t>
            </a:r>
            <a:r>
              <a:rPr lang="en-US"/>
              <a:t> Reduced from 2,960 to 0</a:t>
            </a:r>
          </a:p>
          <a:p>
            <a:pPr marL="285750" lvl="0" indent="-285750">
              <a:buFont typeface="Arial" panose="020B0604020202020204" pitchFamily="34" charset="0"/>
              <a:buChar char="•"/>
            </a:pPr>
            <a:r>
              <a:rPr lang="en-US" b="1"/>
              <a:t>Execution time:</a:t>
            </a:r>
            <a:r>
              <a:rPr lang="en-US"/>
              <a:t> </a:t>
            </a:r>
            <a:r>
              <a:rPr lang="en-US" b="1"/>
              <a:t>62.6% improvement </a:t>
            </a:r>
            <a:r>
              <a:rPr lang="en-US"/>
              <a:t>in speed.</a:t>
            </a:r>
            <a:endParaRPr lang="it-IT"/>
          </a:p>
        </p:txBody>
      </p:sp>
      <p:pic>
        <p:nvPicPr>
          <p:cNvPr id="5" name="Immagine 4" descr="Immagine che contiene testo, schermata, Carattere, documento&#10;&#10;Il contenuto generato dall'IA potrebbe non essere corretto.">
            <a:extLst>
              <a:ext uri="{FF2B5EF4-FFF2-40B4-BE49-F238E27FC236}">
                <a16:creationId xmlns:a16="http://schemas.microsoft.com/office/drawing/2014/main" id="{C5E76C57-E6B4-2A06-99A1-5EC70E1E983A}"/>
              </a:ext>
            </a:extLst>
          </p:cNvPr>
          <p:cNvPicPr>
            <a:picLocks noChangeAspect="1"/>
          </p:cNvPicPr>
          <p:nvPr/>
        </p:nvPicPr>
        <p:blipFill>
          <a:blip r:embed="rId2"/>
          <a:stretch>
            <a:fillRect/>
          </a:stretch>
        </p:blipFill>
        <p:spPr>
          <a:xfrm>
            <a:off x="1413109" y="3311469"/>
            <a:ext cx="6317777" cy="2933254"/>
          </a:xfrm>
          <a:prstGeom prst="rect">
            <a:avLst/>
          </a:prstGeom>
        </p:spPr>
      </p:pic>
    </p:spTree>
    <p:extLst>
      <p:ext uri="{BB962C8B-B14F-4D97-AF65-F5344CB8AC3E}">
        <p14:creationId xmlns:p14="http://schemas.microsoft.com/office/powerpoint/2010/main" val="27629650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CC621-6E3E-6E20-0CF1-46C2263CF2B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F41D45D-4880-DC8B-C6F8-29F017C31899}"/>
              </a:ext>
            </a:extLst>
          </p:cNvPr>
          <p:cNvSpPr>
            <a:spLocks noGrp="1"/>
          </p:cNvSpPr>
          <p:nvPr>
            <p:ph type="title"/>
          </p:nvPr>
        </p:nvSpPr>
        <p:spPr>
          <a:xfrm>
            <a:off x="-2" y="-225996"/>
            <a:ext cx="9144000" cy="1143000"/>
          </a:xfrm>
        </p:spPr>
        <p:txBody>
          <a:bodyPr>
            <a:normAutofit/>
          </a:bodyPr>
          <a:lstStyle/>
          <a:p>
            <a:r>
              <a:rPr lang="en-GB" sz="3600"/>
              <a:t>Indexes for Asset Prices collection</a:t>
            </a:r>
            <a:endParaRPr lang="en-US" sz="3600" dirty="0"/>
          </a:p>
        </p:txBody>
      </p:sp>
      <p:sp>
        <p:nvSpPr>
          <p:cNvPr id="3" name="CasellaDiTesto 2">
            <a:extLst>
              <a:ext uri="{FF2B5EF4-FFF2-40B4-BE49-F238E27FC236}">
                <a16:creationId xmlns:a16="http://schemas.microsoft.com/office/drawing/2014/main" id="{955FA103-3072-BDC1-5185-6CE61926931B}"/>
              </a:ext>
            </a:extLst>
          </p:cNvPr>
          <p:cNvSpPr txBox="1"/>
          <p:nvPr/>
        </p:nvSpPr>
        <p:spPr>
          <a:xfrm>
            <a:off x="0" y="543878"/>
            <a:ext cx="9144001" cy="3139321"/>
          </a:xfrm>
          <a:prstGeom prst="rect">
            <a:avLst/>
          </a:prstGeom>
          <a:noFill/>
        </p:spPr>
        <p:txBody>
          <a:bodyPr wrap="square" rtlCol="0">
            <a:spAutoFit/>
          </a:bodyPr>
          <a:lstStyle/>
          <a:p>
            <a:pPr lvl="0"/>
            <a:r>
              <a:rPr lang="it-IT" b="1"/>
              <a:t>Indexes</a:t>
            </a:r>
            <a:r>
              <a:rPr lang="it-IT"/>
              <a:t>: { </a:t>
            </a:r>
            <a:r>
              <a:rPr lang="it-IT" b="1"/>
              <a:t>symbol: 1, date: -1</a:t>
            </a:r>
            <a:r>
              <a:rPr lang="it-IT"/>
              <a:t> }</a:t>
            </a:r>
          </a:p>
          <a:p>
            <a:pPr lvl="0"/>
            <a:endParaRPr lang="it-IT"/>
          </a:p>
          <a:p>
            <a:r>
              <a:rPr lang="it-IT" b="1"/>
              <a:t>Motivation</a:t>
            </a:r>
            <a:r>
              <a:rPr lang="it-IT"/>
              <a:t>: </a:t>
            </a:r>
            <a:r>
              <a:rPr lang="en-US"/>
              <a:t>Crucial for rendering market charts and directly supports range queries on time-series data filtered by asset (aggregations, transactions injestion).</a:t>
            </a:r>
          </a:p>
          <a:p>
            <a:pPr lvl="0"/>
            <a:endParaRPr lang="it-IT"/>
          </a:p>
          <a:p>
            <a:pPr lvl="0"/>
            <a:r>
              <a:rPr lang="it-IT" b="1"/>
              <a:t>Query for testing</a:t>
            </a:r>
            <a:r>
              <a:rPr lang="it-IT"/>
              <a:t>: </a:t>
            </a:r>
            <a:r>
              <a:rPr lang="en-US"/>
              <a:t>Retrieve prices for "Apple" between 01/01/2023 and 31/01/2023.</a:t>
            </a:r>
            <a:endParaRPr lang="it-IT"/>
          </a:p>
          <a:p>
            <a:pPr lvl="0"/>
            <a:endParaRPr lang="it-IT"/>
          </a:p>
          <a:p>
            <a:pPr lvl="0"/>
            <a:r>
              <a:rPr lang="it-IT" b="1"/>
              <a:t>Results</a:t>
            </a:r>
            <a:r>
              <a:rPr lang="it-IT"/>
              <a:t>: </a:t>
            </a:r>
          </a:p>
          <a:p>
            <a:pPr marL="285750" lvl="0" indent="-285750">
              <a:buFont typeface="Arial" panose="020B0604020202020204" pitchFamily="34" charset="0"/>
              <a:buChar char="•"/>
            </a:pPr>
            <a:r>
              <a:rPr lang="en-US" b="1"/>
              <a:t>Execution Time:</a:t>
            </a:r>
            <a:r>
              <a:rPr lang="en-US"/>
              <a:t> Dropped from 11.8s to 2ms</a:t>
            </a:r>
            <a:r>
              <a:rPr lang="en-US" b="1"/>
              <a:t> (+99.99% improvement)</a:t>
            </a:r>
            <a:r>
              <a:rPr lang="en-US"/>
              <a:t>.</a:t>
            </a:r>
          </a:p>
          <a:p>
            <a:pPr marL="285750" lvl="0" indent="-285750">
              <a:buFont typeface="Arial" panose="020B0604020202020204" pitchFamily="34" charset="0"/>
              <a:buChar char="•"/>
            </a:pPr>
            <a:r>
              <a:rPr lang="en-US" b="1"/>
              <a:t>Documents Examined:</a:t>
            </a:r>
            <a:r>
              <a:rPr lang="en-US"/>
              <a:t> From 11.5M (COLLSCAN) to exactly 20 (matching the query limit).</a:t>
            </a:r>
          </a:p>
          <a:p>
            <a:pPr marL="285750" lvl="0" indent="-285750">
              <a:buFont typeface="Arial" panose="020B0604020202020204" pitchFamily="34" charset="0"/>
              <a:buChar char="•"/>
            </a:pPr>
            <a:endParaRPr lang="it-IT"/>
          </a:p>
        </p:txBody>
      </p:sp>
      <p:pic>
        <p:nvPicPr>
          <p:cNvPr id="6" name="Immagine 5" descr="Immagine che contiene testo, schermata, Carattere, documento&#10;&#10;Il contenuto generato dall'IA potrebbe non essere corretto.">
            <a:extLst>
              <a:ext uri="{FF2B5EF4-FFF2-40B4-BE49-F238E27FC236}">
                <a16:creationId xmlns:a16="http://schemas.microsoft.com/office/drawing/2014/main" id="{7163550B-0690-69F6-BDD9-034797951ADD}"/>
              </a:ext>
            </a:extLst>
          </p:cNvPr>
          <p:cNvPicPr>
            <a:picLocks noChangeAspect="1"/>
          </p:cNvPicPr>
          <p:nvPr/>
        </p:nvPicPr>
        <p:blipFill>
          <a:blip r:embed="rId2"/>
          <a:stretch>
            <a:fillRect/>
          </a:stretch>
        </p:blipFill>
        <p:spPr>
          <a:xfrm>
            <a:off x="1068406" y="3384667"/>
            <a:ext cx="7007188" cy="3370882"/>
          </a:xfrm>
          <a:prstGeom prst="rect">
            <a:avLst/>
          </a:prstGeom>
        </p:spPr>
      </p:pic>
    </p:spTree>
    <p:extLst>
      <p:ext uri="{BB962C8B-B14F-4D97-AF65-F5344CB8AC3E}">
        <p14:creationId xmlns:p14="http://schemas.microsoft.com/office/powerpoint/2010/main" val="39044044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090CD-1F1E-13C2-F315-B7AB621F4BD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DBE7D0D-71FF-2403-FC45-529BED7E00A8}"/>
              </a:ext>
            </a:extLst>
          </p:cNvPr>
          <p:cNvSpPr>
            <a:spLocks noGrp="1"/>
          </p:cNvSpPr>
          <p:nvPr>
            <p:ph type="title"/>
          </p:nvPr>
        </p:nvSpPr>
        <p:spPr>
          <a:xfrm>
            <a:off x="-2" y="-225996"/>
            <a:ext cx="9144000" cy="1143000"/>
          </a:xfrm>
        </p:spPr>
        <p:txBody>
          <a:bodyPr>
            <a:normAutofit/>
          </a:bodyPr>
          <a:lstStyle/>
          <a:p>
            <a:r>
              <a:rPr lang="en-GB" sz="3600"/>
              <a:t>Indexes for Transactions collection</a:t>
            </a:r>
            <a:endParaRPr lang="en-US" sz="3600" dirty="0"/>
          </a:p>
        </p:txBody>
      </p:sp>
      <p:sp>
        <p:nvSpPr>
          <p:cNvPr id="3" name="CasellaDiTesto 2">
            <a:extLst>
              <a:ext uri="{FF2B5EF4-FFF2-40B4-BE49-F238E27FC236}">
                <a16:creationId xmlns:a16="http://schemas.microsoft.com/office/drawing/2014/main" id="{6A59A5F3-41D9-D8BB-8DE5-A8729D30BCE3}"/>
              </a:ext>
            </a:extLst>
          </p:cNvPr>
          <p:cNvSpPr txBox="1"/>
          <p:nvPr/>
        </p:nvSpPr>
        <p:spPr>
          <a:xfrm>
            <a:off x="-3" y="543878"/>
            <a:ext cx="9144001" cy="5632311"/>
          </a:xfrm>
          <a:prstGeom prst="rect">
            <a:avLst/>
          </a:prstGeom>
          <a:noFill/>
        </p:spPr>
        <p:txBody>
          <a:bodyPr wrap="square" rtlCol="0">
            <a:spAutoFit/>
          </a:bodyPr>
          <a:lstStyle/>
          <a:p>
            <a:pPr lvl="0"/>
            <a:r>
              <a:rPr lang="it-IT" b="1"/>
              <a:t>Indexes</a:t>
            </a:r>
            <a:r>
              <a:rPr lang="it-IT"/>
              <a:t>:</a:t>
            </a:r>
          </a:p>
          <a:p>
            <a:pPr marL="285750" lvl="0" indent="-285750">
              <a:buFont typeface="Arial" panose="020B0604020202020204" pitchFamily="34" charset="0"/>
              <a:buChar char="•"/>
            </a:pPr>
            <a:r>
              <a:rPr lang="it-IT" b="1"/>
              <a:t>{ user_id: 1, date: -1 } </a:t>
            </a:r>
            <a:r>
              <a:rPr lang="it-IT"/>
              <a:t>(User History)</a:t>
            </a:r>
          </a:p>
          <a:p>
            <a:pPr marL="285750" lvl="0" indent="-285750">
              <a:buFont typeface="Arial" panose="020B0604020202020204" pitchFamily="34" charset="0"/>
              <a:buChar char="•"/>
            </a:pPr>
            <a:r>
              <a:rPr lang="it-IT" b="1"/>
              <a:t>{ type: 1, date: -1 } </a:t>
            </a:r>
            <a:r>
              <a:rPr lang="it-IT"/>
              <a:t>(Financial Flow)</a:t>
            </a:r>
          </a:p>
          <a:p>
            <a:pPr marL="285750" lvl="0" indent="-285750">
              <a:buFont typeface="Arial" panose="020B0604020202020204" pitchFamily="34" charset="0"/>
              <a:buChar char="•"/>
            </a:pPr>
            <a:r>
              <a:rPr lang="it-IT" b="1"/>
              <a:t>{ status: 1, date: 1 } </a:t>
            </a:r>
            <a:r>
              <a:rPr lang="it-IT"/>
              <a:t>(Pending Orders)</a:t>
            </a:r>
          </a:p>
          <a:p>
            <a:pPr lvl="0"/>
            <a:endParaRPr lang="it-IT"/>
          </a:p>
          <a:p>
            <a:pPr lvl="0"/>
            <a:r>
              <a:rPr lang="it-IT" b="1"/>
              <a:t>Motivation</a:t>
            </a:r>
            <a:r>
              <a:rPr lang="it-IT"/>
              <a:t>: </a:t>
            </a:r>
          </a:p>
          <a:p>
            <a:pPr marL="285750" lvl="0" indent="-285750">
              <a:buFont typeface="Arial" panose="020B0604020202020204" pitchFamily="34" charset="0"/>
              <a:buChar char="•"/>
            </a:pPr>
            <a:r>
              <a:rPr lang="en-US"/>
              <a:t>Optimized for displaying a user’s order history from most recent to oldest</a:t>
            </a:r>
            <a:endParaRPr lang="it-IT"/>
          </a:p>
          <a:p>
            <a:pPr marL="285750" lvl="0" indent="-285750">
              <a:buFont typeface="Arial" panose="020B0604020202020204" pitchFamily="34" charset="0"/>
              <a:buChar char="•"/>
            </a:pPr>
            <a:r>
              <a:rPr lang="en-US"/>
              <a:t>Supports analytical queries on financial flows (Buy/Sell) filtered by time.</a:t>
            </a:r>
          </a:p>
          <a:p>
            <a:pPr marL="285750" lvl="0" indent="-285750">
              <a:buFont typeface="Arial" panose="020B0604020202020204" pitchFamily="34" charset="0"/>
              <a:buChar char="•"/>
            </a:pPr>
            <a:r>
              <a:rPr lang="en-US"/>
              <a:t>Essential for quickly retrieving orders in a ‘PENDING’ state to be executed upon market opening.</a:t>
            </a:r>
          </a:p>
          <a:p>
            <a:pPr lvl="0"/>
            <a:endParaRPr lang="it-IT"/>
          </a:p>
          <a:p>
            <a:pPr lvl="0"/>
            <a:r>
              <a:rPr lang="it-IT" b="1"/>
              <a:t>Query for testing</a:t>
            </a:r>
            <a:r>
              <a:rPr lang="it-IT"/>
              <a:t>:</a:t>
            </a:r>
          </a:p>
          <a:p>
            <a:pPr marL="285750" indent="-285750">
              <a:buFont typeface="Arial" panose="020B0604020202020204" pitchFamily="34" charset="0"/>
              <a:buChar char="•"/>
            </a:pPr>
            <a:r>
              <a:rPr lang="en-US"/>
              <a:t>Retrieve transactions for a specific user within a time frame </a:t>
            </a:r>
            <a:r>
              <a:rPr lang="it-IT"/>
              <a:t>(User History)</a:t>
            </a:r>
          </a:p>
          <a:p>
            <a:pPr marL="285750" indent="-285750">
              <a:buFont typeface="Arial" panose="020B0604020202020204" pitchFamily="34" charset="0"/>
              <a:buChar char="•"/>
            </a:pPr>
            <a:r>
              <a:rPr lang="en-US"/>
              <a:t>Retrieve transactions of a specific type within a certain time frame </a:t>
            </a:r>
            <a:r>
              <a:rPr lang="it-IT"/>
              <a:t>(Financial Flow)</a:t>
            </a:r>
          </a:p>
          <a:p>
            <a:pPr marL="285750" indent="-285750">
              <a:buFont typeface="Arial" panose="020B0604020202020204" pitchFamily="34" charset="0"/>
              <a:buChar char="•"/>
            </a:pPr>
            <a:r>
              <a:rPr lang="en-US"/>
              <a:t>Retrieve transactions of a specifi c status within a certain time frame </a:t>
            </a:r>
            <a:r>
              <a:rPr lang="it-IT"/>
              <a:t>(Pending Orders)</a:t>
            </a:r>
          </a:p>
          <a:p>
            <a:pPr lvl="0"/>
            <a:endParaRPr lang="it-IT"/>
          </a:p>
          <a:p>
            <a:pPr lvl="0"/>
            <a:r>
              <a:rPr lang="it-IT" b="1"/>
              <a:t>Results</a:t>
            </a:r>
            <a:r>
              <a:rPr lang="it-IT"/>
              <a:t>: </a:t>
            </a:r>
          </a:p>
          <a:p>
            <a:pPr marL="285750" lvl="0" indent="-285750">
              <a:buFont typeface="Arial" panose="020B0604020202020204" pitchFamily="34" charset="0"/>
              <a:buChar char="•"/>
            </a:pPr>
            <a:r>
              <a:rPr lang="en-US"/>
              <a:t>User History: Docs examined reduced from 42,915 to 6, 44,14% improvement in speed. </a:t>
            </a:r>
          </a:p>
          <a:p>
            <a:pPr marL="285750" lvl="0" indent="-285750">
              <a:buFont typeface="Arial" panose="020B0604020202020204" pitchFamily="34" charset="0"/>
              <a:buChar char="•"/>
            </a:pPr>
            <a:r>
              <a:rPr lang="en-US"/>
              <a:t>Financial Flow: Docs examined reduced from 42,915 to 0 , 97.3% query speed improvment.</a:t>
            </a:r>
          </a:p>
          <a:p>
            <a:pPr marL="285750" lvl="0" indent="-285750">
              <a:buFont typeface="Arial" panose="020B0604020202020204" pitchFamily="34" charset="0"/>
              <a:buChar char="•"/>
            </a:pPr>
            <a:r>
              <a:rPr lang="en-US"/>
              <a:t>Pending Orders: Docs examined reduced from 42,915 to 0 , 97.7% query speed improvment</a:t>
            </a:r>
            <a:endParaRPr lang="it-IT"/>
          </a:p>
        </p:txBody>
      </p:sp>
    </p:spTree>
    <p:extLst>
      <p:ext uri="{BB962C8B-B14F-4D97-AF65-F5344CB8AC3E}">
        <p14:creationId xmlns:p14="http://schemas.microsoft.com/office/powerpoint/2010/main" val="3113303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50A4F-7C34-A4FB-3344-C9763F3EDDA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7501E8A-03F2-4FD5-9927-492872BEEF62}"/>
              </a:ext>
            </a:extLst>
          </p:cNvPr>
          <p:cNvSpPr>
            <a:spLocks noGrp="1"/>
          </p:cNvSpPr>
          <p:nvPr>
            <p:ph type="title"/>
          </p:nvPr>
        </p:nvSpPr>
        <p:spPr>
          <a:xfrm>
            <a:off x="-2" y="-225996"/>
            <a:ext cx="9144000" cy="1143000"/>
          </a:xfrm>
        </p:spPr>
        <p:txBody>
          <a:bodyPr>
            <a:normAutofit/>
          </a:bodyPr>
          <a:lstStyle/>
          <a:p>
            <a:r>
              <a:rPr lang="en-GB" sz="3600"/>
              <a:t>Indexes for News collection</a:t>
            </a:r>
            <a:endParaRPr lang="en-US" sz="3600" dirty="0"/>
          </a:p>
        </p:txBody>
      </p:sp>
      <p:sp>
        <p:nvSpPr>
          <p:cNvPr id="3" name="CasellaDiTesto 2">
            <a:extLst>
              <a:ext uri="{FF2B5EF4-FFF2-40B4-BE49-F238E27FC236}">
                <a16:creationId xmlns:a16="http://schemas.microsoft.com/office/drawing/2014/main" id="{650F2857-F622-F27E-D5E3-98ED6AC359F6}"/>
              </a:ext>
            </a:extLst>
          </p:cNvPr>
          <p:cNvSpPr txBox="1"/>
          <p:nvPr/>
        </p:nvSpPr>
        <p:spPr>
          <a:xfrm>
            <a:off x="0" y="543878"/>
            <a:ext cx="9144001" cy="2862322"/>
          </a:xfrm>
          <a:prstGeom prst="rect">
            <a:avLst/>
          </a:prstGeom>
          <a:noFill/>
        </p:spPr>
        <p:txBody>
          <a:bodyPr wrap="square" rtlCol="0">
            <a:spAutoFit/>
          </a:bodyPr>
          <a:lstStyle/>
          <a:p>
            <a:pPr lvl="0"/>
            <a:r>
              <a:rPr lang="it-IT" b="1"/>
              <a:t>Indexes</a:t>
            </a:r>
            <a:r>
              <a:rPr lang="it-IT"/>
              <a:t>: </a:t>
            </a:r>
            <a:r>
              <a:rPr lang="it-IT" b="1"/>
              <a:t>{ date: -1, category: 1 }</a:t>
            </a:r>
          </a:p>
          <a:p>
            <a:pPr lvl="0"/>
            <a:endParaRPr lang="it-IT"/>
          </a:p>
          <a:p>
            <a:pPr lvl="0"/>
            <a:r>
              <a:rPr lang="it-IT" b="1"/>
              <a:t>Motivation</a:t>
            </a:r>
            <a:r>
              <a:rPr lang="it-IT"/>
              <a:t>: </a:t>
            </a:r>
            <a:r>
              <a:rPr lang="en-US"/>
              <a:t>An compromise to serve the most common use case: showing the latest news first while allowing category filtering. The primary sort on date avoids intensive sorting operations.</a:t>
            </a:r>
            <a:endParaRPr lang="it-IT"/>
          </a:p>
          <a:p>
            <a:pPr lvl="0"/>
            <a:endParaRPr lang="it-IT"/>
          </a:p>
          <a:p>
            <a:pPr lvl="0"/>
            <a:r>
              <a:rPr lang="it-IT" b="1"/>
              <a:t>Query for testing</a:t>
            </a:r>
            <a:r>
              <a:rPr lang="it-IT"/>
              <a:t>: </a:t>
            </a:r>
            <a:r>
              <a:rPr lang="en-US"/>
              <a:t>Retrieve news of a specific category within a certain time frame.</a:t>
            </a:r>
            <a:endParaRPr lang="it-IT"/>
          </a:p>
          <a:p>
            <a:pPr lvl="0"/>
            <a:endParaRPr lang="it-IT"/>
          </a:p>
          <a:p>
            <a:pPr lvl="0"/>
            <a:r>
              <a:rPr lang="it-IT" b="1"/>
              <a:t>Results</a:t>
            </a:r>
            <a:r>
              <a:rPr lang="it-IT"/>
              <a:t>: </a:t>
            </a:r>
          </a:p>
          <a:p>
            <a:pPr marL="285750" lvl="0" indent="-285750">
              <a:buFont typeface="Arial" panose="020B0604020202020204" pitchFamily="34" charset="0"/>
              <a:buChar char="•"/>
            </a:pPr>
            <a:r>
              <a:rPr lang="en-US" b="1"/>
              <a:t>Execution Time:</a:t>
            </a:r>
            <a:r>
              <a:rPr lang="en-US"/>
              <a:t> 89,8% improvement.</a:t>
            </a:r>
          </a:p>
          <a:p>
            <a:pPr marL="285750" lvl="0" indent="-285750">
              <a:buFont typeface="Arial" panose="020B0604020202020204" pitchFamily="34" charset="0"/>
              <a:buChar char="•"/>
            </a:pPr>
            <a:r>
              <a:rPr lang="en-US" b="1"/>
              <a:t>Documents Examined:</a:t>
            </a:r>
            <a:r>
              <a:rPr lang="en-US"/>
              <a:t> From full scan of 5,263 documents with a direct access.</a:t>
            </a:r>
          </a:p>
        </p:txBody>
      </p:sp>
      <p:pic>
        <p:nvPicPr>
          <p:cNvPr id="5" name="Immagine 4" descr="Immagine che contiene testo, schermata, Carattere, documento&#10;&#10;Il contenuto generato dall'IA potrebbe non essere corretto.">
            <a:extLst>
              <a:ext uri="{FF2B5EF4-FFF2-40B4-BE49-F238E27FC236}">
                <a16:creationId xmlns:a16="http://schemas.microsoft.com/office/drawing/2014/main" id="{7726AB0C-9FCA-AB9F-D4B6-867478C16999}"/>
              </a:ext>
            </a:extLst>
          </p:cNvPr>
          <p:cNvPicPr>
            <a:picLocks noChangeAspect="1"/>
          </p:cNvPicPr>
          <p:nvPr/>
        </p:nvPicPr>
        <p:blipFill>
          <a:blip r:embed="rId2"/>
          <a:stretch>
            <a:fillRect/>
          </a:stretch>
        </p:blipFill>
        <p:spPr>
          <a:xfrm>
            <a:off x="1066799" y="3329708"/>
            <a:ext cx="7010401" cy="3245911"/>
          </a:xfrm>
          <a:prstGeom prst="rect">
            <a:avLst/>
          </a:prstGeom>
        </p:spPr>
      </p:pic>
    </p:spTree>
    <p:extLst>
      <p:ext uri="{BB962C8B-B14F-4D97-AF65-F5344CB8AC3E}">
        <p14:creationId xmlns:p14="http://schemas.microsoft.com/office/powerpoint/2010/main" val="42150092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0FD46-E23E-8965-6215-16E2573CD78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B289B94-C15E-C92A-C508-2FC25C3C9767}"/>
              </a:ext>
            </a:extLst>
          </p:cNvPr>
          <p:cNvSpPr>
            <a:spLocks noGrp="1"/>
          </p:cNvSpPr>
          <p:nvPr>
            <p:ph type="title"/>
          </p:nvPr>
        </p:nvSpPr>
        <p:spPr/>
        <p:txBody>
          <a:bodyPr>
            <a:normAutofit fontScale="90000"/>
          </a:bodyPr>
          <a:lstStyle/>
          <a:p>
            <a:r>
              <a:rPr lang="en-US" dirty="0"/>
              <a:t>Discussion on MongoDB </a:t>
            </a:r>
            <a:r>
              <a:rPr lang="en-US"/>
              <a:t>Data Sharding</a:t>
            </a:r>
            <a:endParaRPr lang="en-US" dirty="0"/>
          </a:p>
        </p:txBody>
      </p:sp>
      <p:sp>
        <p:nvSpPr>
          <p:cNvPr id="3" name="CasellaDiTesto 2">
            <a:extLst>
              <a:ext uri="{FF2B5EF4-FFF2-40B4-BE49-F238E27FC236}">
                <a16:creationId xmlns:a16="http://schemas.microsoft.com/office/drawing/2014/main" id="{25C55F6B-DA13-815B-BB76-5F20B0C8BBC3}"/>
              </a:ext>
            </a:extLst>
          </p:cNvPr>
          <p:cNvSpPr txBox="1"/>
          <p:nvPr/>
        </p:nvSpPr>
        <p:spPr>
          <a:xfrm>
            <a:off x="199462" y="959556"/>
            <a:ext cx="8761797" cy="3970318"/>
          </a:xfrm>
          <a:prstGeom prst="rect">
            <a:avLst/>
          </a:prstGeom>
          <a:noFill/>
        </p:spPr>
        <p:txBody>
          <a:bodyPr wrap="square" rtlCol="0">
            <a:spAutoFit/>
          </a:bodyPr>
          <a:lstStyle/>
          <a:p>
            <a:r>
              <a:rPr lang="en-US" b="1"/>
              <a:t>Asset Prices: Optimization for Time-Series Analysis</a:t>
            </a:r>
          </a:p>
          <a:p>
            <a:r>
              <a:rPr lang="en-US"/>
              <a:t>The asset prices collection is the largest in the system, storing historical data needed.</a:t>
            </a:r>
          </a:p>
          <a:p>
            <a:r>
              <a:rPr lang="en-US"/>
              <a:t>Selected </a:t>
            </a:r>
            <a:r>
              <a:rPr lang="en-US" b="1"/>
              <a:t>Shard Key: ”symbol”: 1, ”date”: 1 </a:t>
            </a:r>
            <a:r>
              <a:rPr lang="en-US"/>
              <a:t>(Compound Shard Key)</a:t>
            </a:r>
          </a:p>
          <a:p>
            <a:endParaRPr lang="en-US"/>
          </a:p>
          <a:p>
            <a:r>
              <a:rPr lang="en-US" b="1"/>
              <a:t>Decision Logic</a:t>
            </a:r>
            <a:r>
              <a:rPr lang="en-US"/>
              <a:t>:</a:t>
            </a:r>
          </a:p>
          <a:p>
            <a:pPr marL="285750" indent="-285750">
              <a:buFont typeface="Arial" panose="020B0604020202020204" pitchFamily="34" charset="0"/>
              <a:buChar char="•"/>
            </a:pPr>
            <a:r>
              <a:rPr lang="en-US" b="1"/>
              <a:t>Data Locality</a:t>
            </a:r>
            <a:r>
              <a:rPr lang="en-US"/>
              <a:t>: Users typically request historical data for a specific asset (e.g., ”Show me the last 30 days of AAPL”). By using a symbol as the prefix of the shard key, MongoDB ensures that all data points for a specific symbol are stored on the same shard (or a contiguous set of chunks);</a:t>
            </a:r>
          </a:p>
          <a:p>
            <a:pPr marL="285750" indent="-285750">
              <a:buFont typeface="Arial" panose="020B0604020202020204" pitchFamily="34" charset="0"/>
              <a:buChar char="•"/>
            </a:pPr>
            <a:r>
              <a:rPr lang="en-US" b="1"/>
              <a:t>Write Distribution</a:t>
            </a:r>
            <a:r>
              <a:rPr lang="en-US"/>
              <a:t>: Since stock market updates usually occur in batches (e.g., daily closes), using only the date would create a ”hotspot” where all writes for a specific day hit a single shard. Adding a symbol distributes the write load across the entire cluster;</a:t>
            </a:r>
          </a:p>
          <a:p>
            <a:pPr marL="285750" indent="-285750">
              <a:buFont typeface="Arial" panose="020B0604020202020204" pitchFamily="34" charset="0"/>
              <a:buChar char="•"/>
            </a:pPr>
            <a:r>
              <a:rPr lang="en-US" b="1"/>
              <a:t>Efficiency</a:t>
            </a:r>
            <a:r>
              <a:rPr lang="en-US"/>
              <a:t>: This turns chart-generation queries into Targeted Queries, significantly reducing inter-node network traffic.</a:t>
            </a:r>
          </a:p>
        </p:txBody>
      </p:sp>
    </p:spTree>
    <p:extLst>
      <p:ext uri="{BB962C8B-B14F-4D97-AF65-F5344CB8AC3E}">
        <p14:creationId xmlns:p14="http://schemas.microsoft.com/office/powerpoint/2010/main" val="2366544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D396C-5C20-2A66-DF3D-9EE301C5056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654A628-9AC6-7B09-3959-917E2F3F7D14}"/>
              </a:ext>
            </a:extLst>
          </p:cNvPr>
          <p:cNvSpPr>
            <a:spLocks noGrp="1"/>
          </p:cNvSpPr>
          <p:nvPr>
            <p:ph type="title"/>
          </p:nvPr>
        </p:nvSpPr>
        <p:spPr/>
        <p:txBody>
          <a:bodyPr>
            <a:normAutofit fontScale="90000"/>
          </a:bodyPr>
          <a:lstStyle/>
          <a:p>
            <a:r>
              <a:rPr lang="en-US" dirty="0"/>
              <a:t>Discussion on MongoDB </a:t>
            </a:r>
            <a:r>
              <a:rPr lang="en-US"/>
              <a:t>Data Sharding</a:t>
            </a:r>
            <a:endParaRPr lang="en-US" dirty="0"/>
          </a:p>
        </p:txBody>
      </p:sp>
      <p:sp>
        <p:nvSpPr>
          <p:cNvPr id="3" name="CasellaDiTesto 2">
            <a:extLst>
              <a:ext uri="{FF2B5EF4-FFF2-40B4-BE49-F238E27FC236}">
                <a16:creationId xmlns:a16="http://schemas.microsoft.com/office/drawing/2014/main" id="{CA7A65D4-21FA-2ADA-348C-999884A0D22E}"/>
              </a:ext>
            </a:extLst>
          </p:cNvPr>
          <p:cNvSpPr txBox="1"/>
          <p:nvPr/>
        </p:nvSpPr>
        <p:spPr>
          <a:xfrm>
            <a:off x="199462" y="959556"/>
            <a:ext cx="8761797" cy="4247317"/>
          </a:xfrm>
          <a:prstGeom prst="rect">
            <a:avLst/>
          </a:prstGeom>
          <a:noFill/>
        </p:spPr>
        <p:txBody>
          <a:bodyPr wrap="square" rtlCol="0">
            <a:spAutoFit/>
          </a:bodyPr>
          <a:lstStyle/>
          <a:p>
            <a:r>
              <a:rPr lang="en-US" b="1"/>
              <a:t>Transactions: User-Centric Partitioning</a:t>
            </a:r>
          </a:p>
          <a:p>
            <a:r>
              <a:rPr lang="en-US"/>
              <a:t>Transactions are high-growth data points that require strict consistency and fast retrieval for</a:t>
            </a:r>
          </a:p>
          <a:p>
            <a:r>
              <a:rPr lang="en-US"/>
              <a:t>user dashboards.</a:t>
            </a:r>
          </a:p>
          <a:p>
            <a:r>
              <a:rPr lang="en-US"/>
              <a:t>Selected </a:t>
            </a:r>
            <a:r>
              <a:rPr lang="en-US" b="1"/>
              <a:t>Shard Key: ”user id”: 1</a:t>
            </a:r>
          </a:p>
          <a:p>
            <a:endParaRPr lang="en-US"/>
          </a:p>
          <a:p>
            <a:r>
              <a:rPr lang="en-US" b="1"/>
              <a:t>Decision Logic</a:t>
            </a:r>
            <a:r>
              <a:rPr lang="en-US"/>
              <a:t>:</a:t>
            </a:r>
          </a:p>
          <a:p>
            <a:pPr marL="285750" indent="-285750">
              <a:buFont typeface="Arial" panose="020B0604020202020204" pitchFamily="34" charset="0"/>
              <a:buChar char="•"/>
            </a:pPr>
            <a:r>
              <a:rPr lang="it-IT" b="1"/>
              <a:t>Optimized Query</a:t>
            </a:r>
            <a:r>
              <a:rPr lang="en-US"/>
              <a:t>: The most frequent operation on transactions is a user viewing their own trade history or the tradeService validating a new order. Partitioning by user id ensures that all of users’ transactions reside on the same shard.</a:t>
            </a:r>
          </a:p>
          <a:p>
            <a:pPr marL="285750" indent="-285750">
              <a:buFont typeface="Arial" panose="020B0604020202020204" pitchFamily="34" charset="0"/>
              <a:buChar char="•"/>
            </a:pPr>
            <a:r>
              <a:rPr lang="en-US" b="1"/>
              <a:t>Data Co-location for Atomic Savings:</a:t>
            </a:r>
            <a:r>
              <a:rPr lang="en-US"/>
              <a:t> By using user_id as the shard key for both the Users and Transactions collections, all data related to a single user is physically stored on the same shard. When the TradeService processes an order, it must update the User’s profile (balance/portfolio) and insert a Transaction record simultaneously. Since both documents reside on the same shard, MongoDB can handle the operation avoiding the high latency and overhead of Distributed Transactions.</a:t>
            </a:r>
          </a:p>
        </p:txBody>
      </p:sp>
    </p:spTree>
    <p:extLst>
      <p:ext uri="{BB962C8B-B14F-4D97-AF65-F5344CB8AC3E}">
        <p14:creationId xmlns:p14="http://schemas.microsoft.com/office/powerpoint/2010/main" val="26927026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5664A-93C5-AB60-6A1D-430DA0F40E4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927C284-F4E4-CA83-1D21-9BD1894598BA}"/>
              </a:ext>
            </a:extLst>
          </p:cNvPr>
          <p:cNvSpPr>
            <a:spLocks noGrp="1"/>
          </p:cNvSpPr>
          <p:nvPr>
            <p:ph type="title"/>
          </p:nvPr>
        </p:nvSpPr>
        <p:spPr/>
        <p:txBody>
          <a:bodyPr>
            <a:normAutofit fontScale="90000"/>
          </a:bodyPr>
          <a:lstStyle/>
          <a:p>
            <a:r>
              <a:rPr lang="en-US" dirty="0"/>
              <a:t>Discussion on MongoDB </a:t>
            </a:r>
            <a:r>
              <a:rPr lang="en-US"/>
              <a:t>Data Sharding</a:t>
            </a:r>
            <a:endParaRPr lang="en-US" dirty="0"/>
          </a:p>
        </p:txBody>
      </p:sp>
      <p:sp>
        <p:nvSpPr>
          <p:cNvPr id="3" name="CasellaDiTesto 2">
            <a:extLst>
              <a:ext uri="{FF2B5EF4-FFF2-40B4-BE49-F238E27FC236}">
                <a16:creationId xmlns:a16="http://schemas.microsoft.com/office/drawing/2014/main" id="{402527EE-00BF-70FD-6B10-8AB73AA930E3}"/>
              </a:ext>
            </a:extLst>
          </p:cNvPr>
          <p:cNvSpPr txBox="1"/>
          <p:nvPr/>
        </p:nvSpPr>
        <p:spPr>
          <a:xfrm>
            <a:off x="199462" y="959556"/>
            <a:ext cx="8761797" cy="3139321"/>
          </a:xfrm>
          <a:prstGeom prst="rect">
            <a:avLst/>
          </a:prstGeom>
          <a:noFill/>
        </p:spPr>
        <p:txBody>
          <a:bodyPr wrap="square" rtlCol="0">
            <a:spAutoFit/>
          </a:bodyPr>
          <a:lstStyle/>
          <a:p>
            <a:r>
              <a:rPr lang="en-US" b="1"/>
              <a:t>News: Strategic Outlook</a:t>
            </a:r>
          </a:p>
          <a:p>
            <a:r>
              <a:rPr lang="en-US"/>
              <a:t>Given the current volume of news data, sharding is currently disabled to maintain architectural simplicity. </a:t>
            </a:r>
          </a:p>
          <a:p>
            <a:r>
              <a:rPr lang="en-US"/>
              <a:t>In </a:t>
            </a:r>
            <a:r>
              <a:rPr lang="en-US" u="sng"/>
              <a:t>Real-World Scalability scenario</a:t>
            </a:r>
            <a:r>
              <a:rPr lang="en-US"/>
              <a:t>: In a production environment with millions of articles, the</a:t>
            </a:r>
          </a:p>
          <a:p>
            <a:r>
              <a:rPr lang="en-US"/>
              <a:t>recommended </a:t>
            </a:r>
            <a:r>
              <a:rPr lang="en-US" b="1"/>
              <a:t>shard key is ”sector”: 1, ”date”: -1 </a:t>
            </a:r>
            <a:r>
              <a:rPr lang="en-US"/>
              <a:t>.</a:t>
            </a:r>
          </a:p>
          <a:p>
            <a:endParaRPr lang="en-US"/>
          </a:p>
          <a:p>
            <a:r>
              <a:rPr lang="en-US" b="1"/>
              <a:t>Decision Logic</a:t>
            </a:r>
            <a:r>
              <a:rPr lang="en-US"/>
              <a:t>:</a:t>
            </a:r>
          </a:p>
          <a:p>
            <a:r>
              <a:rPr lang="en-US"/>
              <a:t>Financial news consumption is often </a:t>
            </a:r>
            <a:r>
              <a:rPr lang="en-US" u="sng"/>
              <a:t>sector-specific</a:t>
            </a:r>
            <a:r>
              <a:rPr lang="en-US"/>
              <a:t> (e.g., ”Tech” or ”Energy”). Sharding by</a:t>
            </a:r>
          </a:p>
          <a:p>
            <a:r>
              <a:rPr lang="en-US"/>
              <a:t>sector allows the system to serve specialized feeds instantly. The </a:t>
            </a:r>
            <a:r>
              <a:rPr lang="en-US" u="sng"/>
              <a:t>descending date ensures that the most recent news</a:t>
            </a:r>
            <a:r>
              <a:rPr lang="en-US"/>
              <a:t> (the most frequently accessed) is </a:t>
            </a:r>
            <a:r>
              <a:rPr lang="en-US" u="sng"/>
              <a:t>efficiently indexed within each partition.</a:t>
            </a:r>
            <a:endParaRPr lang="en-US" u="sng" dirty="0"/>
          </a:p>
        </p:txBody>
      </p:sp>
    </p:spTree>
    <p:extLst>
      <p:ext uri="{BB962C8B-B14F-4D97-AF65-F5344CB8AC3E}">
        <p14:creationId xmlns:p14="http://schemas.microsoft.com/office/powerpoint/2010/main" val="22311487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CC588-DF93-AF82-C078-0E55BB9B0C0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7ECF9ED-9976-C2B8-F212-D80A6256E86B}"/>
              </a:ext>
            </a:extLst>
          </p:cNvPr>
          <p:cNvSpPr>
            <a:spLocks noGrp="1"/>
          </p:cNvSpPr>
          <p:nvPr>
            <p:ph type="title"/>
          </p:nvPr>
        </p:nvSpPr>
        <p:spPr>
          <a:xfrm>
            <a:off x="0" y="1819652"/>
            <a:ext cx="9144000" cy="1143000"/>
          </a:xfrm>
        </p:spPr>
        <p:txBody>
          <a:bodyPr>
            <a:normAutofit/>
          </a:bodyPr>
          <a:lstStyle/>
          <a:p>
            <a:r>
              <a:rPr lang="en-GB"/>
              <a:t>Redis data model</a:t>
            </a:r>
            <a:endParaRPr lang="en-US" dirty="0"/>
          </a:p>
        </p:txBody>
      </p:sp>
      <p:sp>
        <p:nvSpPr>
          <p:cNvPr id="3" name="CasellaDiTesto 2">
            <a:extLst>
              <a:ext uri="{FF2B5EF4-FFF2-40B4-BE49-F238E27FC236}">
                <a16:creationId xmlns:a16="http://schemas.microsoft.com/office/drawing/2014/main" id="{C94ED27E-CE39-B01C-042D-A4A8E0068A1D}"/>
              </a:ext>
            </a:extLst>
          </p:cNvPr>
          <p:cNvSpPr txBox="1"/>
          <p:nvPr/>
        </p:nvSpPr>
        <p:spPr>
          <a:xfrm>
            <a:off x="0" y="2967335"/>
            <a:ext cx="9144000" cy="923330"/>
          </a:xfrm>
          <a:prstGeom prst="rect">
            <a:avLst/>
          </a:prstGeom>
          <a:noFill/>
        </p:spPr>
        <p:txBody>
          <a:bodyPr wrap="square" rtlCol="0">
            <a:spAutoFit/>
          </a:bodyPr>
          <a:lstStyle/>
          <a:p>
            <a:pPr lvl="0"/>
            <a:r>
              <a:rPr lang="en-US"/>
              <a:t>The key design follows a hierarchical convention (</a:t>
            </a:r>
            <a:r>
              <a:rPr lang="en-US" b="1"/>
              <a:t>namespace:id:attribute</a:t>
            </a:r>
            <a:r>
              <a:rPr lang="en-US"/>
              <a:t>) to ensure readability and ease of access. Each structure has been chosen to optimise a specific functional requirement.</a:t>
            </a:r>
            <a:endParaRPr lang="it-IT"/>
          </a:p>
        </p:txBody>
      </p:sp>
    </p:spTree>
    <p:extLst>
      <p:ext uri="{BB962C8B-B14F-4D97-AF65-F5344CB8AC3E}">
        <p14:creationId xmlns:p14="http://schemas.microsoft.com/office/powerpoint/2010/main" val="31191730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BFCE0-7914-2277-EA3F-534F4FF582D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2A17CDB-82FA-5CBC-D5B2-F6882B7F4C74}"/>
              </a:ext>
            </a:extLst>
          </p:cNvPr>
          <p:cNvSpPr>
            <a:spLocks noGrp="1"/>
          </p:cNvSpPr>
          <p:nvPr>
            <p:ph type="title"/>
          </p:nvPr>
        </p:nvSpPr>
        <p:spPr>
          <a:xfrm>
            <a:off x="182741" y="-218"/>
            <a:ext cx="8761797" cy="1143000"/>
          </a:xfrm>
        </p:spPr>
        <p:txBody>
          <a:bodyPr>
            <a:normAutofit/>
          </a:bodyPr>
          <a:lstStyle/>
          <a:p>
            <a:r>
              <a:rPr lang="en-GB"/>
              <a:t>Asset related data in Redis</a:t>
            </a:r>
            <a:endParaRPr lang="en-US" dirty="0"/>
          </a:p>
        </p:txBody>
      </p:sp>
      <p:sp>
        <p:nvSpPr>
          <p:cNvPr id="3" name="CasellaDiTesto 2">
            <a:extLst>
              <a:ext uri="{FF2B5EF4-FFF2-40B4-BE49-F238E27FC236}">
                <a16:creationId xmlns:a16="http://schemas.microsoft.com/office/drawing/2014/main" id="{D4D18BA5-1692-B597-B7A2-369226C20B44}"/>
              </a:ext>
            </a:extLst>
          </p:cNvPr>
          <p:cNvSpPr txBox="1"/>
          <p:nvPr/>
        </p:nvSpPr>
        <p:spPr>
          <a:xfrm>
            <a:off x="-8361" y="890180"/>
            <a:ext cx="9144000" cy="4247317"/>
          </a:xfrm>
          <a:prstGeom prst="rect">
            <a:avLst/>
          </a:prstGeom>
          <a:noFill/>
        </p:spPr>
        <p:txBody>
          <a:bodyPr wrap="square" rtlCol="0">
            <a:spAutoFit/>
          </a:bodyPr>
          <a:lstStyle/>
          <a:p>
            <a:pPr marL="285750" indent="-285750">
              <a:buFont typeface="Arial" panose="020B0604020202020204" pitchFamily="34" charset="0"/>
              <a:buChar char="•"/>
            </a:pPr>
            <a:r>
              <a:rPr lang="en-US" b="1"/>
              <a:t>asset:{type}:list (Hash)     </a:t>
            </a:r>
          </a:p>
          <a:p>
            <a:pPr marL="742950" lvl="1" indent="-285750">
              <a:buFont typeface="Arial" panose="020B0604020202020204" pitchFamily="34" charset="0"/>
              <a:buChar char="•"/>
            </a:pPr>
            <a:r>
              <a:rPr lang="en-US"/>
              <a:t>Map of all assets of a certain type (Field: symbol, Value: name). It provides instant access to information to be displayed in the asset list for users.</a:t>
            </a:r>
          </a:p>
          <a:p>
            <a:pPr marL="285750" indent="-285750">
              <a:buFont typeface="Arial" panose="020B0604020202020204" pitchFamily="34" charset="0"/>
              <a:buChar char="•"/>
            </a:pPr>
            <a:r>
              <a:rPr lang="en-US" b="1"/>
              <a:t>asset:{symbol}:current_price (String)</a:t>
            </a:r>
          </a:p>
          <a:p>
            <a:pPr marL="742950" lvl="1" indent="-285750">
              <a:buFont typeface="Arial" panose="020B0604020202020204" pitchFamily="34" charset="0"/>
              <a:buChar char="•"/>
            </a:pPr>
            <a:r>
              <a:rPr lang="en-US"/>
              <a:t>It is an instant access to the latest(most recent real-time) market price for an asset, it is essential.</a:t>
            </a:r>
          </a:p>
          <a:p>
            <a:pPr marL="285750" indent="-285750">
              <a:buFont typeface="Arial" panose="020B0604020202020204" pitchFamily="34" charset="0"/>
              <a:buChar char="•"/>
            </a:pPr>
            <a:r>
              <a:rPr lang="en-US" b="1"/>
              <a:t>asset:{symbol}:intraday_prices (ZSet)</a:t>
            </a:r>
          </a:p>
          <a:p>
            <a:pPr marL="742950" lvl="1" indent="-285750">
              <a:buFont typeface="Arial" panose="020B0604020202020204" pitchFamily="34" charset="0"/>
              <a:buChar char="•"/>
            </a:pPr>
            <a:r>
              <a:rPr lang="en-US"/>
              <a:t>Stores the day's prices using the timestamp as a score. Allows you to retrieve time ranges for intraday charts extremely quickly.</a:t>
            </a:r>
          </a:p>
          <a:p>
            <a:pPr marL="285750" indent="-285750">
              <a:buFont typeface="Arial" panose="020B0604020202020204" pitchFamily="34" charset="0"/>
              <a:buChar char="•"/>
            </a:pPr>
            <a:r>
              <a:rPr lang="en-US" b="1"/>
              <a:t>asset:most_traded (Hash)</a:t>
            </a:r>
          </a:p>
          <a:p>
            <a:pPr marL="742950" lvl="1" indent="-285750">
              <a:buFont typeface="Arial" panose="020B0604020202020204" pitchFamily="34" charset="0"/>
              <a:buChar char="•"/>
            </a:pPr>
            <a:r>
              <a:rPr lang="en-US"/>
              <a:t>Stats of the most traded assets from the previous day (Field: symbol, Value: data).</a:t>
            </a:r>
          </a:p>
          <a:p>
            <a:pPr marL="285750" indent="-285750">
              <a:buFont typeface="Arial" panose="020B0604020202020204" pitchFamily="34" charset="0"/>
              <a:buChar char="•"/>
            </a:pPr>
            <a:r>
              <a:rPr lang="en-US" b="1"/>
              <a:t>asset:top_growth (ZSet)</a:t>
            </a:r>
          </a:p>
          <a:p>
            <a:pPr marL="742950" lvl="1" indent="-285750">
              <a:buFont typeface="Arial" panose="020B0604020202020204" pitchFamily="34" charset="0"/>
              <a:buChar char="•"/>
            </a:pPr>
            <a:r>
              <a:rPr lang="en-US"/>
              <a:t>Ranking of assets with highest % growth. Score: % change.</a:t>
            </a:r>
          </a:p>
          <a:p>
            <a:pPr marL="285750" indent="-285750">
              <a:buFont typeface="Arial" panose="020B0604020202020204" pitchFamily="34" charset="0"/>
              <a:buChar char="•"/>
            </a:pPr>
            <a:r>
              <a:rPr lang="en-US" b="1"/>
              <a:t>asset:worst_decline (ZSet)</a:t>
            </a:r>
          </a:p>
          <a:p>
            <a:pPr marL="742950" lvl="1" indent="-285750">
              <a:buFont typeface="Arial" panose="020B0604020202020204" pitchFamily="34" charset="0"/>
              <a:buChar char="•"/>
            </a:pPr>
            <a:r>
              <a:rPr lang="en-US"/>
              <a:t>Ranking of assets with highest % decline. Score: % change (negative).</a:t>
            </a:r>
          </a:p>
        </p:txBody>
      </p:sp>
    </p:spTree>
    <p:extLst>
      <p:ext uri="{BB962C8B-B14F-4D97-AF65-F5344CB8AC3E}">
        <p14:creationId xmlns:p14="http://schemas.microsoft.com/office/powerpoint/2010/main" val="41339121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5F017-C7D8-2C76-A946-D272EE3EA0F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2C827A5-9E2C-078E-75BD-5D8A0FD0CFB1}"/>
              </a:ext>
            </a:extLst>
          </p:cNvPr>
          <p:cNvSpPr>
            <a:spLocks noGrp="1"/>
          </p:cNvSpPr>
          <p:nvPr>
            <p:ph type="title"/>
          </p:nvPr>
        </p:nvSpPr>
        <p:spPr>
          <a:xfrm>
            <a:off x="182741" y="-218"/>
            <a:ext cx="8761797" cy="1143000"/>
          </a:xfrm>
        </p:spPr>
        <p:txBody>
          <a:bodyPr>
            <a:normAutofit/>
          </a:bodyPr>
          <a:lstStyle/>
          <a:p>
            <a:r>
              <a:rPr lang="en-GB"/>
              <a:t>User related data in Redis</a:t>
            </a:r>
            <a:endParaRPr lang="en-US" dirty="0"/>
          </a:p>
        </p:txBody>
      </p:sp>
      <p:sp>
        <p:nvSpPr>
          <p:cNvPr id="3" name="CasellaDiTesto 2">
            <a:extLst>
              <a:ext uri="{FF2B5EF4-FFF2-40B4-BE49-F238E27FC236}">
                <a16:creationId xmlns:a16="http://schemas.microsoft.com/office/drawing/2014/main" id="{7929DF51-C092-1C12-9EFF-1EA96FD261C9}"/>
              </a:ext>
            </a:extLst>
          </p:cNvPr>
          <p:cNvSpPr txBox="1"/>
          <p:nvPr/>
        </p:nvSpPr>
        <p:spPr>
          <a:xfrm>
            <a:off x="-8361" y="890180"/>
            <a:ext cx="9144000" cy="2585323"/>
          </a:xfrm>
          <a:prstGeom prst="rect">
            <a:avLst/>
          </a:prstGeom>
          <a:noFill/>
        </p:spPr>
        <p:txBody>
          <a:bodyPr wrap="square" rtlCol="0">
            <a:spAutoFit/>
          </a:bodyPr>
          <a:lstStyle/>
          <a:p>
            <a:pPr marL="285750" indent="-285750">
              <a:buFont typeface="Arial" panose="020B0604020202020204" pitchFamily="34" charset="0"/>
              <a:buChar char="•"/>
            </a:pPr>
            <a:r>
              <a:rPr lang="it-IT" b="1"/>
              <a:t>user:{id}:cash </a:t>
            </a:r>
            <a:r>
              <a:rPr lang="en-US" b="1"/>
              <a:t>(String)     </a:t>
            </a:r>
          </a:p>
          <a:p>
            <a:pPr marL="742950" lvl="1" indent="-285750">
              <a:buFont typeface="Arial" panose="020B0604020202020204" pitchFamily="34" charset="0"/>
              <a:buChar char="•"/>
            </a:pPr>
            <a:r>
              <a:rPr lang="en-US"/>
              <a:t>It provides a quick view of the user’s cache.</a:t>
            </a:r>
          </a:p>
          <a:p>
            <a:pPr marL="285750" indent="-285750">
              <a:buFont typeface="Arial" panose="020B0604020202020204" pitchFamily="34" charset="0"/>
              <a:buChar char="•"/>
            </a:pPr>
            <a:r>
              <a:rPr lang="it-IT" b="1"/>
              <a:t>user:{id}:cash:blocked </a:t>
            </a:r>
            <a:r>
              <a:rPr lang="en-US" b="1"/>
              <a:t>(String)</a:t>
            </a:r>
          </a:p>
          <a:p>
            <a:pPr marL="742950" lvl="1" indent="-285750">
              <a:buFont typeface="Arial" panose="020B0604020202020204" pitchFamily="34" charset="0"/>
              <a:buChar char="•"/>
            </a:pPr>
            <a:r>
              <a:rPr lang="en-US"/>
              <a:t>It provides a quick view of the user’s cache.</a:t>
            </a:r>
          </a:p>
          <a:p>
            <a:pPr marL="285750" indent="-285750">
              <a:buFont typeface="Arial" panose="020B0604020202020204" pitchFamily="34" charset="0"/>
              <a:buChar char="•"/>
            </a:pPr>
            <a:r>
              <a:rPr lang="it-IT" b="1"/>
              <a:t>user:{id}:portfolio </a:t>
            </a:r>
            <a:r>
              <a:rPr lang="en-US" b="1"/>
              <a:t>(Set)</a:t>
            </a:r>
          </a:p>
          <a:p>
            <a:pPr marL="742950" lvl="1" indent="-285750">
              <a:buFont typeface="Arial" panose="020B0604020202020204" pitchFamily="34" charset="0"/>
              <a:buChar char="•"/>
            </a:pPr>
            <a:r>
              <a:rPr lang="en-US"/>
              <a:t>It provides a quick list of assets owned</a:t>
            </a:r>
          </a:p>
          <a:p>
            <a:pPr marL="285750" indent="-285750">
              <a:buFont typeface="Arial" panose="020B0604020202020204" pitchFamily="34" charset="0"/>
              <a:buChar char="•"/>
            </a:pPr>
            <a:r>
              <a:rPr lang="it-IT" b="1"/>
              <a:t>user:{id}:port:{symbol} </a:t>
            </a:r>
            <a:r>
              <a:rPr lang="en-US" b="1"/>
              <a:t>(Hash)</a:t>
            </a:r>
          </a:p>
          <a:p>
            <a:pPr marL="742950" lvl="1" indent="-285750">
              <a:buFont typeface="Arial" panose="020B0604020202020204" pitchFamily="34" charset="0"/>
              <a:buChar char="•"/>
            </a:pPr>
            <a:r>
              <a:rPr lang="en-US"/>
              <a:t>It stores analytical details (quantity, average loading price – BEP, blocke quantity) for each specific asset.</a:t>
            </a:r>
          </a:p>
        </p:txBody>
      </p:sp>
      <p:sp>
        <p:nvSpPr>
          <p:cNvPr id="4" name="CasellaDiTesto 3">
            <a:extLst>
              <a:ext uri="{FF2B5EF4-FFF2-40B4-BE49-F238E27FC236}">
                <a16:creationId xmlns:a16="http://schemas.microsoft.com/office/drawing/2014/main" id="{79FE3AFC-EC1A-D3A9-13E3-76ABF7CC32CD}"/>
              </a:ext>
            </a:extLst>
          </p:cNvPr>
          <p:cNvSpPr txBox="1"/>
          <p:nvPr/>
        </p:nvSpPr>
        <p:spPr>
          <a:xfrm>
            <a:off x="0" y="3764843"/>
            <a:ext cx="9152361" cy="646331"/>
          </a:xfrm>
          <a:prstGeom prst="rect">
            <a:avLst/>
          </a:prstGeom>
          <a:noFill/>
        </p:spPr>
        <p:txBody>
          <a:bodyPr wrap="square" rtlCol="0">
            <a:spAutoFit/>
          </a:bodyPr>
          <a:lstStyle/>
          <a:p>
            <a:r>
              <a:rPr lang="en-US" b="1"/>
              <a:t>TTL</a:t>
            </a:r>
            <a:r>
              <a:rPr lang="en-US"/>
              <a:t>: All keys have a TTL of 30 minutes (expiration). This ensures that RAM is only occupied by active users, acting as a LRU (Least Recently Used) cache.</a:t>
            </a:r>
          </a:p>
        </p:txBody>
      </p:sp>
    </p:spTree>
    <p:extLst>
      <p:ext uri="{BB962C8B-B14F-4D97-AF65-F5344CB8AC3E}">
        <p14:creationId xmlns:p14="http://schemas.microsoft.com/office/powerpoint/2010/main" val="41705582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98D4D-2A07-10E8-24C9-F749AA183FE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B0A0C2C-BA83-2E19-1465-9FF487C04C21}"/>
              </a:ext>
            </a:extLst>
          </p:cNvPr>
          <p:cNvSpPr>
            <a:spLocks noGrp="1"/>
          </p:cNvSpPr>
          <p:nvPr>
            <p:ph type="title"/>
          </p:nvPr>
        </p:nvSpPr>
        <p:spPr>
          <a:xfrm>
            <a:off x="182741" y="-218"/>
            <a:ext cx="8761797" cy="1143000"/>
          </a:xfrm>
        </p:spPr>
        <p:txBody>
          <a:bodyPr>
            <a:normAutofit/>
          </a:bodyPr>
          <a:lstStyle/>
          <a:p>
            <a:r>
              <a:rPr lang="en-GB"/>
              <a:t>Asset related data in Redis</a:t>
            </a:r>
            <a:endParaRPr lang="en-US" dirty="0"/>
          </a:p>
        </p:txBody>
      </p:sp>
      <p:sp>
        <p:nvSpPr>
          <p:cNvPr id="3" name="CasellaDiTesto 2">
            <a:extLst>
              <a:ext uri="{FF2B5EF4-FFF2-40B4-BE49-F238E27FC236}">
                <a16:creationId xmlns:a16="http://schemas.microsoft.com/office/drawing/2014/main" id="{BDEAFFE4-1982-1609-61F0-4F1701F82213}"/>
              </a:ext>
            </a:extLst>
          </p:cNvPr>
          <p:cNvSpPr txBox="1"/>
          <p:nvPr/>
        </p:nvSpPr>
        <p:spPr>
          <a:xfrm>
            <a:off x="-8361" y="890180"/>
            <a:ext cx="9144000" cy="2031325"/>
          </a:xfrm>
          <a:prstGeom prst="rect">
            <a:avLst/>
          </a:prstGeom>
          <a:noFill/>
        </p:spPr>
        <p:txBody>
          <a:bodyPr wrap="square" rtlCol="0">
            <a:spAutoFit/>
          </a:bodyPr>
          <a:lstStyle/>
          <a:p>
            <a:pPr marL="285750" indent="-285750">
              <a:buFont typeface="Arial" panose="020B0604020202020204" pitchFamily="34" charset="0"/>
              <a:buChar char="•"/>
            </a:pPr>
            <a:r>
              <a:rPr lang="it-IT" b="1"/>
              <a:t>news:latest </a:t>
            </a:r>
            <a:r>
              <a:rPr lang="en-US" b="1"/>
              <a:t>(ZSet)     </a:t>
            </a:r>
          </a:p>
          <a:p>
            <a:pPr marL="742950" lvl="1" indent="-285750">
              <a:buFont typeface="Arial" panose="020B0604020202020204" pitchFamily="34" charset="0"/>
              <a:buChar char="•"/>
            </a:pPr>
            <a:r>
              <a:rPr lang="en-US"/>
              <a:t>It provides a quick list of the latest news. Score: timestamp.</a:t>
            </a:r>
          </a:p>
          <a:p>
            <a:pPr marL="285750" indent="-285750">
              <a:buFont typeface="Arial" panose="020B0604020202020204" pitchFamily="34" charset="0"/>
              <a:buChar char="•"/>
            </a:pPr>
            <a:r>
              <a:rPr lang="it-IT" b="1"/>
              <a:t>news:latest:sector{sector} </a:t>
            </a:r>
            <a:r>
              <a:rPr lang="en-US" b="1"/>
              <a:t>(ZSet)</a:t>
            </a:r>
          </a:p>
          <a:p>
            <a:pPr marL="742950" lvl="1" indent="-285750">
              <a:buFont typeface="Arial" panose="020B0604020202020204" pitchFamily="34" charset="0"/>
              <a:buChar char="•"/>
            </a:pPr>
            <a:r>
              <a:rPr lang="en-US"/>
              <a:t>It provides a quick list of the latest news for a sector. Score: timestamp.</a:t>
            </a:r>
          </a:p>
          <a:p>
            <a:pPr marL="285750" indent="-285750">
              <a:buFont typeface="Arial" panose="020B0604020202020204" pitchFamily="34" charset="0"/>
              <a:buChar char="•"/>
            </a:pPr>
            <a:r>
              <a:rPr lang="en-US" b="1"/>
              <a:t>asset:most_traded (Hash)</a:t>
            </a:r>
          </a:p>
          <a:p>
            <a:pPr marL="742950" lvl="1" indent="-285750">
              <a:buFont typeface="Arial" panose="020B0604020202020204" pitchFamily="34" charset="0"/>
              <a:buChar char="•"/>
            </a:pPr>
            <a:r>
              <a:rPr lang="en-US"/>
              <a:t>Stats of the most traded assets from the previous day (Field: symbol, Value: data).</a:t>
            </a:r>
          </a:p>
          <a:p>
            <a:endParaRPr lang="en-US"/>
          </a:p>
        </p:txBody>
      </p:sp>
    </p:spTree>
    <p:extLst>
      <p:ext uri="{BB962C8B-B14F-4D97-AF65-F5344CB8AC3E}">
        <p14:creationId xmlns:p14="http://schemas.microsoft.com/office/powerpoint/2010/main" val="31363814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6B5E6-966C-B97A-3696-C737DDCE2AE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F0349FF-821C-E9A8-7149-FE33169A381C}"/>
              </a:ext>
            </a:extLst>
          </p:cNvPr>
          <p:cNvSpPr>
            <a:spLocks noGrp="1"/>
          </p:cNvSpPr>
          <p:nvPr>
            <p:ph type="title"/>
          </p:nvPr>
        </p:nvSpPr>
        <p:spPr>
          <a:xfrm>
            <a:off x="182741" y="11071"/>
            <a:ext cx="8761797" cy="1143000"/>
          </a:xfrm>
        </p:spPr>
        <p:txBody>
          <a:bodyPr>
            <a:normAutofit fontScale="90000"/>
          </a:bodyPr>
          <a:lstStyle/>
          <a:p>
            <a:r>
              <a:rPr lang="en-GB"/>
              <a:t>CAP Theorem positioning + replica set </a:t>
            </a:r>
            <a:endParaRPr lang="en-US" dirty="0"/>
          </a:p>
        </p:txBody>
      </p:sp>
      <p:sp>
        <p:nvSpPr>
          <p:cNvPr id="5" name="CasellaDiTesto 4">
            <a:extLst>
              <a:ext uri="{FF2B5EF4-FFF2-40B4-BE49-F238E27FC236}">
                <a16:creationId xmlns:a16="http://schemas.microsoft.com/office/drawing/2014/main" id="{277EAB67-8180-EBFD-C5C9-C4F5F45800AE}"/>
              </a:ext>
            </a:extLst>
          </p:cNvPr>
          <p:cNvSpPr txBox="1"/>
          <p:nvPr/>
        </p:nvSpPr>
        <p:spPr>
          <a:xfrm>
            <a:off x="0" y="914400"/>
            <a:ext cx="9143999" cy="5355312"/>
          </a:xfrm>
          <a:prstGeom prst="rect">
            <a:avLst/>
          </a:prstGeom>
          <a:noFill/>
        </p:spPr>
        <p:txBody>
          <a:bodyPr wrap="square">
            <a:spAutoFit/>
          </a:bodyPr>
          <a:lstStyle/>
          <a:p>
            <a:pPr lvl="0"/>
            <a:r>
              <a:rPr lang="en-GB" b="1"/>
              <a:t>Position related CAP </a:t>
            </a:r>
          </a:p>
          <a:p>
            <a:pPr marL="285750" lvl="0" indent="-285750">
              <a:buFont typeface="Arial" panose="020B0604020202020204" pitchFamily="34" charset="0"/>
              <a:buChar char="•"/>
            </a:pPr>
            <a:r>
              <a:rPr lang="en-GB" b="1"/>
              <a:t>CP -</a:t>
            </a:r>
            <a:r>
              <a:rPr lang="en-GB"/>
              <a:t> </a:t>
            </a:r>
            <a:r>
              <a:rPr lang="en-US" b="1"/>
              <a:t>Consistency (C)</a:t>
            </a:r>
            <a:r>
              <a:rPr lang="en-US"/>
              <a:t> and </a:t>
            </a:r>
            <a:r>
              <a:rPr lang="en-US" b="1"/>
              <a:t>Partition Tolerance (P): I</a:t>
            </a:r>
            <a:r>
              <a:rPr lang="en-US"/>
              <a:t> prioritize data correctness over availability because a financial system cannot tolerate temporary inconsistencies in critical data (e.g. user’s cash, user’s portfolio or a current price that is not up to date for the assets.</a:t>
            </a:r>
            <a:endParaRPr lang="en-GB"/>
          </a:p>
          <a:p>
            <a:pPr lvl="0"/>
            <a:endParaRPr lang="en-GB"/>
          </a:p>
          <a:p>
            <a:pPr lvl="0"/>
            <a:r>
              <a:rPr lang="en-US" b="1"/>
              <a:t>MongoDB Replica Set Configuration</a:t>
            </a:r>
          </a:p>
          <a:p>
            <a:pPr marL="285750" lvl="0" indent="-285750">
              <a:buFont typeface="Arial" panose="020B0604020202020204" pitchFamily="34" charset="0"/>
              <a:buChar char="•"/>
            </a:pPr>
            <a:r>
              <a:rPr lang="en-US" b="1"/>
              <a:t>Setup</a:t>
            </a:r>
            <a:r>
              <a:rPr lang="en-US"/>
              <a:t>: 1 Primary Node (Master) and 2 Secondary Nodes (Replicas).</a:t>
            </a:r>
          </a:p>
          <a:p>
            <a:pPr marL="285750" lvl="0" indent="-285750">
              <a:buFont typeface="Arial" panose="020B0604020202020204" pitchFamily="34" charset="0"/>
              <a:buChar char="•"/>
            </a:pPr>
            <a:r>
              <a:rPr lang="en-US" b="1"/>
              <a:t>Write Concern </a:t>
            </a:r>
            <a:r>
              <a:rPr lang="en-US"/>
              <a:t>(</a:t>
            </a:r>
            <a:r>
              <a:rPr lang="en-US" b="1"/>
              <a:t>w=majority</a:t>
            </a:r>
            <a:r>
              <a:rPr lang="en-US"/>
              <a:t>): A trade is confirmed only if recorded by at least two nodes, ensuring durability and strong consistency during failovers.</a:t>
            </a:r>
          </a:p>
          <a:p>
            <a:pPr marL="285750" lvl="0" indent="-285750">
              <a:buFont typeface="Arial" panose="020B0604020202020204" pitchFamily="34" charset="0"/>
              <a:buChar char="•"/>
            </a:pPr>
            <a:r>
              <a:rPr lang="en-US" b="1"/>
              <a:t>Read Policy</a:t>
            </a:r>
            <a:r>
              <a:rPr lang="en-US"/>
              <a:t>: Currently, all reads are directed to the Primary to ensure consistency. </a:t>
            </a:r>
            <a:br>
              <a:rPr lang="en-US"/>
            </a:br>
            <a:r>
              <a:rPr lang="en-US"/>
              <a:t>                       In future improvement: read from primary for critical data (user, transaction) </a:t>
            </a:r>
            <a:br>
              <a:rPr lang="en-US"/>
            </a:br>
            <a:r>
              <a:rPr lang="en-US"/>
              <a:t>                                                and read from secondary for non critical data (asset_prices, news)</a:t>
            </a:r>
          </a:p>
          <a:p>
            <a:pPr lvl="0"/>
            <a:endParaRPr lang="en-US"/>
          </a:p>
          <a:p>
            <a:pPr lvl="0"/>
            <a:r>
              <a:rPr lang="en-US" b="1"/>
              <a:t>Redis Master-Replica Cluster</a:t>
            </a:r>
          </a:p>
          <a:p>
            <a:pPr marL="285750" lvl="0" indent="-285750">
              <a:buFont typeface="Arial" panose="020B0604020202020204" pitchFamily="34" charset="0"/>
              <a:buChar char="•"/>
            </a:pPr>
            <a:r>
              <a:rPr lang="en-US" b="1"/>
              <a:t>Setup</a:t>
            </a:r>
            <a:r>
              <a:rPr lang="en-US"/>
              <a:t>: 1 Master for critical writes/reads and 2 Replicas for high-volume informational reads.</a:t>
            </a:r>
          </a:p>
          <a:p>
            <a:pPr marL="742950" lvl="1" indent="-285750">
              <a:buFont typeface="Arial" panose="020B0604020202020204" pitchFamily="34" charset="0"/>
              <a:buChar char="•"/>
            </a:pPr>
            <a:r>
              <a:rPr lang="en-US"/>
              <a:t>Critical data: user data and current asset price.</a:t>
            </a:r>
          </a:p>
          <a:p>
            <a:pPr marL="742950" lvl="1" indent="-285750">
              <a:buFont typeface="Arial" panose="020B0604020202020204" pitchFamily="34" charset="0"/>
              <a:buChar char="•"/>
            </a:pPr>
            <a:r>
              <a:rPr lang="en-US"/>
              <a:t>Non-critical data:  Intraday Price History, Asset Lists,Market Rankings (e.g., Most Traded, Top Growth, Worst Decline), and the News Cache.</a:t>
            </a:r>
          </a:p>
          <a:p>
            <a:pPr marL="285750" lvl="0" indent="-285750">
              <a:buFont typeface="Arial" panose="020B0604020202020204" pitchFamily="34" charset="0"/>
              <a:buChar char="•"/>
            </a:pPr>
            <a:r>
              <a:rPr lang="en-US" b="1"/>
              <a:t>Fault Tolerance</a:t>
            </a:r>
            <a:r>
              <a:rPr lang="en-US"/>
              <a:t>: Rapid failover mechanism promotes a replica to Master if the primary fails.</a:t>
            </a:r>
          </a:p>
        </p:txBody>
      </p:sp>
    </p:spTree>
    <p:extLst>
      <p:ext uri="{BB962C8B-B14F-4D97-AF65-F5344CB8AC3E}">
        <p14:creationId xmlns:p14="http://schemas.microsoft.com/office/powerpoint/2010/main" val="7980670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4509B-E1C2-F9B5-B3A5-3D1BFDF9D83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42B07DE-25D9-F3C6-B627-29B05F04A55A}"/>
              </a:ext>
            </a:extLst>
          </p:cNvPr>
          <p:cNvSpPr>
            <a:spLocks noGrp="1"/>
          </p:cNvSpPr>
          <p:nvPr>
            <p:ph type="title"/>
          </p:nvPr>
        </p:nvSpPr>
        <p:spPr/>
        <p:txBody>
          <a:bodyPr>
            <a:normAutofit/>
          </a:bodyPr>
          <a:lstStyle/>
          <a:p>
            <a:r>
              <a:rPr lang="en-US" dirty="0"/>
              <a:t>MongoDB Replica Set Configuration</a:t>
            </a:r>
          </a:p>
        </p:txBody>
      </p:sp>
      <p:sp>
        <p:nvSpPr>
          <p:cNvPr id="3" name="CasellaDiTesto 2">
            <a:extLst>
              <a:ext uri="{FF2B5EF4-FFF2-40B4-BE49-F238E27FC236}">
                <a16:creationId xmlns:a16="http://schemas.microsoft.com/office/drawing/2014/main" id="{7E56C738-FE1D-8529-B249-6B7A24251711}"/>
              </a:ext>
            </a:extLst>
          </p:cNvPr>
          <p:cNvSpPr txBox="1"/>
          <p:nvPr/>
        </p:nvSpPr>
        <p:spPr>
          <a:xfrm>
            <a:off x="199462" y="1016000"/>
            <a:ext cx="8761797" cy="5078313"/>
          </a:xfrm>
          <a:prstGeom prst="rect">
            <a:avLst/>
          </a:prstGeom>
          <a:noFill/>
        </p:spPr>
        <p:txBody>
          <a:bodyPr wrap="square" rtlCol="0">
            <a:spAutoFit/>
          </a:bodyPr>
          <a:lstStyle/>
          <a:p>
            <a:r>
              <a:rPr lang="en-US"/>
              <a:t>The system is configured with a MongoDB Replica Set consisting of three nodes.</a:t>
            </a:r>
          </a:p>
          <a:p>
            <a:endParaRPr lang="en-US"/>
          </a:p>
          <a:p>
            <a:r>
              <a:rPr lang="en-US"/>
              <a:t>Replica Set configuration is defined in the connection string as follows:</a:t>
            </a:r>
          </a:p>
          <a:p>
            <a:r>
              <a:rPr lang="en-US"/>
              <a:t>mongodb://localhost:27017,localhost:27018,localhost:27019/myfuture lsmsdb 2025?replicaSet=rs0&amp;w=majority&amp;readPreference=primary&amp;retryWrites=true</a:t>
            </a:r>
          </a:p>
          <a:p>
            <a:endParaRPr lang="en-US"/>
          </a:p>
          <a:p>
            <a:r>
              <a:rPr lang="en-US"/>
              <a:t>We chose this specific configuration based on the following architectural principles:</a:t>
            </a:r>
          </a:p>
          <a:p>
            <a:r>
              <a:rPr lang="en-US"/>
              <a:t>• </a:t>
            </a:r>
            <a:r>
              <a:rPr lang="en-US" b="1"/>
              <a:t>w=majority (Write Concern): </a:t>
            </a:r>
            <a:r>
              <a:rPr lang="en-US"/>
              <a:t>setting the write concern to majority, a write operation is considered successful only after it has been acknowl-edged by at least two out of the three nodes. This protects the system against data loss; if the primary node fails immediately after an acknowledgment, the data is guaranteed to exist on at least one secondary node that can be elected as the new primary.</a:t>
            </a:r>
          </a:p>
          <a:p>
            <a:r>
              <a:rPr lang="en-US"/>
              <a:t>• </a:t>
            </a:r>
            <a:r>
              <a:rPr lang="en-US" b="1"/>
              <a:t>readPreference=primary (Strict Consistency): </a:t>
            </a:r>
            <a:r>
              <a:rPr lang="en-US"/>
              <a:t>this system enforces primary reads.</a:t>
            </a:r>
          </a:p>
          <a:p>
            <a:r>
              <a:rPr lang="en-US"/>
              <a:t>It ensures that any read operation reflects the most recent write. Reading from secondaries could lead to ”stale data” due to replication lag.</a:t>
            </a:r>
          </a:p>
          <a:p>
            <a:r>
              <a:rPr lang="en-US"/>
              <a:t>• </a:t>
            </a:r>
            <a:r>
              <a:rPr lang="en-US" b="1"/>
              <a:t>retryWrites=true</a:t>
            </a:r>
            <a:r>
              <a:rPr lang="en-US"/>
              <a:t>: This parameter enhances the system’s resilience. In the event of a</a:t>
            </a:r>
          </a:p>
          <a:p>
            <a:r>
              <a:rPr lang="en-US"/>
              <a:t>transient network error or a primary election, the MongoDB driver automatically retries a</a:t>
            </a:r>
          </a:p>
          <a:p>
            <a:r>
              <a:rPr lang="en-US"/>
              <a:t>failed write operation once. </a:t>
            </a:r>
          </a:p>
        </p:txBody>
      </p:sp>
    </p:spTree>
    <p:extLst>
      <p:ext uri="{BB962C8B-B14F-4D97-AF65-F5344CB8AC3E}">
        <p14:creationId xmlns:p14="http://schemas.microsoft.com/office/powerpoint/2010/main" val="26731683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6CE02-8921-8C38-9F13-1BD65CAC492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4737838-E2DC-7AA2-CBA2-6910158FE55D}"/>
              </a:ext>
            </a:extLst>
          </p:cNvPr>
          <p:cNvSpPr>
            <a:spLocks noGrp="1"/>
          </p:cNvSpPr>
          <p:nvPr>
            <p:ph type="title"/>
          </p:nvPr>
        </p:nvSpPr>
        <p:spPr>
          <a:xfrm>
            <a:off x="-1" y="-285262"/>
            <a:ext cx="9144000" cy="1143000"/>
          </a:xfrm>
        </p:spPr>
        <p:txBody>
          <a:bodyPr>
            <a:normAutofit/>
          </a:bodyPr>
          <a:lstStyle/>
          <a:p>
            <a:r>
              <a:rPr lang="en-US" dirty="0"/>
              <a:t>Handling Intra-DB Consistency </a:t>
            </a:r>
          </a:p>
        </p:txBody>
      </p:sp>
      <p:sp>
        <p:nvSpPr>
          <p:cNvPr id="3" name="CasellaDiTesto 2">
            <a:extLst>
              <a:ext uri="{FF2B5EF4-FFF2-40B4-BE49-F238E27FC236}">
                <a16:creationId xmlns:a16="http://schemas.microsoft.com/office/drawing/2014/main" id="{02177F3E-F8E6-CA29-65A7-EE7F94D58526}"/>
              </a:ext>
            </a:extLst>
          </p:cNvPr>
          <p:cNvSpPr txBox="1"/>
          <p:nvPr/>
        </p:nvSpPr>
        <p:spPr>
          <a:xfrm>
            <a:off x="-1" y="417689"/>
            <a:ext cx="9144000" cy="6186309"/>
          </a:xfrm>
          <a:prstGeom prst="rect">
            <a:avLst/>
          </a:prstGeom>
          <a:noFill/>
        </p:spPr>
        <p:txBody>
          <a:bodyPr wrap="square" rtlCol="0">
            <a:spAutoFit/>
          </a:bodyPr>
          <a:lstStyle/>
          <a:p>
            <a:r>
              <a:rPr lang="en-US" b="1"/>
              <a:t>Synchronization Strategy</a:t>
            </a:r>
          </a:p>
          <a:p>
            <a:pPr marL="285750" indent="-285750">
              <a:buFont typeface="Arial" panose="020B0604020202020204" pitchFamily="34" charset="0"/>
              <a:buChar char="•"/>
            </a:pPr>
            <a:r>
              <a:rPr lang="en-US"/>
              <a:t>Operations are first persisted in MongoDB.</a:t>
            </a:r>
          </a:p>
          <a:p>
            <a:pPr marL="285750" indent="-285750">
              <a:buFont typeface="Arial" panose="020B0604020202020204" pitchFamily="34" charset="0"/>
              <a:buChar char="•"/>
            </a:pPr>
            <a:r>
              <a:rPr lang="en-US"/>
              <a:t>Upon a successful commit, the Redis cache (e.g., user cache, news) is immediately updated.</a:t>
            </a:r>
          </a:p>
          <a:p>
            <a:pPr marL="285750" indent="-285750">
              <a:buFont typeface="Arial" panose="020B0604020202020204" pitchFamily="34" charset="0"/>
              <a:buChar char="•"/>
            </a:pPr>
            <a:r>
              <a:rPr lang="en-US" b="1"/>
              <a:t>Recovery:</a:t>
            </a:r>
            <a:r>
              <a:rPr lang="en-US"/>
              <a:t> If Redis crashes, the state is fully reconstructed from MongoDB.</a:t>
            </a:r>
            <a:br>
              <a:rPr lang="en-US"/>
            </a:br>
            <a:endParaRPr lang="en-US"/>
          </a:p>
          <a:p>
            <a:r>
              <a:rPr lang="it-IT" b="1"/>
              <a:t>Hybrid Consistency Model</a:t>
            </a:r>
            <a:endParaRPr lang="it-IT"/>
          </a:p>
          <a:p>
            <a:pPr marL="285750" indent="-285750">
              <a:buFont typeface="Arial" panose="020B0604020202020204" pitchFamily="34" charset="0"/>
              <a:buChar char="•"/>
            </a:pPr>
            <a:r>
              <a:rPr lang="it-IT" b="1"/>
              <a:t>Strict Consistency (CP) for Financials:</a:t>
            </a:r>
            <a:r>
              <a:rPr lang="it-IT"/>
              <a:t> Critical data (User, Current Prices) is routed exclusively to the </a:t>
            </a:r>
            <a:r>
              <a:rPr lang="it-IT" u="sng"/>
              <a:t>Redis Master</a:t>
            </a:r>
            <a:r>
              <a:rPr lang="it-IT"/>
              <a:t>.</a:t>
            </a:r>
          </a:p>
          <a:p>
            <a:pPr marL="285750" indent="-285750">
              <a:buFont typeface="Arial" panose="020B0604020202020204" pitchFamily="34" charset="0"/>
              <a:buChar char="•"/>
            </a:pPr>
            <a:r>
              <a:rPr lang="it-IT" b="1"/>
              <a:t>Eventual Consistency (AP) for Insights:</a:t>
            </a:r>
            <a:r>
              <a:rPr lang="it-IT"/>
              <a:t> Non-critical data (News, Market Rankings, Historical Charts) is served via </a:t>
            </a:r>
            <a:r>
              <a:rPr lang="it-IT" b="1"/>
              <a:t>Redis Replicas</a:t>
            </a:r>
            <a:r>
              <a:rPr lang="it-IT"/>
              <a:t> to maximize UI responsiveness.</a:t>
            </a:r>
          </a:p>
          <a:p>
            <a:endParaRPr lang="en-US"/>
          </a:p>
          <a:p>
            <a:r>
              <a:rPr lang="en-US" b="1"/>
              <a:t>Persistence Policy: Scheduled Flushes &amp; Data Lifecycle</a:t>
            </a:r>
          </a:p>
          <a:p>
            <a:r>
              <a:rPr lang="en-US"/>
              <a:t>In this architecture MongoDB serves as the definitive source of truth for all persistent records, while Redis acts as a high-performance layer for frequently accessed data and volatile real-time metrics.</a:t>
            </a:r>
          </a:p>
          <a:p>
            <a:pPr marL="285750" indent="-285750">
              <a:buFont typeface="Arial" panose="020B0604020202020204" pitchFamily="34" charset="0"/>
              <a:buChar char="•"/>
            </a:pPr>
            <a:r>
              <a:rPr lang="en-US" b="1"/>
              <a:t>Real-Time Data Management:</a:t>
            </a:r>
            <a:r>
              <a:rPr lang="en-US"/>
              <a:t> During market hours, high-frequency price samples are captured and stored in Redis. This ensures very low latency for "Current Price" lookups and live "Intraday" chart rendering without overloading the primary database.</a:t>
            </a:r>
          </a:p>
          <a:p>
            <a:pPr marL="285750" indent="-285750">
              <a:buFont typeface="Arial" panose="020B0604020202020204" pitchFamily="34" charset="0"/>
              <a:buChar char="•"/>
            </a:pPr>
            <a:r>
              <a:rPr lang="en-US" b="1"/>
              <a:t>Market-Close Aggregation:</a:t>
            </a:r>
            <a:r>
              <a:rPr lang="en-US"/>
              <a:t> the system performs a Scheduled aggregation and Flush at market close. During this process, intraday samples are aggregated into </a:t>
            </a:r>
            <a:r>
              <a:rPr lang="en-US" b="1"/>
              <a:t>OHLC</a:t>
            </a:r>
            <a:r>
              <a:rPr lang="en-US"/>
              <a:t> summaries. These summaries are then persisted as single doc in the MongoDB asset_prices collection..</a:t>
            </a:r>
          </a:p>
          <a:p>
            <a:endParaRPr lang="en-US" i="1" dirty="0"/>
          </a:p>
        </p:txBody>
      </p:sp>
    </p:spTree>
    <p:extLst>
      <p:ext uri="{BB962C8B-B14F-4D97-AF65-F5344CB8AC3E}">
        <p14:creationId xmlns:p14="http://schemas.microsoft.com/office/powerpoint/2010/main" val="18116753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5B577-9733-91DB-3BC6-3CD03361EE0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675A532-24A0-2232-DB32-C297C091D948}"/>
              </a:ext>
            </a:extLst>
          </p:cNvPr>
          <p:cNvSpPr>
            <a:spLocks noGrp="1"/>
          </p:cNvSpPr>
          <p:nvPr>
            <p:ph type="title"/>
          </p:nvPr>
        </p:nvSpPr>
        <p:spPr/>
        <p:txBody>
          <a:bodyPr>
            <a:normAutofit/>
          </a:bodyPr>
          <a:lstStyle/>
          <a:p>
            <a:r>
              <a:rPr lang="en-US" dirty="0"/>
              <a:t>Swagger UI REST APIs documentation</a:t>
            </a:r>
          </a:p>
        </p:txBody>
      </p:sp>
      <p:sp>
        <p:nvSpPr>
          <p:cNvPr id="3" name="CasellaDiTesto 2">
            <a:extLst>
              <a:ext uri="{FF2B5EF4-FFF2-40B4-BE49-F238E27FC236}">
                <a16:creationId xmlns:a16="http://schemas.microsoft.com/office/drawing/2014/main" id="{DD0357CA-4780-F14A-BF81-59A761887C71}"/>
              </a:ext>
            </a:extLst>
          </p:cNvPr>
          <p:cNvSpPr txBox="1"/>
          <p:nvPr/>
        </p:nvSpPr>
        <p:spPr>
          <a:xfrm>
            <a:off x="816232" y="1048427"/>
            <a:ext cx="7494814" cy="461665"/>
          </a:xfrm>
          <a:prstGeom prst="rect">
            <a:avLst/>
          </a:prstGeom>
          <a:noFill/>
        </p:spPr>
        <p:txBody>
          <a:bodyPr wrap="square" rtlCol="0">
            <a:spAutoFit/>
          </a:bodyPr>
          <a:lstStyle/>
          <a:p>
            <a:pPr algn="ctr"/>
            <a:r>
              <a:rPr lang="en-US" sz="2400" i="1"/>
              <a:t>Unregistered User API</a:t>
            </a:r>
            <a:endParaRPr lang="en-US" sz="2400" i="1" dirty="0"/>
          </a:p>
        </p:txBody>
      </p:sp>
      <p:pic>
        <p:nvPicPr>
          <p:cNvPr id="5" name="Immagine 4" descr="Immagine che contiene testo, schermata, software, Software multimediale&#10;&#10;Il contenuto generato dall'IA potrebbe non essere corretto.">
            <a:extLst>
              <a:ext uri="{FF2B5EF4-FFF2-40B4-BE49-F238E27FC236}">
                <a16:creationId xmlns:a16="http://schemas.microsoft.com/office/drawing/2014/main" id="{0D26117A-CA05-F579-ADE4-4BEC09AC6265}"/>
              </a:ext>
            </a:extLst>
          </p:cNvPr>
          <p:cNvPicPr>
            <a:picLocks noChangeAspect="1"/>
          </p:cNvPicPr>
          <p:nvPr/>
        </p:nvPicPr>
        <p:blipFill>
          <a:blip r:embed="rId2"/>
          <a:stretch>
            <a:fillRect/>
          </a:stretch>
        </p:blipFill>
        <p:spPr>
          <a:xfrm>
            <a:off x="182741" y="1817612"/>
            <a:ext cx="8746660" cy="3222775"/>
          </a:xfrm>
          <a:prstGeom prst="rect">
            <a:avLst/>
          </a:prstGeom>
        </p:spPr>
      </p:pic>
    </p:spTree>
    <p:extLst>
      <p:ext uri="{BB962C8B-B14F-4D97-AF65-F5344CB8AC3E}">
        <p14:creationId xmlns:p14="http://schemas.microsoft.com/office/powerpoint/2010/main" val="16002911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3991E-23C9-9265-4385-7149EFB8B7A4}"/>
            </a:ext>
          </a:extLst>
        </p:cNvPr>
        <p:cNvGrpSpPr/>
        <p:nvPr/>
      </p:nvGrpSpPr>
      <p:grpSpPr>
        <a:xfrm>
          <a:off x="0" y="0"/>
          <a:ext cx="0" cy="0"/>
          <a:chOff x="0" y="0"/>
          <a:chExt cx="0" cy="0"/>
        </a:xfrm>
      </p:grpSpPr>
      <p:sp>
        <p:nvSpPr>
          <p:cNvPr id="3" name="CasellaDiTesto 2">
            <a:extLst>
              <a:ext uri="{FF2B5EF4-FFF2-40B4-BE49-F238E27FC236}">
                <a16:creationId xmlns:a16="http://schemas.microsoft.com/office/drawing/2014/main" id="{FA5D2F50-7D88-499C-A494-58DB3F1114B8}"/>
              </a:ext>
            </a:extLst>
          </p:cNvPr>
          <p:cNvSpPr txBox="1"/>
          <p:nvPr/>
        </p:nvSpPr>
        <p:spPr>
          <a:xfrm>
            <a:off x="824593" y="152104"/>
            <a:ext cx="7494814" cy="461665"/>
          </a:xfrm>
          <a:prstGeom prst="rect">
            <a:avLst/>
          </a:prstGeom>
          <a:noFill/>
        </p:spPr>
        <p:txBody>
          <a:bodyPr wrap="square" rtlCol="0">
            <a:spAutoFit/>
          </a:bodyPr>
          <a:lstStyle/>
          <a:p>
            <a:pPr algn="ctr"/>
            <a:r>
              <a:rPr lang="en-US" sz="2400" i="1"/>
              <a:t>Registered User API (Aggregation)</a:t>
            </a:r>
            <a:endParaRPr lang="en-US" sz="2400" i="1" dirty="0"/>
          </a:p>
        </p:txBody>
      </p:sp>
      <p:pic>
        <p:nvPicPr>
          <p:cNvPr id="9" name="Immagine 8" descr="Immagine che contiene schermata, testo&#10;&#10;Il contenuto generato dall'IA potrebbe non essere corretto.">
            <a:extLst>
              <a:ext uri="{FF2B5EF4-FFF2-40B4-BE49-F238E27FC236}">
                <a16:creationId xmlns:a16="http://schemas.microsoft.com/office/drawing/2014/main" id="{1CBAF6E4-C26F-ED32-3A03-59C6A1C8F6B2}"/>
              </a:ext>
            </a:extLst>
          </p:cNvPr>
          <p:cNvPicPr>
            <a:picLocks noChangeAspect="1"/>
          </p:cNvPicPr>
          <p:nvPr/>
        </p:nvPicPr>
        <p:blipFill>
          <a:blip r:embed="rId3"/>
          <a:stretch>
            <a:fillRect/>
          </a:stretch>
        </p:blipFill>
        <p:spPr>
          <a:xfrm>
            <a:off x="371475" y="2308665"/>
            <a:ext cx="8401050" cy="2240670"/>
          </a:xfrm>
          <a:prstGeom prst="rect">
            <a:avLst/>
          </a:prstGeom>
        </p:spPr>
      </p:pic>
    </p:spTree>
    <p:extLst>
      <p:ext uri="{BB962C8B-B14F-4D97-AF65-F5344CB8AC3E}">
        <p14:creationId xmlns:p14="http://schemas.microsoft.com/office/powerpoint/2010/main" val="31239128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379A8-27B7-86BB-653F-F2F1CF32E00C}"/>
            </a:ext>
          </a:extLst>
        </p:cNvPr>
        <p:cNvGrpSpPr/>
        <p:nvPr/>
      </p:nvGrpSpPr>
      <p:grpSpPr>
        <a:xfrm>
          <a:off x="0" y="0"/>
          <a:ext cx="0" cy="0"/>
          <a:chOff x="0" y="0"/>
          <a:chExt cx="0" cy="0"/>
        </a:xfrm>
      </p:grpSpPr>
      <p:sp>
        <p:nvSpPr>
          <p:cNvPr id="3" name="CasellaDiTesto 2">
            <a:extLst>
              <a:ext uri="{FF2B5EF4-FFF2-40B4-BE49-F238E27FC236}">
                <a16:creationId xmlns:a16="http://schemas.microsoft.com/office/drawing/2014/main" id="{D0A9400D-65E1-5787-C644-9F4EC5D73F1F}"/>
              </a:ext>
            </a:extLst>
          </p:cNvPr>
          <p:cNvSpPr txBox="1"/>
          <p:nvPr/>
        </p:nvSpPr>
        <p:spPr>
          <a:xfrm>
            <a:off x="824593" y="152104"/>
            <a:ext cx="7494814" cy="461665"/>
          </a:xfrm>
          <a:prstGeom prst="rect">
            <a:avLst/>
          </a:prstGeom>
          <a:noFill/>
        </p:spPr>
        <p:txBody>
          <a:bodyPr wrap="square" rtlCol="0">
            <a:spAutoFit/>
          </a:bodyPr>
          <a:lstStyle/>
          <a:p>
            <a:pPr algn="ctr"/>
            <a:r>
              <a:rPr lang="en-US" sz="2400" i="1"/>
              <a:t>Admin API (CRUD)</a:t>
            </a:r>
            <a:endParaRPr lang="en-US" sz="2400" i="1" dirty="0"/>
          </a:p>
        </p:txBody>
      </p:sp>
      <p:pic>
        <p:nvPicPr>
          <p:cNvPr id="4" name="Immagine 3" descr="Immagine che contiene testo, schermata, Policromia, software&#10;&#10;Il contenuto generato dall'IA potrebbe non essere corretto.">
            <a:extLst>
              <a:ext uri="{FF2B5EF4-FFF2-40B4-BE49-F238E27FC236}">
                <a16:creationId xmlns:a16="http://schemas.microsoft.com/office/drawing/2014/main" id="{AE1D6D82-0238-F1EB-79E8-A7B149784761}"/>
              </a:ext>
            </a:extLst>
          </p:cNvPr>
          <p:cNvPicPr>
            <a:picLocks noChangeAspect="1"/>
          </p:cNvPicPr>
          <p:nvPr/>
        </p:nvPicPr>
        <p:blipFill>
          <a:blip r:embed="rId3"/>
          <a:stretch>
            <a:fillRect/>
          </a:stretch>
        </p:blipFill>
        <p:spPr>
          <a:xfrm>
            <a:off x="1992982" y="613769"/>
            <a:ext cx="5674644" cy="5585232"/>
          </a:xfrm>
          <a:prstGeom prst="rect">
            <a:avLst/>
          </a:prstGeom>
        </p:spPr>
      </p:pic>
    </p:spTree>
    <p:extLst>
      <p:ext uri="{BB962C8B-B14F-4D97-AF65-F5344CB8AC3E}">
        <p14:creationId xmlns:p14="http://schemas.microsoft.com/office/powerpoint/2010/main" val="8692002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4E1C2-5B16-563F-B14A-9F0FAEF18E41}"/>
            </a:ext>
          </a:extLst>
        </p:cNvPr>
        <p:cNvGrpSpPr/>
        <p:nvPr/>
      </p:nvGrpSpPr>
      <p:grpSpPr>
        <a:xfrm>
          <a:off x="0" y="0"/>
          <a:ext cx="0" cy="0"/>
          <a:chOff x="0" y="0"/>
          <a:chExt cx="0" cy="0"/>
        </a:xfrm>
      </p:grpSpPr>
      <p:sp>
        <p:nvSpPr>
          <p:cNvPr id="3" name="CasellaDiTesto 2">
            <a:extLst>
              <a:ext uri="{FF2B5EF4-FFF2-40B4-BE49-F238E27FC236}">
                <a16:creationId xmlns:a16="http://schemas.microsoft.com/office/drawing/2014/main" id="{E2AF5AEF-B69D-689D-599C-ABA5302CD5FC}"/>
              </a:ext>
            </a:extLst>
          </p:cNvPr>
          <p:cNvSpPr txBox="1"/>
          <p:nvPr/>
        </p:nvSpPr>
        <p:spPr>
          <a:xfrm>
            <a:off x="824593" y="152104"/>
            <a:ext cx="7494814" cy="461665"/>
          </a:xfrm>
          <a:prstGeom prst="rect">
            <a:avLst/>
          </a:prstGeom>
          <a:noFill/>
        </p:spPr>
        <p:txBody>
          <a:bodyPr wrap="square" rtlCol="0">
            <a:spAutoFit/>
          </a:bodyPr>
          <a:lstStyle/>
          <a:p>
            <a:pPr algn="ctr"/>
            <a:r>
              <a:rPr lang="en-US" sz="2400" i="1"/>
              <a:t>Admin API (CRUD + aggregation)</a:t>
            </a:r>
            <a:endParaRPr lang="en-US" sz="2400" i="1" dirty="0"/>
          </a:p>
        </p:txBody>
      </p:sp>
      <p:pic>
        <p:nvPicPr>
          <p:cNvPr id="4" name="Immagine 3" descr="Immagine che contiene testo, schermata&#10;&#10;Il contenuto generato dall'IA potrebbe non essere corretto.">
            <a:extLst>
              <a:ext uri="{FF2B5EF4-FFF2-40B4-BE49-F238E27FC236}">
                <a16:creationId xmlns:a16="http://schemas.microsoft.com/office/drawing/2014/main" id="{EF788C7E-D43B-2105-8A9C-2198DC06F8FC}"/>
              </a:ext>
            </a:extLst>
          </p:cNvPr>
          <p:cNvPicPr>
            <a:picLocks noChangeAspect="1"/>
          </p:cNvPicPr>
          <p:nvPr/>
        </p:nvPicPr>
        <p:blipFill>
          <a:blip r:embed="rId3"/>
          <a:stretch>
            <a:fillRect/>
          </a:stretch>
        </p:blipFill>
        <p:spPr>
          <a:xfrm>
            <a:off x="1415143" y="525169"/>
            <a:ext cx="6904264" cy="5807662"/>
          </a:xfrm>
          <a:prstGeom prst="rect">
            <a:avLst/>
          </a:prstGeom>
        </p:spPr>
      </p:pic>
    </p:spTree>
    <p:extLst>
      <p:ext uri="{BB962C8B-B14F-4D97-AF65-F5344CB8AC3E}">
        <p14:creationId xmlns:p14="http://schemas.microsoft.com/office/powerpoint/2010/main" val="16863532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6A919-8F80-817E-6217-1B47AF2AD01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ACEA642-FC4C-27DE-CD9F-9D8346EB3094}"/>
              </a:ext>
            </a:extLst>
          </p:cNvPr>
          <p:cNvSpPr>
            <a:spLocks noGrp="1"/>
          </p:cNvSpPr>
          <p:nvPr>
            <p:ph type="title"/>
          </p:nvPr>
        </p:nvSpPr>
        <p:spPr>
          <a:xfrm>
            <a:off x="191101" y="2857500"/>
            <a:ext cx="8761797" cy="1143000"/>
          </a:xfrm>
        </p:spPr>
        <p:txBody>
          <a:bodyPr>
            <a:normAutofit/>
          </a:bodyPr>
          <a:lstStyle/>
          <a:p>
            <a:r>
              <a:rPr lang="en-US" dirty="0"/>
              <a:t>Live Demo with Postman</a:t>
            </a:r>
          </a:p>
        </p:txBody>
      </p:sp>
    </p:spTree>
    <p:extLst>
      <p:ext uri="{BB962C8B-B14F-4D97-AF65-F5344CB8AC3E}">
        <p14:creationId xmlns:p14="http://schemas.microsoft.com/office/powerpoint/2010/main" val="36270921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CCED1-CCEE-3D71-C68C-642A565E2A9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ABABC76-0E11-B376-ABBA-00E4AAA70EAA}"/>
              </a:ext>
            </a:extLst>
          </p:cNvPr>
          <p:cNvSpPr>
            <a:spLocks noGrp="1"/>
          </p:cNvSpPr>
          <p:nvPr>
            <p:ph type="title"/>
          </p:nvPr>
        </p:nvSpPr>
        <p:spPr>
          <a:xfrm>
            <a:off x="100790" y="-361463"/>
            <a:ext cx="8761797" cy="1143000"/>
          </a:xfrm>
        </p:spPr>
        <p:txBody>
          <a:bodyPr>
            <a:normAutofit/>
          </a:bodyPr>
          <a:lstStyle/>
          <a:p>
            <a:r>
              <a:rPr lang="en-US"/>
              <a:t>Login</a:t>
            </a:r>
            <a:endParaRPr lang="en-US" dirty="0"/>
          </a:p>
        </p:txBody>
      </p:sp>
      <p:pic>
        <p:nvPicPr>
          <p:cNvPr id="5" name="Immagine 4" descr="Immagine che contiene testo, software, Icona del computer, numero&#10;&#10;Il contenuto generato dall'IA potrebbe non essere corretto.">
            <a:extLst>
              <a:ext uri="{FF2B5EF4-FFF2-40B4-BE49-F238E27FC236}">
                <a16:creationId xmlns:a16="http://schemas.microsoft.com/office/drawing/2014/main" id="{DB0777E1-7AD6-33E9-29AD-2DB220252B82}"/>
              </a:ext>
            </a:extLst>
          </p:cNvPr>
          <p:cNvPicPr>
            <a:picLocks noChangeAspect="1"/>
          </p:cNvPicPr>
          <p:nvPr/>
        </p:nvPicPr>
        <p:blipFill>
          <a:blip r:embed="rId2"/>
          <a:stretch>
            <a:fillRect/>
          </a:stretch>
        </p:blipFill>
        <p:spPr>
          <a:xfrm>
            <a:off x="1085453" y="568472"/>
            <a:ext cx="6973094" cy="3103147"/>
          </a:xfrm>
          <a:prstGeom prst="rect">
            <a:avLst/>
          </a:prstGeom>
        </p:spPr>
      </p:pic>
      <p:pic>
        <p:nvPicPr>
          <p:cNvPr id="4" name="Immagine 3" descr="Immagine che contiene schermata, testo, linea&#10;&#10;Il contenuto generato dall'IA potrebbe non essere corretto.">
            <a:extLst>
              <a:ext uri="{FF2B5EF4-FFF2-40B4-BE49-F238E27FC236}">
                <a16:creationId xmlns:a16="http://schemas.microsoft.com/office/drawing/2014/main" id="{50468728-C47E-BFC8-D4AA-14E3187C0B82}"/>
              </a:ext>
            </a:extLst>
          </p:cNvPr>
          <p:cNvPicPr>
            <a:picLocks noChangeAspect="1"/>
          </p:cNvPicPr>
          <p:nvPr/>
        </p:nvPicPr>
        <p:blipFill>
          <a:blip r:embed="rId3"/>
          <a:stretch>
            <a:fillRect/>
          </a:stretch>
        </p:blipFill>
        <p:spPr>
          <a:xfrm>
            <a:off x="1085453" y="3720282"/>
            <a:ext cx="6973094" cy="2569246"/>
          </a:xfrm>
          <a:prstGeom prst="rect">
            <a:avLst/>
          </a:prstGeom>
        </p:spPr>
      </p:pic>
    </p:spTree>
    <p:extLst>
      <p:ext uri="{BB962C8B-B14F-4D97-AF65-F5344CB8AC3E}">
        <p14:creationId xmlns:p14="http://schemas.microsoft.com/office/powerpoint/2010/main" val="28169712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5FD89-4610-1B58-1AB0-5B6C2BB71BB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641E5CA-9502-2A70-9DCE-DF5394391FA5}"/>
              </a:ext>
            </a:extLst>
          </p:cNvPr>
          <p:cNvSpPr>
            <a:spLocks noGrp="1"/>
          </p:cNvSpPr>
          <p:nvPr>
            <p:ph type="title"/>
          </p:nvPr>
        </p:nvSpPr>
        <p:spPr>
          <a:xfrm>
            <a:off x="100790" y="-42552"/>
            <a:ext cx="8761797" cy="1143000"/>
          </a:xfrm>
        </p:spPr>
        <p:txBody>
          <a:bodyPr>
            <a:normAutofit/>
          </a:bodyPr>
          <a:lstStyle/>
          <a:p>
            <a:r>
              <a:rPr lang="en-US"/>
              <a:t>Logout</a:t>
            </a:r>
            <a:endParaRPr lang="en-US" dirty="0"/>
          </a:p>
        </p:txBody>
      </p:sp>
      <p:pic>
        <p:nvPicPr>
          <p:cNvPr id="6" name="Immagine 5" descr="Immagine che contiene schermata, software, testo&#10;&#10;Il contenuto generato dall'IA potrebbe non essere corretto.">
            <a:extLst>
              <a:ext uri="{FF2B5EF4-FFF2-40B4-BE49-F238E27FC236}">
                <a16:creationId xmlns:a16="http://schemas.microsoft.com/office/drawing/2014/main" id="{C46EE81F-B188-9E77-749E-B965704F8CF1}"/>
              </a:ext>
            </a:extLst>
          </p:cNvPr>
          <p:cNvPicPr>
            <a:picLocks noChangeAspect="1"/>
          </p:cNvPicPr>
          <p:nvPr/>
        </p:nvPicPr>
        <p:blipFill>
          <a:blip r:embed="rId2"/>
          <a:stretch>
            <a:fillRect/>
          </a:stretch>
        </p:blipFill>
        <p:spPr>
          <a:xfrm>
            <a:off x="0" y="1670538"/>
            <a:ext cx="9144000" cy="3516923"/>
          </a:xfrm>
          <a:prstGeom prst="rect">
            <a:avLst/>
          </a:prstGeom>
        </p:spPr>
      </p:pic>
    </p:spTree>
    <p:extLst>
      <p:ext uri="{BB962C8B-B14F-4D97-AF65-F5344CB8AC3E}">
        <p14:creationId xmlns:p14="http://schemas.microsoft.com/office/powerpoint/2010/main" val="19946113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8073A-22DB-1B5F-77D6-728CC8F275E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EFB9083-6BF9-6167-0604-C47F139CFFB4}"/>
              </a:ext>
            </a:extLst>
          </p:cNvPr>
          <p:cNvSpPr>
            <a:spLocks noGrp="1"/>
          </p:cNvSpPr>
          <p:nvPr>
            <p:ph type="title"/>
          </p:nvPr>
        </p:nvSpPr>
        <p:spPr>
          <a:xfrm>
            <a:off x="191101" y="-303622"/>
            <a:ext cx="8761797" cy="1143000"/>
          </a:xfrm>
        </p:spPr>
        <p:txBody>
          <a:bodyPr>
            <a:normAutofit/>
          </a:bodyPr>
          <a:lstStyle/>
          <a:p>
            <a:r>
              <a:rPr lang="en-US"/>
              <a:t>Register</a:t>
            </a:r>
            <a:endParaRPr lang="en-US" dirty="0"/>
          </a:p>
        </p:txBody>
      </p:sp>
      <p:pic>
        <p:nvPicPr>
          <p:cNvPr id="4" name="Immagine 3" descr="Immagine che contiene schermata, testo, software&#10;&#10;Il contenuto generato dall'IA potrebbe non essere corretto.">
            <a:extLst>
              <a:ext uri="{FF2B5EF4-FFF2-40B4-BE49-F238E27FC236}">
                <a16:creationId xmlns:a16="http://schemas.microsoft.com/office/drawing/2014/main" id="{208B746E-84BC-7B1A-54EC-19BD415F1011}"/>
              </a:ext>
            </a:extLst>
          </p:cNvPr>
          <p:cNvPicPr>
            <a:picLocks noChangeAspect="1"/>
          </p:cNvPicPr>
          <p:nvPr/>
        </p:nvPicPr>
        <p:blipFill>
          <a:blip r:embed="rId2"/>
          <a:stretch>
            <a:fillRect/>
          </a:stretch>
        </p:blipFill>
        <p:spPr>
          <a:xfrm>
            <a:off x="979735" y="495285"/>
            <a:ext cx="7184529" cy="2765180"/>
          </a:xfrm>
          <a:prstGeom prst="rect">
            <a:avLst/>
          </a:prstGeom>
        </p:spPr>
      </p:pic>
      <p:pic>
        <p:nvPicPr>
          <p:cNvPr id="7" name="Immagine 6" descr="Immagine che contiene testo, software, numero, Icona del computer&#10;&#10;Il contenuto generato dall'IA potrebbe non essere corretto.">
            <a:extLst>
              <a:ext uri="{FF2B5EF4-FFF2-40B4-BE49-F238E27FC236}">
                <a16:creationId xmlns:a16="http://schemas.microsoft.com/office/drawing/2014/main" id="{076E5090-6561-77C2-A282-AE9175D94B9B}"/>
              </a:ext>
            </a:extLst>
          </p:cNvPr>
          <p:cNvPicPr>
            <a:picLocks noChangeAspect="1"/>
          </p:cNvPicPr>
          <p:nvPr/>
        </p:nvPicPr>
        <p:blipFill>
          <a:blip r:embed="rId3"/>
          <a:stretch>
            <a:fillRect/>
          </a:stretch>
        </p:blipFill>
        <p:spPr>
          <a:xfrm>
            <a:off x="1022493" y="3429000"/>
            <a:ext cx="7099014" cy="3186813"/>
          </a:xfrm>
          <a:prstGeom prst="rect">
            <a:avLst/>
          </a:prstGeom>
        </p:spPr>
      </p:pic>
    </p:spTree>
    <p:extLst>
      <p:ext uri="{BB962C8B-B14F-4D97-AF65-F5344CB8AC3E}">
        <p14:creationId xmlns:p14="http://schemas.microsoft.com/office/powerpoint/2010/main" val="1957348020"/>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4294</TotalTime>
  <Words>4734</Words>
  <Application>Microsoft Office PowerPoint</Application>
  <PresentationFormat>Presentazione su schermo (4:3)</PresentationFormat>
  <Paragraphs>320</Paragraphs>
  <Slides>51</Slides>
  <Notes>3</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51</vt:i4>
      </vt:variant>
    </vt:vector>
  </HeadingPairs>
  <TitlesOfParts>
    <vt:vector size="54" baseType="lpstr">
      <vt:lpstr>Arial</vt:lpstr>
      <vt:lpstr>Calibri</vt:lpstr>
      <vt:lpstr>Tema di Office</vt:lpstr>
      <vt:lpstr>Large-Scale and Multi-Structured Databases Project Design MyFuture</vt:lpstr>
      <vt:lpstr>Application Highlights</vt:lpstr>
      <vt:lpstr>Actors and Use cases</vt:lpstr>
      <vt:lpstr>Dataset Description</vt:lpstr>
      <vt:lpstr>UML Design Class Diagram</vt:lpstr>
      <vt:lpstr>Why MongoDB</vt:lpstr>
      <vt:lpstr>Why Redis</vt:lpstr>
      <vt:lpstr>MongoDB: relationship modeling</vt:lpstr>
      <vt:lpstr>System assumptions – request data</vt:lpstr>
      <vt:lpstr>System assumptions – user behavior</vt:lpstr>
      <vt:lpstr>System assumptions - market</vt:lpstr>
      <vt:lpstr>User ↔ Asset relationship modeling</vt:lpstr>
      <vt:lpstr>User/Asset ↔ Transaction R. modeling</vt:lpstr>
      <vt:lpstr>Asset ↔ Asset Prices R. modeling</vt:lpstr>
      <vt:lpstr>Benchmark for the choices (0)</vt:lpstr>
      <vt:lpstr>Benchmark for the choices (1)</vt:lpstr>
      <vt:lpstr>Benchmark for the choices (2)</vt:lpstr>
      <vt:lpstr>MongoDB User Model</vt:lpstr>
      <vt:lpstr>MongoDB Asset/Asset_prices Model</vt:lpstr>
      <vt:lpstr>MongoDB Transactios Model</vt:lpstr>
      <vt:lpstr>MongoDB News/Counters Model</vt:lpstr>
      <vt:lpstr>MongoDB aggregations</vt:lpstr>
      <vt:lpstr>Market Performance Analysis  (Best/Worst Assets)</vt:lpstr>
      <vt:lpstr>(Best/Worst Assets) code</vt:lpstr>
      <vt:lpstr>User Net Financial Flow (Buy/Sell Balance)</vt:lpstr>
      <vt:lpstr>User Net Financial Flow code</vt:lpstr>
      <vt:lpstr>Media Impact &amp; Brand Mentions (News)</vt:lpstr>
      <vt:lpstr>Media Impact &amp; Brand Mentions code</vt:lpstr>
      <vt:lpstr>MongoDB indexes + performance evidence</vt:lpstr>
      <vt:lpstr>Indexes for Users collection</vt:lpstr>
      <vt:lpstr>Indexes for Asset Prices collection</vt:lpstr>
      <vt:lpstr>Indexes for Transactions collection</vt:lpstr>
      <vt:lpstr>Indexes for News collection</vt:lpstr>
      <vt:lpstr>Discussion on MongoDB Data Sharding</vt:lpstr>
      <vt:lpstr>Discussion on MongoDB Data Sharding</vt:lpstr>
      <vt:lpstr>Discussion on MongoDB Data Sharding</vt:lpstr>
      <vt:lpstr>Redis data model</vt:lpstr>
      <vt:lpstr>Asset related data in Redis</vt:lpstr>
      <vt:lpstr>User related data in Redis</vt:lpstr>
      <vt:lpstr>Asset related data in Redis</vt:lpstr>
      <vt:lpstr>CAP Theorem positioning + replica set </vt:lpstr>
      <vt:lpstr>MongoDB Replica Set Configuration</vt:lpstr>
      <vt:lpstr>Handling Intra-DB Consistency </vt:lpstr>
      <vt:lpstr>Swagger UI REST APIs documentation</vt:lpstr>
      <vt:lpstr>Presentazione standard di PowerPoint</vt:lpstr>
      <vt:lpstr>Presentazione standard di PowerPoint</vt:lpstr>
      <vt:lpstr>Presentazione standard di PowerPoint</vt:lpstr>
      <vt:lpstr>Live Demo with Postman</vt:lpstr>
      <vt:lpstr>Login</vt:lpstr>
      <vt:lpstr>Logout</vt:lpstr>
      <vt:lpstr>Register</vt:lpstr>
    </vt:vector>
  </TitlesOfParts>
  <Company>Università di Pisa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Large Scale and Non-Structured Databases The Database Revolutions</dc:title>
  <dc:creator>Francesco  Marcelloni</dc:creator>
  <cp:lastModifiedBy>Alessandro Diana</cp:lastModifiedBy>
  <cp:revision>359</cp:revision>
  <dcterms:created xsi:type="dcterms:W3CDTF">2019-07-02T09:26:30Z</dcterms:created>
  <dcterms:modified xsi:type="dcterms:W3CDTF">2026-02-25T09:40:06Z</dcterms:modified>
</cp:coreProperties>
</file>