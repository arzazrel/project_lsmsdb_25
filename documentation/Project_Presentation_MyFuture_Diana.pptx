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85" r:id="rId4"/>
    <p:sldId id="282" r:id="rId5"/>
    <p:sldId id="286" r:id="rId6"/>
    <p:sldId id="287" r:id="rId7"/>
    <p:sldId id="288" r:id="rId8"/>
    <p:sldId id="290" r:id="rId9"/>
    <p:sldId id="291" r:id="rId10"/>
    <p:sldId id="292" r:id="rId11"/>
    <p:sldId id="293" r:id="rId12"/>
    <p:sldId id="294" r:id="rId13"/>
    <p:sldId id="295" r:id="rId14"/>
    <p:sldId id="296" r:id="rId15"/>
    <p:sldId id="297" r:id="rId16"/>
    <p:sldId id="298" r:id="rId17"/>
    <p:sldId id="259" r:id="rId18"/>
    <p:sldId id="266" r:id="rId19"/>
    <p:sldId id="268" r:id="rId20"/>
    <p:sldId id="275" r:id="rId21"/>
    <p:sldId id="276" r:id="rId22"/>
    <p:sldId id="279" r:id="rId23"/>
    <p:sldId id="299" r:id="rId24"/>
    <p:sldId id="300" r:id="rId25"/>
    <p:sldId id="271" r:id="rId26"/>
    <p:sldId id="284" r:id="rId27"/>
    <p:sldId id="278" r:id="rId28"/>
    <p:sldId id="280" r:id="rId29"/>
    <p:sldId id="301" r:id="rId30"/>
    <p:sldId id="302" r:id="rId31"/>
    <p:sldId id="304" r:id="rId32"/>
    <p:sldId id="305" r:id="rId33"/>
    <p:sldId id="281" r:id="rId34"/>
  </p:sldIdLst>
  <p:sldSz cx="9144000" cy="6858000" type="screen4x3"/>
  <p:notesSz cx="6858000" cy="9144000"/>
  <p:defaultText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182"/>
    <p:restoredTop sz="81972" autoAdjust="0"/>
  </p:normalViewPr>
  <p:slideViewPr>
    <p:cSldViewPr snapToGrid="0" snapToObjects="1">
      <p:cViewPr>
        <p:scale>
          <a:sx n="70" d="100"/>
          <a:sy n="70" d="100"/>
        </p:scale>
        <p:origin x="1694" y="38"/>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EF95162-6873-F647-B392-BF6A1F606277}" type="datetimeFigureOut">
              <a:rPr lang="it-IT" smtClean="0"/>
              <a:t>23/02/2026</a:t>
            </a:fld>
            <a:endParaRPr lang="it-IT"/>
          </a:p>
        </p:txBody>
      </p:sp>
      <p:sp>
        <p:nvSpPr>
          <p:cNvPr id="4" name="Segnaposto immagin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0FDF8BA-B6A2-CC4D-B552-37BF044E1040}" type="slidenum">
              <a:rPr lang="it-IT" smtClean="0"/>
              <a:t>‹N›</a:t>
            </a:fld>
            <a:endParaRPr lang="it-IT"/>
          </a:p>
        </p:txBody>
      </p:sp>
    </p:spTree>
    <p:extLst>
      <p:ext uri="{BB962C8B-B14F-4D97-AF65-F5344CB8AC3E}">
        <p14:creationId xmlns:p14="http://schemas.microsoft.com/office/powerpoint/2010/main" val="1146860054"/>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60FDF8BA-B6A2-CC4D-B552-37BF044E1040}" type="slidenum">
              <a:rPr lang="it-IT" smtClean="0"/>
              <a:t>30</a:t>
            </a:fld>
            <a:endParaRPr lang="it-IT"/>
          </a:p>
        </p:txBody>
      </p:sp>
    </p:spTree>
    <p:extLst>
      <p:ext uri="{BB962C8B-B14F-4D97-AF65-F5344CB8AC3E}">
        <p14:creationId xmlns:p14="http://schemas.microsoft.com/office/powerpoint/2010/main" val="888878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6FD76-7889-C0B0-6866-172CD637484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785D6E6-0D73-2189-75D1-BB79ECD9E0A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F3A8735-1909-3B42-60A2-BDEF1741CC64}"/>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5AB6D029-EE77-ED1D-ED7D-52E33D685650}"/>
              </a:ext>
            </a:extLst>
          </p:cNvPr>
          <p:cNvSpPr>
            <a:spLocks noGrp="1"/>
          </p:cNvSpPr>
          <p:nvPr>
            <p:ph type="sldNum" sz="quarter" idx="5"/>
          </p:nvPr>
        </p:nvSpPr>
        <p:spPr/>
        <p:txBody>
          <a:bodyPr/>
          <a:lstStyle/>
          <a:p>
            <a:fld id="{60FDF8BA-B6A2-CC4D-B552-37BF044E1040}" type="slidenum">
              <a:rPr lang="it-IT" smtClean="0"/>
              <a:t>31</a:t>
            </a:fld>
            <a:endParaRPr lang="it-IT"/>
          </a:p>
        </p:txBody>
      </p:sp>
    </p:spTree>
    <p:extLst>
      <p:ext uri="{BB962C8B-B14F-4D97-AF65-F5344CB8AC3E}">
        <p14:creationId xmlns:p14="http://schemas.microsoft.com/office/powerpoint/2010/main" val="3251722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6ED47-3AFB-F5F2-44A0-9A5573EA135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F6EB77F-73EE-EDA6-42BA-75623EFD247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E81A358-AEA3-A234-2499-F9F9AFCE2B14}"/>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1E249FD6-F516-A8E6-A893-363E6DB9426E}"/>
              </a:ext>
            </a:extLst>
          </p:cNvPr>
          <p:cNvSpPr>
            <a:spLocks noGrp="1"/>
          </p:cNvSpPr>
          <p:nvPr>
            <p:ph type="sldNum" sz="quarter" idx="5"/>
          </p:nvPr>
        </p:nvSpPr>
        <p:spPr/>
        <p:txBody>
          <a:bodyPr/>
          <a:lstStyle/>
          <a:p>
            <a:fld id="{60FDF8BA-B6A2-CC4D-B552-37BF044E1040}" type="slidenum">
              <a:rPr lang="it-IT" smtClean="0"/>
              <a:t>32</a:t>
            </a:fld>
            <a:endParaRPr lang="it-IT"/>
          </a:p>
        </p:txBody>
      </p:sp>
    </p:spTree>
    <p:extLst>
      <p:ext uri="{BB962C8B-B14F-4D97-AF65-F5344CB8AC3E}">
        <p14:creationId xmlns:p14="http://schemas.microsoft.com/office/powerpoint/2010/main" val="18305115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5"/>
            <a:ext cx="7772400" cy="1470025"/>
          </a:xfrm>
        </p:spPr>
        <p:txBody>
          <a:bodyPr/>
          <a:lstStyle/>
          <a:p>
            <a:r>
              <a:rPr lang="it-IT"/>
              <a:t>Fare clic per modificare stile</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17808155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4201116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0"/>
            <a:ext cx="7772400" cy="1362075"/>
          </a:xfrm>
        </p:spPr>
        <p:txBody>
          <a:bodyPr anchor="t"/>
          <a:lstStyle>
            <a:lvl1pPr algn="l">
              <a:defRPr sz="4000" b="1" cap="all"/>
            </a:lvl1pPr>
          </a:lstStyle>
          <a:p>
            <a:r>
              <a:rPr lang="it-IT"/>
              <a:t>Fare clic per modificare stile</a:t>
            </a:r>
          </a:p>
        </p:txBody>
      </p:sp>
      <p:sp>
        <p:nvSpPr>
          <p:cNvPr id="3" name="Segnaposto tes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3897685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nuto 2">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938557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lvl1pPr>
              <a:defRPr/>
            </a:lvl1pPr>
          </a:lstStyle>
          <a:p>
            <a:r>
              <a:rPr lang="it-IT"/>
              <a:t>Fare clic per modificare stile</a:t>
            </a:r>
          </a:p>
        </p:txBody>
      </p:sp>
      <p:sp>
        <p:nvSpPr>
          <p:cNvPr id="3" name="Segnaposto tes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8" name="Segnaposto piè di pagina 7"/>
          <p:cNvSpPr>
            <a:spLocks noGrp="1"/>
          </p:cNvSpPr>
          <p:nvPr>
            <p:ph type="ftr" sz="quarter" idx="11"/>
          </p:nvPr>
        </p:nvSpPr>
        <p:spPr>
          <a:xfrm>
            <a:off x="3124200" y="6356350"/>
            <a:ext cx="2895600" cy="365125"/>
          </a:xfrm>
          <a:prstGeom prst="rect">
            <a:avLst/>
          </a:prstGeom>
        </p:spPr>
        <p:txBody>
          <a:bodyPr/>
          <a:lstStyle/>
          <a:p>
            <a:endParaRPr lang="it-IT"/>
          </a:p>
        </p:txBody>
      </p:sp>
      <p:sp>
        <p:nvSpPr>
          <p:cNvPr id="9" name="Segnaposto numero diapositiva 8"/>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3635088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data 2"/>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4" name="Segnaposto piè di pagina 3"/>
          <p:cNvSpPr>
            <a:spLocks noGrp="1"/>
          </p:cNvSpPr>
          <p:nvPr>
            <p:ph type="ftr" sz="quarter" idx="11"/>
          </p:nvPr>
        </p:nvSpPr>
        <p:spPr>
          <a:xfrm>
            <a:off x="3124200" y="6356350"/>
            <a:ext cx="2895600" cy="365125"/>
          </a:xfrm>
          <a:prstGeom prst="rect">
            <a:avLst/>
          </a:prstGeom>
        </p:spPr>
        <p:txBody>
          <a:bodyPr/>
          <a:lstStyle/>
          <a:p>
            <a:endParaRPr lang="it-IT"/>
          </a:p>
        </p:txBody>
      </p:sp>
      <p:sp>
        <p:nvSpPr>
          <p:cNvPr id="5" name="Segnaposto numero diapositiva 4"/>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266758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3" name="Segnaposto piè di pagina 2"/>
          <p:cNvSpPr>
            <a:spLocks noGrp="1"/>
          </p:cNvSpPr>
          <p:nvPr>
            <p:ph type="ftr" sz="quarter" idx="11"/>
          </p:nvPr>
        </p:nvSpPr>
        <p:spPr>
          <a:xfrm>
            <a:off x="3124200" y="6356350"/>
            <a:ext cx="2895600" cy="365125"/>
          </a:xfrm>
          <a:prstGeom prst="rect">
            <a:avLst/>
          </a:prstGeom>
        </p:spPr>
        <p:txBody>
          <a:bodyPr/>
          <a:lstStyle/>
          <a:p>
            <a:endParaRPr lang="it-IT"/>
          </a:p>
        </p:txBody>
      </p:sp>
      <p:sp>
        <p:nvSpPr>
          <p:cNvPr id="4" name="Segnaposto numero diapositiva 3"/>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11242553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457200" y="273050"/>
            <a:ext cx="3008313" cy="1162050"/>
          </a:xfrm>
        </p:spPr>
        <p:txBody>
          <a:bodyPr anchor="b"/>
          <a:lstStyle>
            <a:lvl1pPr algn="l">
              <a:defRPr sz="2000" b="1"/>
            </a:lvl1pPr>
          </a:lstStyle>
          <a:p>
            <a:r>
              <a:rPr lang="it-IT"/>
              <a:t>Fare clic per modificare stile</a:t>
            </a:r>
          </a:p>
        </p:txBody>
      </p:sp>
      <p:sp>
        <p:nvSpPr>
          <p:cNvPr id="3" name="Segnaposto contenut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15246710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1792288" y="4800600"/>
            <a:ext cx="5486400" cy="566738"/>
          </a:xfrm>
        </p:spPr>
        <p:txBody>
          <a:bodyPr anchor="b"/>
          <a:lstStyle>
            <a:lvl1pPr algn="l">
              <a:defRPr sz="2000" b="1"/>
            </a:lvl1pPr>
          </a:lstStyle>
          <a:p>
            <a:r>
              <a:rPr lang="it-IT"/>
              <a:t>Fare clic per modificare stile</a:t>
            </a:r>
          </a:p>
        </p:txBody>
      </p:sp>
      <p:sp>
        <p:nvSpPr>
          <p:cNvPr id="3" name="Segnaposto immagin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29540628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79310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verticale e testo">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6629400" y="274638"/>
            <a:ext cx="2057400" cy="5851525"/>
          </a:xfrm>
        </p:spPr>
        <p:txBody>
          <a:bodyPr vert="eaVert"/>
          <a:lstStyle/>
          <a:p>
            <a:r>
              <a:rPr lang="it-IT"/>
              <a:t>Fare clic per modificare stile</a:t>
            </a:r>
          </a:p>
        </p:txBody>
      </p:sp>
      <p:sp>
        <p:nvSpPr>
          <p:cNvPr id="3" name="Segnaposto testo verticale 2"/>
          <p:cNvSpPr>
            <a:spLocks noGrp="1"/>
          </p:cNvSpPr>
          <p:nvPr>
            <p:ph type="body" orient="vert" idx="1"/>
          </p:nvPr>
        </p:nvSpPr>
        <p:spPr>
          <a:xfrm>
            <a:off x="457200" y="274638"/>
            <a:ext cx="6019800"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23/02/2026</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3082130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182741" y="90093"/>
            <a:ext cx="8761797" cy="1143000"/>
          </a:xfrm>
          <a:prstGeom prst="rect">
            <a:avLst/>
          </a:prstGeom>
        </p:spPr>
        <p:txBody>
          <a:bodyPr vert="horz" lIns="91440" tIns="45720" rIns="91440" bIns="45720" rtlCol="0" anchor="ctr">
            <a:normAutofit/>
          </a:bodyPr>
          <a:lstStyle/>
          <a:p>
            <a:r>
              <a:rPr lang="en-US" noProof="0" dirty="0"/>
              <a:t>Fare </a:t>
            </a:r>
            <a:r>
              <a:rPr lang="en-US" noProof="0" dirty="0" err="1"/>
              <a:t>clic</a:t>
            </a:r>
            <a:r>
              <a:rPr lang="en-US" noProof="0" dirty="0"/>
              <a:t> per </a:t>
            </a:r>
            <a:r>
              <a:rPr lang="en-US" noProof="0" dirty="0" err="1"/>
              <a:t>modificare</a:t>
            </a:r>
            <a:r>
              <a:rPr lang="en-US" noProof="0" dirty="0"/>
              <a:t> stile</a:t>
            </a:r>
          </a:p>
        </p:txBody>
      </p:sp>
      <p:sp>
        <p:nvSpPr>
          <p:cNvPr id="3" name="Segnaposto testo 2"/>
          <p:cNvSpPr>
            <a:spLocks noGrp="1"/>
          </p:cNvSpPr>
          <p:nvPr>
            <p:ph type="body" idx="1"/>
          </p:nvPr>
        </p:nvSpPr>
        <p:spPr>
          <a:xfrm>
            <a:off x="182741" y="1350522"/>
            <a:ext cx="8761797" cy="4794457"/>
          </a:xfrm>
          <a:prstGeom prst="rect">
            <a:avLst/>
          </a:prstGeom>
        </p:spPr>
        <p:txBody>
          <a:bodyPr vert="horz" lIns="91440" tIns="45720" rIns="91440" bIns="45720" rtlCol="0">
            <a:normAutofit/>
          </a:bodyPr>
          <a:lstStyle/>
          <a:p>
            <a:pPr lvl="0"/>
            <a:r>
              <a:rPr lang="en-US" noProof="0" dirty="0"/>
              <a:t>Fare </a:t>
            </a:r>
            <a:r>
              <a:rPr lang="en-US" noProof="0" dirty="0" err="1"/>
              <a:t>clic</a:t>
            </a:r>
            <a:r>
              <a:rPr lang="en-US" noProof="0" dirty="0"/>
              <a:t> per </a:t>
            </a:r>
            <a:r>
              <a:rPr lang="en-US" noProof="0" dirty="0" err="1"/>
              <a:t>modificare</a:t>
            </a:r>
            <a:r>
              <a:rPr lang="en-US" noProof="0" dirty="0"/>
              <a:t> </a:t>
            </a:r>
            <a:r>
              <a:rPr lang="en-US" noProof="0" dirty="0" err="1"/>
              <a:t>gli</a:t>
            </a:r>
            <a:r>
              <a:rPr lang="en-US" noProof="0" dirty="0"/>
              <a:t> </a:t>
            </a:r>
            <a:r>
              <a:rPr lang="en-US" noProof="0" dirty="0" err="1"/>
              <a:t>stili</a:t>
            </a:r>
            <a:r>
              <a:rPr lang="en-US" noProof="0" dirty="0"/>
              <a:t> del </a:t>
            </a:r>
            <a:r>
              <a:rPr lang="en-US" noProof="0" dirty="0" err="1"/>
              <a:t>testo</a:t>
            </a:r>
            <a:r>
              <a:rPr lang="en-US" noProof="0" dirty="0"/>
              <a:t> </a:t>
            </a:r>
            <a:r>
              <a:rPr lang="en-US" noProof="0" dirty="0" err="1"/>
              <a:t>dello</a:t>
            </a:r>
            <a:r>
              <a:rPr lang="en-US" noProof="0" dirty="0"/>
              <a:t> schema</a:t>
            </a:r>
          </a:p>
          <a:p>
            <a:pPr lvl="1"/>
            <a:r>
              <a:rPr lang="en-US" noProof="0" dirty="0"/>
              <a:t>Secondo </a:t>
            </a:r>
            <a:r>
              <a:rPr lang="en-US" noProof="0" dirty="0" err="1"/>
              <a:t>livello</a:t>
            </a:r>
            <a:endParaRPr lang="en-US" noProof="0" dirty="0"/>
          </a:p>
          <a:p>
            <a:pPr lvl="2"/>
            <a:r>
              <a:rPr lang="en-US" noProof="0" dirty="0" err="1"/>
              <a:t>Terzo</a:t>
            </a:r>
            <a:r>
              <a:rPr lang="en-US" noProof="0" dirty="0"/>
              <a:t> </a:t>
            </a:r>
            <a:r>
              <a:rPr lang="en-US" noProof="0" dirty="0" err="1"/>
              <a:t>livello</a:t>
            </a:r>
            <a:endParaRPr lang="en-US" noProof="0" dirty="0"/>
          </a:p>
          <a:p>
            <a:pPr lvl="3"/>
            <a:r>
              <a:rPr lang="en-US" noProof="0" dirty="0"/>
              <a:t>Quarto </a:t>
            </a:r>
            <a:r>
              <a:rPr lang="en-US" noProof="0" dirty="0" err="1"/>
              <a:t>livello</a:t>
            </a:r>
            <a:endParaRPr lang="en-US" noProof="0" dirty="0"/>
          </a:p>
          <a:p>
            <a:pPr lvl="4"/>
            <a:r>
              <a:rPr lang="en-US" noProof="0" dirty="0" err="1"/>
              <a:t>Quinto</a:t>
            </a:r>
            <a:r>
              <a:rPr lang="en-US" noProof="0" dirty="0"/>
              <a:t> </a:t>
            </a:r>
            <a:r>
              <a:rPr lang="en-US" noProof="0" dirty="0" err="1"/>
              <a:t>livello</a:t>
            </a:r>
            <a:endParaRPr lang="en-US" noProof="0" dirty="0"/>
          </a:p>
        </p:txBody>
      </p:sp>
      <p:pic>
        <p:nvPicPr>
          <p:cNvPr id="9" name="Immagine 8" descr="crossLabLogo.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130101" y="6226140"/>
            <a:ext cx="1556700" cy="511003"/>
          </a:xfrm>
          <a:prstGeom prst="rect">
            <a:avLst/>
          </a:prstGeom>
        </p:spPr>
      </p:pic>
      <p:pic>
        <p:nvPicPr>
          <p:cNvPr id="10" name="Immagine 9" descr="Schermata 2019-07-02 alle 11.33.44.png"/>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82742" y="6226140"/>
            <a:ext cx="2392045" cy="548860"/>
          </a:xfrm>
          <a:prstGeom prst="rect">
            <a:avLst/>
          </a:prstGeom>
        </p:spPr>
      </p:pic>
      <p:pic>
        <p:nvPicPr>
          <p:cNvPr id="12" name="Immagine 11" descr="logoUnipi.png"/>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068848" y="6144979"/>
            <a:ext cx="1307462" cy="696420"/>
          </a:xfrm>
          <a:prstGeom prst="rect">
            <a:avLst/>
          </a:prstGeom>
        </p:spPr>
      </p:pic>
    </p:spTree>
    <p:extLst>
      <p:ext uri="{BB962C8B-B14F-4D97-AF65-F5344CB8AC3E}">
        <p14:creationId xmlns:p14="http://schemas.microsoft.com/office/powerpoint/2010/main" val="11478826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hyperlink" Target="https://www.kaggle.com/datasets/aravsood7/sentiment-analysis-labelled-financial-news-data" TargetMode="External"/><Relationship Id="rId2" Type="http://schemas.openxmlformats.org/officeDocument/2006/relationships/hyperlink" Target="https://www.kaggle.com/datasets/pratyushpuri/financial-news-market-events-dataset-2025" TargetMode="External"/><Relationship Id="rId1" Type="http://schemas.openxmlformats.org/officeDocument/2006/relationships/slideLayout" Target="../slideLayouts/slideLayout6.xml"/><Relationship Id="rId5" Type="http://schemas.openxmlformats.org/officeDocument/2006/relationships/hyperlink" Target="https://www.kaggle.com/datasets/mahmoudshaheen1134/trades-dataset" TargetMode="External"/><Relationship Id="rId4" Type="http://schemas.openxmlformats.org/officeDocument/2006/relationships/hyperlink" Target="https://www.kaggle.com/datasets/sayelabualigah/high-quality-financial-news-dataset-for-nlp-tasks?select=dataset.csv" TargetMode="External"/></Relationships>
</file>

<file path=ppt/slides/_rels/slide1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ctrTitle"/>
          </p:nvPr>
        </p:nvSpPr>
        <p:spPr>
          <a:xfrm>
            <a:off x="0" y="2130425"/>
            <a:ext cx="9144000" cy="1470025"/>
          </a:xfrm>
        </p:spPr>
        <p:txBody>
          <a:bodyPr>
            <a:normAutofit fontScale="90000"/>
          </a:bodyPr>
          <a:lstStyle/>
          <a:p>
            <a:r>
              <a:rPr lang="en-US" sz="3900"/>
              <a:t>Large-Scale and Multi-Structured Databases</a:t>
            </a:r>
            <a:br>
              <a:rPr lang="en-US" sz="4000"/>
            </a:br>
            <a:r>
              <a:rPr lang="en-US" sz="4000" b="1" i="1"/>
              <a:t>Project Design</a:t>
            </a:r>
            <a:br>
              <a:rPr lang="en-US" sz="4000" b="1" i="1"/>
            </a:br>
            <a:r>
              <a:rPr lang="en-US" sz="4000" b="1" i="1"/>
              <a:t>MyFuture</a:t>
            </a:r>
            <a:endParaRPr lang="en-US" sz="3300" i="1" dirty="0"/>
          </a:p>
        </p:txBody>
      </p:sp>
      <p:sp>
        <p:nvSpPr>
          <p:cNvPr id="3" name="Sottotitolo 2"/>
          <p:cNvSpPr>
            <a:spLocks noGrp="1"/>
          </p:cNvSpPr>
          <p:nvPr>
            <p:ph type="subTitle" idx="1"/>
          </p:nvPr>
        </p:nvSpPr>
        <p:spPr/>
        <p:txBody>
          <a:bodyPr/>
          <a:lstStyle/>
          <a:p>
            <a:r>
              <a:rPr lang="it-IT"/>
              <a:t>Alessandro Diana</a:t>
            </a:r>
            <a:endParaRPr lang="it-IT" dirty="0"/>
          </a:p>
        </p:txBody>
      </p:sp>
    </p:spTree>
    <p:extLst>
      <p:ext uri="{BB962C8B-B14F-4D97-AF65-F5344CB8AC3E}">
        <p14:creationId xmlns:p14="http://schemas.microsoft.com/office/powerpoint/2010/main" val="16214697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33632E-76E6-2A49-A199-3826627DF6B8}"/>
              </a:ext>
            </a:extLst>
          </p:cNvPr>
          <p:cNvSpPr>
            <a:spLocks noGrp="1"/>
          </p:cNvSpPr>
          <p:nvPr>
            <p:ph type="title"/>
          </p:nvPr>
        </p:nvSpPr>
        <p:spPr/>
        <p:txBody>
          <a:bodyPr/>
          <a:lstStyle/>
          <a:p>
            <a:r>
              <a:rPr lang="en-US" dirty="0"/>
              <a:t>Application Highlights</a:t>
            </a:r>
          </a:p>
        </p:txBody>
      </p:sp>
      <p:sp>
        <p:nvSpPr>
          <p:cNvPr id="3" name="CasellaDiTesto 2">
            <a:extLst>
              <a:ext uri="{FF2B5EF4-FFF2-40B4-BE49-F238E27FC236}">
                <a16:creationId xmlns:a16="http://schemas.microsoft.com/office/drawing/2014/main" id="{A701C8F0-FB4C-4E4E-804F-9EE05D7441C4}"/>
              </a:ext>
            </a:extLst>
          </p:cNvPr>
          <p:cNvSpPr txBox="1"/>
          <p:nvPr/>
        </p:nvSpPr>
        <p:spPr>
          <a:xfrm>
            <a:off x="424543" y="1404256"/>
            <a:ext cx="8343900" cy="5078313"/>
          </a:xfrm>
          <a:prstGeom prst="rect">
            <a:avLst/>
          </a:prstGeom>
          <a:noFill/>
        </p:spPr>
        <p:txBody>
          <a:bodyPr wrap="square" rtlCol="0">
            <a:spAutoFit/>
          </a:bodyPr>
          <a:lstStyle/>
          <a:p>
            <a:r>
              <a:rPr lang="en-US" dirty="0" err="1"/>
              <a:t>MyFuture</a:t>
            </a:r>
            <a:r>
              <a:rPr lang="en-US" dirty="0"/>
              <a:t> is a trading web application that provides access to a wide range of financial assets, including stocks, ETFs, and cryptocurrencies.</a:t>
            </a:r>
            <a:br>
              <a:rPr lang="en-US" dirty="0"/>
            </a:br>
            <a:r>
              <a:rPr lang="en-US" dirty="0"/>
              <a:t>The platform allows users to manage their personal account and investment portfolio, enabling them to view, buy, and sell the available assets directly through the app.</a:t>
            </a:r>
          </a:p>
          <a:p>
            <a:r>
              <a:rPr lang="en-US" dirty="0"/>
              <a:t>Users can track their open positions, transactions, and account balance in real time.</a:t>
            </a:r>
            <a:br>
              <a:rPr lang="en-US" dirty="0"/>
            </a:br>
            <a:r>
              <a:rPr lang="en-US" dirty="0"/>
              <a:t>In addition, </a:t>
            </a:r>
            <a:r>
              <a:rPr lang="en-US" dirty="0" err="1"/>
              <a:t>MyFuture</a:t>
            </a:r>
            <a:r>
              <a:rPr lang="en-US" dirty="0"/>
              <a:t> offers a section dedicated to financial news and market updates, helping users stay informed and make better investment decisions.</a:t>
            </a:r>
          </a:p>
          <a:p>
            <a:endParaRPr lang="en-US" dirty="0"/>
          </a:p>
          <a:p>
            <a:r>
              <a:rPr lang="en-US" dirty="0"/>
              <a:t>Summary:</a:t>
            </a:r>
          </a:p>
          <a:p>
            <a:pPr marL="285750" indent="-285750">
              <a:buFont typeface="Arial" panose="020B0604020202020204" pitchFamily="34" charset="0"/>
              <a:buChar char="•"/>
            </a:pPr>
            <a:r>
              <a:rPr lang="en-US" dirty="0"/>
              <a:t>User can browse the assets;</a:t>
            </a:r>
          </a:p>
          <a:p>
            <a:pPr marL="285750" indent="-285750">
              <a:buFont typeface="Arial" panose="020B0604020202020204" pitchFamily="34" charset="0"/>
              <a:buChar char="•"/>
            </a:pPr>
            <a:r>
              <a:rPr lang="en-US" dirty="0"/>
              <a:t>User can visualize plot of assets prices;</a:t>
            </a:r>
          </a:p>
          <a:p>
            <a:pPr marL="285750" indent="-285750">
              <a:buFont typeface="Arial" panose="020B0604020202020204" pitchFamily="34" charset="0"/>
              <a:buChar char="•"/>
            </a:pPr>
            <a:r>
              <a:rPr lang="en-US" dirty="0"/>
              <a:t>User can buy and sell assets;</a:t>
            </a:r>
          </a:p>
          <a:p>
            <a:pPr marL="285750" indent="-285750">
              <a:buFont typeface="Arial" panose="020B0604020202020204" pitchFamily="34" charset="0"/>
              <a:buChar char="•"/>
            </a:pPr>
            <a:r>
              <a:rPr lang="en-US" dirty="0"/>
              <a:t>User can browse the news;</a:t>
            </a:r>
          </a:p>
          <a:p>
            <a:pPr marL="285750" indent="-285750">
              <a:buFont typeface="Arial" panose="020B0604020202020204" pitchFamily="34" charset="0"/>
              <a:buChar char="•"/>
            </a:pPr>
            <a:r>
              <a:rPr lang="en-US" dirty="0"/>
              <a:t>Admin can update, add, or remove assets;</a:t>
            </a:r>
          </a:p>
          <a:p>
            <a:pPr marL="285750" indent="-285750">
              <a:buFont typeface="Arial" panose="020B0604020202020204" pitchFamily="34" charset="0"/>
              <a:buChar char="•"/>
            </a:pPr>
            <a:r>
              <a:rPr lang="en-US" dirty="0"/>
              <a:t>Admin can modify and suspend user accounts.</a:t>
            </a:r>
          </a:p>
          <a:p>
            <a:pPr marL="285750" indent="-285750">
              <a:buFont typeface="Arial" panose="020B0604020202020204" pitchFamily="34" charset="0"/>
              <a:buChar char="•"/>
            </a:pPr>
            <a:r>
              <a:rPr lang="en-US" dirty="0"/>
              <a:t>Admin can calculate analytics.</a:t>
            </a:r>
          </a:p>
          <a:p>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0421112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11D8A20-7DC5-3042-A86D-62CF3361ACA7}"/>
              </a:ext>
            </a:extLst>
          </p:cNvPr>
          <p:cNvSpPr>
            <a:spLocks noGrp="1"/>
          </p:cNvSpPr>
          <p:nvPr>
            <p:ph type="title"/>
          </p:nvPr>
        </p:nvSpPr>
        <p:spPr/>
        <p:txBody>
          <a:bodyPr>
            <a:normAutofit/>
          </a:bodyPr>
          <a:lstStyle/>
          <a:p>
            <a:r>
              <a:rPr lang="en-US" dirty="0"/>
              <a:t>Actors and Use cases</a:t>
            </a:r>
          </a:p>
        </p:txBody>
      </p:sp>
      <p:sp>
        <p:nvSpPr>
          <p:cNvPr id="3" name="CasellaDiTesto 2">
            <a:extLst>
              <a:ext uri="{FF2B5EF4-FFF2-40B4-BE49-F238E27FC236}">
                <a16:creationId xmlns:a16="http://schemas.microsoft.com/office/drawing/2014/main" id="{391F4034-971B-8A4B-888B-5902E8333D6B}"/>
              </a:ext>
            </a:extLst>
          </p:cNvPr>
          <p:cNvSpPr txBox="1"/>
          <p:nvPr/>
        </p:nvSpPr>
        <p:spPr>
          <a:xfrm>
            <a:off x="199462" y="985838"/>
            <a:ext cx="3858188" cy="4801314"/>
          </a:xfrm>
          <a:prstGeom prst="rect">
            <a:avLst/>
          </a:prstGeom>
          <a:noFill/>
        </p:spPr>
        <p:txBody>
          <a:bodyPr wrap="square" rtlCol="0">
            <a:spAutoFit/>
          </a:bodyPr>
          <a:lstStyle/>
          <a:p>
            <a:r>
              <a:rPr lang="en-US" dirty="0"/>
              <a:t>Main actors:</a:t>
            </a:r>
          </a:p>
          <a:p>
            <a:pPr marL="285750" indent="-285750">
              <a:buFont typeface="Arial" panose="020B0604020202020204" pitchFamily="34" charset="0"/>
              <a:buChar char="•"/>
            </a:pPr>
            <a:r>
              <a:rPr lang="en-US" b="1" dirty="0"/>
              <a:t>Unregistered User:</a:t>
            </a:r>
            <a:r>
              <a:rPr lang="en-US" dirty="0"/>
              <a:t> can browse the platform and access basic features.</a:t>
            </a:r>
            <a:br>
              <a:rPr lang="en-US" dirty="0"/>
            </a:br>
            <a:r>
              <a:rPr lang="en-US" dirty="0"/>
              <a:t>However, they cannot perform trading actions or manage a personal portfolio.</a:t>
            </a:r>
            <a:br>
              <a:rPr lang="en-US" dirty="0"/>
            </a:br>
            <a:endParaRPr lang="en-US" b="1" dirty="0"/>
          </a:p>
          <a:p>
            <a:pPr marL="285750" indent="-285750">
              <a:buFont typeface="Arial" panose="020B0604020202020204" pitchFamily="34" charset="0"/>
              <a:buChar char="•"/>
            </a:pPr>
            <a:r>
              <a:rPr lang="en-US" b="1" dirty="0"/>
              <a:t>Registered User:</a:t>
            </a:r>
            <a:r>
              <a:rPr lang="en-US" dirty="0"/>
              <a:t> has full access to the trading functionalities.</a:t>
            </a:r>
            <a:br>
              <a:rPr lang="en-US" dirty="0"/>
            </a:br>
            <a:r>
              <a:rPr lang="en-US" dirty="0"/>
              <a:t>They can view detailed asset data, buy and sell financial assets, manage their portfolio, and track their account balance within the platform.</a:t>
            </a:r>
            <a:br>
              <a:rPr lang="en-US" dirty="0"/>
            </a:br>
            <a:endParaRPr lang="en-US" dirty="0"/>
          </a:p>
          <a:p>
            <a:pPr marL="285750" indent="-285750">
              <a:buFont typeface="Arial" panose="020B0604020202020204" pitchFamily="34" charset="0"/>
              <a:buChar char="•"/>
            </a:pPr>
            <a:r>
              <a:rPr lang="en-US" b="1" dirty="0"/>
              <a:t>Admin: </a:t>
            </a:r>
            <a:r>
              <a:rPr lang="en-US" dirty="0"/>
              <a:t>is responsible for managing the platform’s data and users.</a:t>
            </a:r>
          </a:p>
        </p:txBody>
      </p:sp>
      <p:pic>
        <p:nvPicPr>
          <p:cNvPr id="5" name="Immagine 4" descr="Immagine che contiene testo, diagramma, schermata, calligrafia&#10;&#10;Il contenuto generato dall'IA potrebbe non essere corretto.">
            <a:extLst>
              <a:ext uri="{FF2B5EF4-FFF2-40B4-BE49-F238E27FC236}">
                <a16:creationId xmlns:a16="http://schemas.microsoft.com/office/drawing/2014/main" id="{DC7D7829-E963-F08F-DE9C-B28B920960F7}"/>
              </a:ext>
            </a:extLst>
          </p:cNvPr>
          <p:cNvPicPr>
            <a:picLocks noChangeAspect="1"/>
          </p:cNvPicPr>
          <p:nvPr/>
        </p:nvPicPr>
        <p:blipFill>
          <a:blip r:embed="rId2"/>
          <a:stretch>
            <a:fillRect/>
          </a:stretch>
        </p:blipFill>
        <p:spPr>
          <a:xfrm>
            <a:off x="3917244" y="874167"/>
            <a:ext cx="5226756" cy="5748297"/>
          </a:xfrm>
          <a:prstGeom prst="rect">
            <a:avLst/>
          </a:prstGeom>
        </p:spPr>
      </p:pic>
    </p:spTree>
    <p:extLst>
      <p:ext uri="{BB962C8B-B14F-4D97-AF65-F5344CB8AC3E}">
        <p14:creationId xmlns:p14="http://schemas.microsoft.com/office/powerpoint/2010/main" val="8654076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77F8C-7092-8716-22E7-9A6D8D08551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DBE3F3B-822F-EF55-6057-10758470728A}"/>
              </a:ext>
            </a:extLst>
          </p:cNvPr>
          <p:cNvSpPr>
            <a:spLocks noGrp="1"/>
          </p:cNvSpPr>
          <p:nvPr>
            <p:ph type="title"/>
          </p:nvPr>
        </p:nvSpPr>
        <p:spPr/>
        <p:txBody>
          <a:bodyPr>
            <a:normAutofit fontScale="90000"/>
          </a:bodyPr>
          <a:lstStyle/>
          <a:p>
            <a:r>
              <a:rPr lang="en-US"/>
              <a:t>Mock-ups</a:t>
            </a:r>
            <a:br>
              <a:rPr lang="en-US"/>
            </a:br>
            <a:r>
              <a:rPr lang="en-US"/>
              <a:t>Unregistered user</a:t>
            </a:r>
            <a:endParaRPr lang="en-US" dirty="0"/>
          </a:p>
        </p:txBody>
      </p:sp>
      <p:pic>
        <p:nvPicPr>
          <p:cNvPr id="7" name="Immagine 6" descr="Immagine che contiene testo, schermata, Carattere, design&#10;&#10;Il contenuto generato dall'IA potrebbe non essere corretto.">
            <a:extLst>
              <a:ext uri="{FF2B5EF4-FFF2-40B4-BE49-F238E27FC236}">
                <a16:creationId xmlns:a16="http://schemas.microsoft.com/office/drawing/2014/main" id="{95C07BD9-F01E-A38A-AF80-B15AA2406FC5}"/>
              </a:ext>
            </a:extLst>
          </p:cNvPr>
          <p:cNvPicPr>
            <a:picLocks noChangeAspect="1"/>
          </p:cNvPicPr>
          <p:nvPr/>
        </p:nvPicPr>
        <p:blipFill>
          <a:blip r:embed="rId2"/>
          <a:stretch>
            <a:fillRect/>
          </a:stretch>
        </p:blipFill>
        <p:spPr>
          <a:xfrm>
            <a:off x="863808" y="1363464"/>
            <a:ext cx="7399661" cy="4549534"/>
          </a:xfrm>
          <a:prstGeom prst="rect">
            <a:avLst/>
          </a:prstGeom>
        </p:spPr>
      </p:pic>
    </p:spTree>
    <p:extLst>
      <p:ext uri="{BB962C8B-B14F-4D97-AF65-F5344CB8AC3E}">
        <p14:creationId xmlns:p14="http://schemas.microsoft.com/office/powerpoint/2010/main" val="1315377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5CC9E-2403-6683-B348-608EB74C06B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0FE525B-8A9A-42C7-063E-0474B9730774}"/>
              </a:ext>
            </a:extLst>
          </p:cNvPr>
          <p:cNvSpPr>
            <a:spLocks noGrp="1"/>
          </p:cNvSpPr>
          <p:nvPr>
            <p:ph type="title"/>
          </p:nvPr>
        </p:nvSpPr>
        <p:spPr/>
        <p:txBody>
          <a:bodyPr>
            <a:normAutofit fontScale="90000"/>
          </a:bodyPr>
          <a:lstStyle/>
          <a:p>
            <a:r>
              <a:rPr lang="en-US"/>
              <a:t>Mock-ups</a:t>
            </a:r>
            <a:br>
              <a:rPr lang="en-US"/>
            </a:br>
            <a:r>
              <a:rPr lang="en-US"/>
              <a:t>Unregistered user</a:t>
            </a:r>
            <a:endParaRPr lang="en-US" dirty="0"/>
          </a:p>
        </p:txBody>
      </p:sp>
      <p:pic>
        <p:nvPicPr>
          <p:cNvPr id="5" name="Immagine 4" descr="Immagine che contiene testo, schermata, numero, Carattere&#10;&#10;Il contenuto generato dall'IA potrebbe non essere corretto.">
            <a:extLst>
              <a:ext uri="{FF2B5EF4-FFF2-40B4-BE49-F238E27FC236}">
                <a16:creationId xmlns:a16="http://schemas.microsoft.com/office/drawing/2014/main" id="{22F22EAB-91A1-90BA-6A38-8756327B9EC8}"/>
              </a:ext>
            </a:extLst>
          </p:cNvPr>
          <p:cNvPicPr>
            <a:picLocks noChangeAspect="1"/>
          </p:cNvPicPr>
          <p:nvPr/>
        </p:nvPicPr>
        <p:blipFill>
          <a:blip r:embed="rId2"/>
          <a:stretch>
            <a:fillRect/>
          </a:stretch>
        </p:blipFill>
        <p:spPr>
          <a:xfrm>
            <a:off x="856928" y="661593"/>
            <a:ext cx="7430144" cy="5395428"/>
          </a:xfrm>
          <a:prstGeom prst="rect">
            <a:avLst/>
          </a:prstGeom>
        </p:spPr>
      </p:pic>
    </p:spTree>
    <p:extLst>
      <p:ext uri="{BB962C8B-B14F-4D97-AF65-F5344CB8AC3E}">
        <p14:creationId xmlns:p14="http://schemas.microsoft.com/office/powerpoint/2010/main" val="373347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F32DE-9E27-481A-CBB7-34698D6C137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1C6EE13-ABE2-D8B2-EADE-2DE708B312BB}"/>
              </a:ext>
            </a:extLst>
          </p:cNvPr>
          <p:cNvSpPr>
            <a:spLocks noGrp="1"/>
          </p:cNvSpPr>
          <p:nvPr>
            <p:ph type="title"/>
          </p:nvPr>
        </p:nvSpPr>
        <p:spPr/>
        <p:txBody>
          <a:bodyPr>
            <a:normAutofit fontScale="90000"/>
          </a:bodyPr>
          <a:lstStyle/>
          <a:p>
            <a:r>
              <a:rPr lang="en-US"/>
              <a:t>Mock-ups</a:t>
            </a:r>
            <a:br>
              <a:rPr lang="en-US"/>
            </a:br>
            <a:r>
              <a:rPr lang="en-US"/>
              <a:t>Unregistered user</a:t>
            </a:r>
            <a:endParaRPr lang="en-US" dirty="0"/>
          </a:p>
        </p:txBody>
      </p:sp>
      <p:pic>
        <p:nvPicPr>
          <p:cNvPr id="9" name="Immagine 8" descr="Immagine che contiene testo, schermata, Carattere&#10;&#10;Il contenuto generato dall'IA potrebbe non essere corretto.">
            <a:extLst>
              <a:ext uri="{FF2B5EF4-FFF2-40B4-BE49-F238E27FC236}">
                <a16:creationId xmlns:a16="http://schemas.microsoft.com/office/drawing/2014/main" id="{4B9E13F6-37A5-DFD2-2A50-1E0C8DE02496}"/>
              </a:ext>
            </a:extLst>
          </p:cNvPr>
          <p:cNvPicPr>
            <a:picLocks noChangeAspect="1"/>
          </p:cNvPicPr>
          <p:nvPr/>
        </p:nvPicPr>
        <p:blipFill>
          <a:blip r:embed="rId2"/>
          <a:stretch>
            <a:fillRect/>
          </a:stretch>
        </p:blipFill>
        <p:spPr>
          <a:xfrm>
            <a:off x="1180796" y="1233093"/>
            <a:ext cx="6782408" cy="4677523"/>
          </a:xfrm>
          <a:prstGeom prst="rect">
            <a:avLst/>
          </a:prstGeom>
        </p:spPr>
      </p:pic>
    </p:spTree>
    <p:extLst>
      <p:ext uri="{BB962C8B-B14F-4D97-AF65-F5344CB8AC3E}">
        <p14:creationId xmlns:p14="http://schemas.microsoft.com/office/powerpoint/2010/main" val="26204197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64207-D845-11B9-4C30-5A4BF806F0E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E0DB903-BFAC-D5C0-959C-1B9D3A2A37ED}"/>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4" name="Immagine 3" descr="Immagine che contiene testo, schermata, numero, Carattere&#10;&#10;Il contenuto generato dall'IA potrebbe non essere corretto.">
            <a:extLst>
              <a:ext uri="{FF2B5EF4-FFF2-40B4-BE49-F238E27FC236}">
                <a16:creationId xmlns:a16="http://schemas.microsoft.com/office/drawing/2014/main" id="{99A1E3F2-71E3-FE92-EE2B-C874B0690E2D}"/>
              </a:ext>
            </a:extLst>
          </p:cNvPr>
          <p:cNvPicPr>
            <a:picLocks noChangeAspect="1"/>
          </p:cNvPicPr>
          <p:nvPr/>
        </p:nvPicPr>
        <p:blipFill>
          <a:blip r:embed="rId2"/>
          <a:stretch>
            <a:fillRect/>
          </a:stretch>
        </p:blipFill>
        <p:spPr>
          <a:xfrm>
            <a:off x="988145" y="1233093"/>
            <a:ext cx="7167710" cy="4843932"/>
          </a:xfrm>
          <a:prstGeom prst="rect">
            <a:avLst/>
          </a:prstGeom>
        </p:spPr>
      </p:pic>
    </p:spTree>
    <p:extLst>
      <p:ext uri="{BB962C8B-B14F-4D97-AF65-F5344CB8AC3E}">
        <p14:creationId xmlns:p14="http://schemas.microsoft.com/office/powerpoint/2010/main" val="32786366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6CD37-D111-C205-BF0C-89539234380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095A948-97EC-D894-2190-05903E41BB16}"/>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4" name="Immagine 3" descr="Immagine che contiene testo, schermata, Carattere, numero&#10;&#10;Il contenuto generato dall'IA potrebbe non essere corretto.">
            <a:extLst>
              <a:ext uri="{FF2B5EF4-FFF2-40B4-BE49-F238E27FC236}">
                <a16:creationId xmlns:a16="http://schemas.microsoft.com/office/drawing/2014/main" id="{4ED688F5-FFDB-A0F3-3304-9A55BA509F43}"/>
              </a:ext>
            </a:extLst>
          </p:cNvPr>
          <p:cNvPicPr>
            <a:picLocks noChangeAspect="1"/>
          </p:cNvPicPr>
          <p:nvPr/>
        </p:nvPicPr>
        <p:blipFill>
          <a:blip r:embed="rId2"/>
          <a:stretch>
            <a:fillRect/>
          </a:stretch>
        </p:blipFill>
        <p:spPr>
          <a:xfrm>
            <a:off x="712609" y="1233093"/>
            <a:ext cx="7718782" cy="4599549"/>
          </a:xfrm>
          <a:prstGeom prst="rect">
            <a:avLst/>
          </a:prstGeom>
        </p:spPr>
      </p:pic>
    </p:spTree>
    <p:extLst>
      <p:ext uri="{BB962C8B-B14F-4D97-AF65-F5344CB8AC3E}">
        <p14:creationId xmlns:p14="http://schemas.microsoft.com/office/powerpoint/2010/main" val="1433844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07241-4FD2-C897-13FD-09D5D448E31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9A78853-30B8-AADD-E747-80ECFD6EABAF}"/>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4" name="Immagine 3" descr="Immagine che contiene testo, schermata, numero, Carattere&#10;&#10;Il contenuto generato dall'IA potrebbe non essere corretto.">
            <a:extLst>
              <a:ext uri="{FF2B5EF4-FFF2-40B4-BE49-F238E27FC236}">
                <a16:creationId xmlns:a16="http://schemas.microsoft.com/office/drawing/2014/main" id="{87AFA41F-4E18-63E1-9894-0AE6957F7464}"/>
              </a:ext>
            </a:extLst>
          </p:cNvPr>
          <p:cNvPicPr>
            <a:picLocks noChangeAspect="1"/>
          </p:cNvPicPr>
          <p:nvPr/>
        </p:nvPicPr>
        <p:blipFill>
          <a:blip r:embed="rId2"/>
          <a:stretch>
            <a:fillRect/>
          </a:stretch>
        </p:blipFill>
        <p:spPr>
          <a:xfrm>
            <a:off x="1191400" y="1233093"/>
            <a:ext cx="6761199" cy="4912928"/>
          </a:xfrm>
          <a:prstGeom prst="rect">
            <a:avLst/>
          </a:prstGeom>
        </p:spPr>
      </p:pic>
    </p:spTree>
    <p:extLst>
      <p:ext uri="{BB962C8B-B14F-4D97-AF65-F5344CB8AC3E}">
        <p14:creationId xmlns:p14="http://schemas.microsoft.com/office/powerpoint/2010/main" val="24903146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19DF5-503E-B486-D597-A6EC0A92755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381F7F0-EFBC-6932-9004-57C46D03CBF4}"/>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4" name="Immagine 3" descr="Immagine che contiene testo, schermata, numero, Carattere&#10;&#10;Il contenuto generato dall'IA potrebbe non essere corretto.">
            <a:extLst>
              <a:ext uri="{FF2B5EF4-FFF2-40B4-BE49-F238E27FC236}">
                <a16:creationId xmlns:a16="http://schemas.microsoft.com/office/drawing/2014/main" id="{0D01398F-F55C-A257-EF39-D93A24C8F39B}"/>
              </a:ext>
            </a:extLst>
          </p:cNvPr>
          <p:cNvPicPr>
            <a:picLocks noChangeAspect="1"/>
          </p:cNvPicPr>
          <p:nvPr/>
        </p:nvPicPr>
        <p:blipFill>
          <a:blip r:embed="rId2"/>
          <a:stretch>
            <a:fillRect/>
          </a:stretch>
        </p:blipFill>
        <p:spPr>
          <a:xfrm>
            <a:off x="1036882" y="1286715"/>
            <a:ext cx="7070235" cy="4857725"/>
          </a:xfrm>
          <a:prstGeom prst="rect">
            <a:avLst/>
          </a:prstGeom>
        </p:spPr>
      </p:pic>
    </p:spTree>
    <p:extLst>
      <p:ext uri="{BB962C8B-B14F-4D97-AF65-F5344CB8AC3E}">
        <p14:creationId xmlns:p14="http://schemas.microsoft.com/office/powerpoint/2010/main" val="8358557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3EE7D-0308-A632-BBCB-64F546FCF34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6170979-70B8-BCD8-3F5A-F19C8BD5B0C6}"/>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4" name="Immagine 3" descr="Immagine che contiene testo, schermata, numero, Carattere&#10;&#10;Il contenuto generato dall'IA potrebbe non essere corretto.">
            <a:extLst>
              <a:ext uri="{FF2B5EF4-FFF2-40B4-BE49-F238E27FC236}">
                <a16:creationId xmlns:a16="http://schemas.microsoft.com/office/drawing/2014/main" id="{E8E58F68-92BD-87EE-3A0A-0682378A4185}"/>
              </a:ext>
            </a:extLst>
          </p:cNvPr>
          <p:cNvPicPr>
            <a:picLocks noChangeAspect="1"/>
          </p:cNvPicPr>
          <p:nvPr/>
        </p:nvPicPr>
        <p:blipFill>
          <a:blip r:embed="rId2"/>
          <a:stretch>
            <a:fillRect/>
          </a:stretch>
        </p:blipFill>
        <p:spPr>
          <a:xfrm>
            <a:off x="1096924" y="1233093"/>
            <a:ext cx="6950152" cy="4872271"/>
          </a:xfrm>
          <a:prstGeom prst="rect">
            <a:avLst/>
          </a:prstGeom>
        </p:spPr>
      </p:pic>
    </p:spTree>
    <p:extLst>
      <p:ext uri="{BB962C8B-B14F-4D97-AF65-F5344CB8AC3E}">
        <p14:creationId xmlns:p14="http://schemas.microsoft.com/office/powerpoint/2010/main" val="1843686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A84B2-B5D3-321D-6686-E69F5FC28A5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490BD84-67B1-B7C0-E611-858B2659FB01}"/>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6" name="Immagine 5" descr="Immagine che contiene testo, schermata, numero, Carattere&#10;&#10;Il contenuto generato dall'IA potrebbe non essere corretto.">
            <a:extLst>
              <a:ext uri="{FF2B5EF4-FFF2-40B4-BE49-F238E27FC236}">
                <a16:creationId xmlns:a16="http://schemas.microsoft.com/office/drawing/2014/main" id="{F8EB41B0-4596-B477-66D6-B0323EA188CD}"/>
              </a:ext>
            </a:extLst>
          </p:cNvPr>
          <p:cNvPicPr>
            <a:picLocks noChangeAspect="1"/>
          </p:cNvPicPr>
          <p:nvPr/>
        </p:nvPicPr>
        <p:blipFill>
          <a:blip r:embed="rId2"/>
          <a:stretch>
            <a:fillRect/>
          </a:stretch>
        </p:blipFill>
        <p:spPr>
          <a:xfrm>
            <a:off x="1022664" y="1233093"/>
            <a:ext cx="7081950" cy="4937131"/>
          </a:xfrm>
          <a:prstGeom prst="rect">
            <a:avLst/>
          </a:prstGeom>
        </p:spPr>
      </p:pic>
    </p:spTree>
    <p:extLst>
      <p:ext uri="{BB962C8B-B14F-4D97-AF65-F5344CB8AC3E}">
        <p14:creationId xmlns:p14="http://schemas.microsoft.com/office/powerpoint/2010/main" val="14099947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D8448-C2B0-7004-8648-28A26CC7088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77669E-35BD-6D42-0C0A-3EF71554DE64}"/>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4" name="Immagine 3" descr="Immagine che contiene testo, schermata, Carattere&#10;&#10;Il contenuto generato dall'IA potrebbe non essere corretto.">
            <a:extLst>
              <a:ext uri="{FF2B5EF4-FFF2-40B4-BE49-F238E27FC236}">
                <a16:creationId xmlns:a16="http://schemas.microsoft.com/office/drawing/2014/main" id="{79F2E5B6-2899-B5C3-1041-2E0E3AE32CD4}"/>
              </a:ext>
            </a:extLst>
          </p:cNvPr>
          <p:cNvPicPr>
            <a:picLocks noChangeAspect="1"/>
          </p:cNvPicPr>
          <p:nvPr/>
        </p:nvPicPr>
        <p:blipFill>
          <a:blip r:embed="rId2"/>
          <a:stretch>
            <a:fillRect/>
          </a:stretch>
        </p:blipFill>
        <p:spPr>
          <a:xfrm>
            <a:off x="789579" y="1287594"/>
            <a:ext cx="7564841" cy="4718580"/>
          </a:xfrm>
          <a:prstGeom prst="rect">
            <a:avLst/>
          </a:prstGeom>
        </p:spPr>
      </p:pic>
    </p:spTree>
    <p:extLst>
      <p:ext uri="{BB962C8B-B14F-4D97-AF65-F5344CB8AC3E}">
        <p14:creationId xmlns:p14="http://schemas.microsoft.com/office/powerpoint/2010/main" val="1162654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17B2D-9987-DF61-D9B6-211245CD354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45939C3-D22E-FC48-29F1-186E6D511098}"/>
              </a:ext>
            </a:extLst>
          </p:cNvPr>
          <p:cNvSpPr>
            <a:spLocks noGrp="1"/>
          </p:cNvSpPr>
          <p:nvPr>
            <p:ph type="title"/>
          </p:nvPr>
        </p:nvSpPr>
        <p:spPr/>
        <p:txBody>
          <a:bodyPr>
            <a:normAutofit fontScale="90000"/>
          </a:bodyPr>
          <a:lstStyle/>
          <a:p>
            <a:r>
              <a:rPr lang="en-US"/>
              <a:t>Mock-ups</a:t>
            </a:r>
            <a:br>
              <a:rPr lang="en-US"/>
            </a:br>
            <a:r>
              <a:rPr lang="en-US"/>
              <a:t>Registered user</a:t>
            </a:r>
            <a:endParaRPr lang="en-US" dirty="0"/>
          </a:p>
        </p:txBody>
      </p:sp>
      <p:pic>
        <p:nvPicPr>
          <p:cNvPr id="6" name="Immagine 5" descr="Immagine che contiene testo, schermata, Carattere&#10;&#10;Il contenuto generato dall'IA potrebbe non essere corretto.">
            <a:extLst>
              <a:ext uri="{FF2B5EF4-FFF2-40B4-BE49-F238E27FC236}">
                <a16:creationId xmlns:a16="http://schemas.microsoft.com/office/drawing/2014/main" id="{D1BA3FFB-EC20-56C5-7EE2-5C8D1D08761B}"/>
              </a:ext>
            </a:extLst>
          </p:cNvPr>
          <p:cNvPicPr>
            <a:picLocks noChangeAspect="1"/>
          </p:cNvPicPr>
          <p:nvPr/>
        </p:nvPicPr>
        <p:blipFill>
          <a:blip r:embed="rId2"/>
          <a:stretch>
            <a:fillRect/>
          </a:stretch>
        </p:blipFill>
        <p:spPr>
          <a:xfrm>
            <a:off x="712896" y="1233093"/>
            <a:ext cx="7718207" cy="4807340"/>
          </a:xfrm>
          <a:prstGeom prst="rect">
            <a:avLst/>
          </a:prstGeom>
        </p:spPr>
      </p:pic>
    </p:spTree>
    <p:extLst>
      <p:ext uri="{BB962C8B-B14F-4D97-AF65-F5344CB8AC3E}">
        <p14:creationId xmlns:p14="http://schemas.microsoft.com/office/powerpoint/2010/main" val="1756659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29B1-42B6-A3AB-C431-E27F846EA48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53B052F-6A64-A3FF-3A29-AEE195532313}"/>
              </a:ext>
            </a:extLst>
          </p:cNvPr>
          <p:cNvSpPr>
            <a:spLocks noGrp="1"/>
          </p:cNvSpPr>
          <p:nvPr>
            <p:ph type="title"/>
          </p:nvPr>
        </p:nvSpPr>
        <p:spPr/>
        <p:txBody>
          <a:bodyPr>
            <a:normAutofit fontScale="90000"/>
          </a:bodyPr>
          <a:lstStyle/>
          <a:p>
            <a:r>
              <a:rPr lang="en-US"/>
              <a:t>Mock-ups</a:t>
            </a:r>
            <a:br>
              <a:rPr lang="en-US"/>
            </a:br>
            <a:r>
              <a:rPr lang="en-US"/>
              <a:t>Admin</a:t>
            </a:r>
            <a:endParaRPr lang="en-US" dirty="0"/>
          </a:p>
        </p:txBody>
      </p:sp>
      <p:pic>
        <p:nvPicPr>
          <p:cNvPr id="4" name="Immagine 3" descr="Immagine che contiene testo, schermata, Carattere, numero&#10;&#10;Il contenuto generato dall'IA potrebbe non essere corretto.">
            <a:extLst>
              <a:ext uri="{FF2B5EF4-FFF2-40B4-BE49-F238E27FC236}">
                <a16:creationId xmlns:a16="http://schemas.microsoft.com/office/drawing/2014/main" id="{724F0663-BDF8-A47B-C876-821166AF4840}"/>
              </a:ext>
            </a:extLst>
          </p:cNvPr>
          <p:cNvPicPr>
            <a:picLocks noChangeAspect="1"/>
          </p:cNvPicPr>
          <p:nvPr/>
        </p:nvPicPr>
        <p:blipFill>
          <a:blip r:embed="rId2"/>
          <a:stretch>
            <a:fillRect/>
          </a:stretch>
        </p:blipFill>
        <p:spPr>
          <a:xfrm>
            <a:off x="858223" y="1233093"/>
            <a:ext cx="7427553" cy="4864968"/>
          </a:xfrm>
          <a:prstGeom prst="rect">
            <a:avLst/>
          </a:prstGeom>
        </p:spPr>
      </p:pic>
    </p:spTree>
    <p:extLst>
      <p:ext uri="{BB962C8B-B14F-4D97-AF65-F5344CB8AC3E}">
        <p14:creationId xmlns:p14="http://schemas.microsoft.com/office/powerpoint/2010/main" val="1771113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FA93700-7F87-6E45-9902-A8B2384A37AF}"/>
              </a:ext>
            </a:extLst>
          </p:cNvPr>
          <p:cNvSpPr>
            <a:spLocks noGrp="1"/>
          </p:cNvSpPr>
          <p:nvPr>
            <p:ph type="title"/>
          </p:nvPr>
        </p:nvSpPr>
        <p:spPr>
          <a:xfrm>
            <a:off x="182741" y="0"/>
            <a:ext cx="8761797" cy="600075"/>
          </a:xfrm>
        </p:spPr>
        <p:txBody>
          <a:bodyPr>
            <a:normAutofit fontScale="90000"/>
          </a:bodyPr>
          <a:lstStyle/>
          <a:p>
            <a:r>
              <a:rPr lang="en-US" dirty="0"/>
              <a:t>Dataset Description</a:t>
            </a:r>
          </a:p>
        </p:txBody>
      </p:sp>
      <p:sp>
        <p:nvSpPr>
          <p:cNvPr id="3" name="CasellaDiTesto 2">
            <a:extLst>
              <a:ext uri="{FF2B5EF4-FFF2-40B4-BE49-F238E27FC236}">
                <a16:creationId xmlns:a16="http://schemas.microsoft.com/office/drawing/2014/main" id="{068E8217-0879-6045-A028-80534F620714}"/>
              </a:ext>
            </a:extLst>
          </p:cNvPr>
          <p:cNvSpPr txBox="1"/>
          <p:nvPr/>
        </p:nvSpPr>
        <p:spPr>
          <a:xfrm>
            <a:off x="182740" y="258901"/>
            <a:ext cx="8961260" cy="6340197"/>
          </a:xfrm>
          <a:prstGeom prst="rect">
            <a:avLst/>
          </a:prstGeom>
          <a:noFill/>
        </p:spPr>
        <p:txBody>
          <a:bodyPr wrap="square" rtlCol="0">
            <a:spAutoFit/>
          </a:bodyPr>
          <a:lstStyle/>
          <a:p>
            <a:pPr lvl="0"/>
            <a:r>
              <a:rPr lang="en-US" sz="2000" b="1" i="1" dirty="0"/>
              <a:t>Source: </a:t>
            </a:r>
          </a:p>
          <a:p>
            <a:pPr marL="800100" lvl="1" indent="-342900">
              <a:buFont typeface="Arial" panose="020B0604020202020204" pitchFamily="34" charset="0"/>
              <a:buChar char="•"/>
            </a:pPr>
            <a:r>
              <a:rPr lang="en-US" sz="2000" dirty="0"/>
              <a:t>Assets history collected via script using Yahoo Finance</a:t>
            </a:r>
          </a:p>
          <a:p>
            <a:pPr marL="800100" lvl="1" indent="-342900">
              <a:buFont typeface="Arial" panose="020B0604020202020204" pitchFamily="34" charset="0"/>
              <a:buChar char="•"/>
            </a:pPr>
            <a:r>
              <a:rPr lang="en-US" sz="2000" dirty="0"/>
              <a:t>News from Kaggle</a:t>
            </a:r>
            <a:br>
              <a:rPr lang="en-US" sz="2000" dirty="0"/>
            </a:br>
            <a:r>
              <a:rPr lang="en-US" u="sng" dirty="0">
                <a:hlinkClick r:id="rId2"/>
              </a:rPr>
              <a:t>https://www.kaggle.com/datasets/pratyushpuri/financial-news-market-events-dataset-2025</a:t>
            </a:r>
            <a:br>
              <a:rPr lang="en-US" sz="2000" dirty="0"/>
            </a:br>
            <a:r>
              <a:rPr lang="en-US" u="sng" dirty="0">
                <a:hlinkClick r:id="rId3"/>
              </a:rPr>
              <a:t>https://www.kaggle.com/datasets/aravsood7/sentiment-analysis-labelled-financial-news-data</a:t>
            </a:r>
            <a:br>
              <a:rPr lang="en-US" sz="2000" dirty="0"/>
            </a:br>
            <a:r>
              <a:rPr lang="en-US" u="sng" dirty="0">
                <a:hlinkClick r:id="rId4"/>
              </a:rPr>
              <a:t>https://www.kaggle.com/datasets/sayelabualigah/high-quality-financial-news-dataset-for-nlp-tasks?select=dataset.csv</a:t>
            </a:r>
            <a:r>
              <a:rPr lang="it-IT" dirty="0"/>
              <a:t> </a:t>
            </a:r>
            <a:endParaRPr lang="en-US" sz="2000" dirty="0"/>
          </a:p>
          <a:p>
            <a:pPr marL="800100" lvl="1" indent="-342900">
              <a:buFont typeface="Arial" panose="020B0604020202020204" pitchFamily="34" charset="0"/>
              <a:buChar char="•"/>
            </a:pPr>
            <a:r>
              <a:rPr lang="en-US" sz="2000" dirty="0"/>
              <a:t>Transaction from Kaggle</a:t>
            </a:r>
            <a:br>
              <a:rPr lang="en-US" sz="2000" dirty="0"/>
            </a:br>
            <a:r>
              <a:rPr lang="en-US" u="sng" dirty="0">
                <a:hlinkClick r:id="rId5"/>
              </a:rPr>
              <a:t>https://www.kaggle.com/datasets/mahmoudshaheen1134/trades-dataset</a:t>
            </a:r>
            <a:r>
              <a:rPr lang="it-IT" dirty="0"/>
              <a:t> </a:t>
            </a:r>
            <a:br>
              <a:rPr lang="it-IT" dirty="0"/>
            </a:br>
            <a:endParaRPr lang="en-US" sz="2000" b="1" i="1" dirty="0"/>
          </a:p>
          <a:p>
            <a:pPr lvl="0"/>
            <a:r>
              <a:rPr lang="en-US" sz="2000" b="1" i="1" dirty="0"/>
              <a:t>Description: </a:t>
            </a:r>
            <a:r>
              <a:rPr lang="en-US" sz="2000" dirty="0"/>
              <a:t>The dataset used in </a:t>
            </a:r>
            <a:r>
              <a:rPr lang="en-US" sz="2000" i="1" dirty="0" err="1"/>
              <a:t>MyFuture</a:t>
            </a:r>
            <a:r>
              <a:rPr lang="en-US" sz="2000" dirty="0"/>
              <a:t> combines historical price data of 	various financial assets, transaction, and a set of financial news articles.</a:t>
            </a:r>
            <a:endParaRPr lang="en-US" sz="2000" b="1" i="1" dirty="0"/>
          </a:p>
          <a:p>
            <a:pPr lvl="0"/>
            <a:r>
              <a:rPr lang="en-US" sz="2000" b="1" i="1" dirty="0"/>
              <a:t>Volume: </a:t>
            </a:r>
            <a:r>
              <a:rPr lang="en-US" sz="2000" dirty="0"/>
              <a:t>1625 assets (</a:t>
            </a:r>
            <a:r>
              <a:rPr lang="en-US" sz="2000" b="1" dirty="0"/>
              <a:t>964,8MB</a:t>
            </a:r>
            <a:r>
              <a:rPr lang="en-US" sz="2000" dirty="0"/>
              <a:t>), 39222 transaction (</a:t>
            </a:r>
            <a:r>
              <a:rPr lang="en-US" sz="2000" b="1" dirty="0"/>
              <a:t>1,45MB</a:t>
            </a:r>
            <a:r>
              <a:rPr lang="en-US" sz="2000" dirty="0"/>
              <a:t>), 5263 news (</a:t>
            </a:r>
            <a:r>
              <a:rPr lang="en-US" sz="2000" b="1" dirty="0"/>
              <a:t>9,88MB</a:t>
            </a:r>
            <a:r>
              <a:rPr lang="en-US" sz="2000" dirty="0"/>
              <a:t>)</a:t>
            </a:r>
          </a:p>
          <a:p>
            <a:pPr lvl="0"/>
            <a:br>
              <a:rPr lang="en-US" sz="2000" b="1" i="1" dirty="0"/>
            </a:br>
            <a:r>
              <a:rPr lang="en-US" sz="2000" b="1" i="1" dirty="0"/>
              <a:t>Variety</a:t>
            </a:r>
            <a:r>
              <a:rPr lang="en-US" sz="2000" dirty="0"/>
              <a:t>: The dataset integrates information from different and heterogeneous 	sources (Yahoo Finance and Kaggle) with diverse attributes and formats.</a:t>
            </a:r>
          </a:p>
          <a:p>
            <a:pPr lvl="0"/>
            <a:endParaRPr lang="en-US" sz="2000" b="1" i="1" dirty="0"/>
          </a:p>
          <a:p>
            <a:pPr lvl="0"/>
            <a:r>
              <a:rPr lang="en-US" sz="2000" b="1" i="1" dirty="0"/>
              <a:t>Velocity/Variability</a:t>
            </a:r>
            <a:r>
              <a:rPr lang="en-US" sz="2000" dirty="0"/>
              <a:t>: assets current prices collect continuously.</a:t>
            </a:r>
            <a:endParaRPr lang="it-IT" sz="2000" dirty="0"/>
          </a:p>
          <a:p>
            <a:endParaRPr lang="en-US" sz="2000" dirty="0"/>
          </a:p>
        </p:txBody>
      </p:sp>
    </p:spTree>
    <p:extLst>
      <p:ext uri="{BB962C8B-B14F-4D97-AF65-F5344CB8AC3E}">
        <p14:creationId xmlns:p14="http://schemas.microsoft.com/office/powerpoint/2010/main" val="37411184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1A7364-9B4E-DC49-AA70-BE5A302DEAAF}"/>
              </a:ext>
            </a:extLst>
          </p:cNvPr>
          <p:cNvSpPr>
            <a:spLocks noGrp="1"/>
          </p:cNvSpPr>
          <p:nvPr>
            <p:ph type="title"/>
          </p:nvPr>
        </p:nvSpPr>
        <p:spPr/>
        <p:txBody>
          <a:bodyPr/>
          <a:lstStyle/>
          <a:p>
            <a:r>
              <a:rPr lang="en-US" dirty="0"/>
              <a:t>UML Design Class Diagram</a:t>
            </a:r>
          </a:p>
        </p:txBody>
      </p:sp>
      <p:pic>
        <p:nvPicPr>
          <p:cNvPr id="5" name="Immagine 4" descr="Immagine che contiene testo, diagramma, Piano, Parallelo&#10;&#10;Il contenuto generato dall'IA potrebbe non essere corretto.">
            <a:extLst>
              <a:ext uri="{FF2B5EF4-FFF2-40B4-BE49-F238E27FC236}">
                <a16:creationId xmlns:a16="http://schemas.microsoft.com/office/drawing/2014/main" id="{01C397A2-3BD3-A3AA-3166-9E2A81BE496A}"/>
              </a:ext>
            </a:extLst>
          </p:cNvPr>
          <p:cNvPicPr>
            <a:picLocks noChangeAspect="1"/>
          </p:cNvPicPr>
          <p:nvPr/>
        </p:nvPicPr>
        <p:blipFill>
          <a:blip r:embed="rId2"/>
          <a:stretch>
            <a:fillRect/>
          </a:stretch>
        </p:blipFill>
        <p:spPr>
          <a:xfrm>
            <a:off x="2598470" y="962263"/>
            <a:ext cx="3930338" cy="5114095"/>
          </a:xfrm>
          <a:prstGeom prst="rect">
            <a:avLst/>
          </a:prstGeom>
        </p:spPr>
      </p:pic>
    </p:spTree>
    <p:extLst>
      <p:ext uri="{BB962C8B-B14F-4D97-AF65-F5344CB8AC3E}">
        <p14:creationId xmlns:p14="http://schemas.microsoft.com/office/powerpoint/2010/main" val="7737925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E86CC-9103-FD27-DF99-A05BB1B185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103D43-ADC4-3DC2-18EE-A6F94FA28132}"/>
              </a:ext>
            </a:extLst>
          </p:cNvPr>
          <p:cNvSpPr>
            <a:spLocks noGrp="1"/>
          </p:cNvSpPr>
          <p:nvPr>
            <p:ph type="title"/>
          </p:nvPr>
        </p:nvSpPr>
        <p:spPr/>
        <p:txBody>
          <a:bodyPr>
            <a:normAutofit fontScale="90000"/>
          </a:bodyPr>
          <a:lstStyle/>
          <a:p>
            <a:r>
              <a:rPr lang="en-US" dirty="0"/>
              <a:t>Application non-functional requirements</a:t>
            </a:r>
          </a:p>
        </p:txBody>
      </p:sp>
      <p:sp>
        <p:nvSpPr>
          <p:cNvPr id="3" name="CasellaDiTesto 2">
            <a:extLst>
              <a:ext uri="{FF2B5EF4-FFF2-40B4-BE49-F238E27FC236}">
                <a16:creationId xmlns:a16="http://schemas.microsoft.com/office/drawing/2014/main" id="{6EDB192E-69AA-8F8B-4122-3DC170C7ACAF}"/>
              </a:ext>
            </a:extLst>
          </p:cNvPr>
          <p:cNvSpPr txBox="1"/>
          <p:nvPr/>
        </p:nvSpPr>
        <p:spPr>
          <a:xfrm>
            <a:off x="424543" y="1404256"/>
            <a:ext cx="8343900" cy="2862322"/>
          </a:xfrm>
          <a:prstGeom prst="rect">
            <a:avLst/>
          </a:prstGeom>
          <a:noFill/>
        </p:spPr>
        <p:txBody>
          <a:bodyPr wrap="square" rtlCol="0">
            <a:spAutoFit/>
          </a:bodyPr>
          <a:lstStyle/>
          <a:p>
            <a:endParaRPr lang="en-US" dirty="0"/>
          </a:p>
          <a:p>
            <a:pPr marL="285750" indent="-285750">
              <a:buFont typeface="Arial" panose="020B0604020202020204" pitchFamily="34" charset="0"/>
              <a:buChar char="•"/>
            </a:pPr>
            <a:r>
              <a:rPr lang="en-US"/>
              <a:t>The system must be a website application;</a:t>
            </a:r>
          </a:p>
          <a:p>
            <a:pPr marL="285750" indent="-285750">
              <a:buFont typeface="Arial" panose="020B0604020202020204" pitchFamily="34" charset="0"/>
              <a:buChar char="•"/>
            </a:pPr>
            <a:r>
              <a:rPr lang="en-US"/>
              <a:t>The system must encrypt users’ passwords;</a:t>
            </a:r>
          </a:p>
          <a:p>
            <a:pPr marL="285750" indent="-285750">
              <a:buFont typeface="Arial" panose="020B0604020202020204" pitchFamily="34" charset="0"/>
              <a:buChar char="•"/>
            </a:pPr>
            <a:r>
              <a:rPr lang="en-US"/>
              <a:t>The system must ensure high availability;</a:t>
            </a:r>
          </a:p>
          <a:p>
            <a:pPr marL="285750" indent="-285750">
              <a:buFont typeface="Arial" panose="020B0604020202020204" pitchFamily="34" charset="0"/>
              <a:buChar char="•"/>
            </a:pPr>
            <a:r>
              <a:rPr lang="en-US"/>
              <a:t>The system must be intuitive to use for users without any specific training;</a:t>
            </a:r>
          </a:p>
          <a:p>
            <a:pPr marL="285750" indent="-285750">
              <a:buFont typeface="Arial" panose="020B0604020202020204" pitchFamily="34" charset="0"/>
              <a:buChar char="•"/>
            </a:pPr>
            <a:r>
              <a:rPr lang="en-US"/>
              <a:t>The system must ensure data durability and consistency even in the case of partial failures;</a:t>
            </a:r>
          </a:p>
          <a:p>
            <a:pPr marL="285750" indent="-285750">
              <a:buFont typeface="Arial" panose="020B0604020202020204" pitchFamily="34" charset="0"/>
              <a:buChar char="•"/>
            </a:pPr>
            <a:r>
              <a:rPr lang="en-US"/>
              <a:t>The system must provide near-real-time updates on asset prices and ensure low-latency</a:t>
            </a:r>
          </a:p>
          <a:p>
            <a:pPr marL="285750" indent="-285750">
              <a:buFont typeface="Arial" panose="020B0604020202020204" pitchFamily="34" charset="0"/>
              <a:buChar char="•"/>
            </a:pPr>
            <a:r>
              <a:rPr lang="en-US"/>
              <a:t>access to assets list and last financial news.</a:t>
            </a:r>
            <a:endParaRPr lang="en-US" dirty="0"/>
          </a:p>
        </p:txBody>
      </p:sp>
    </p:spTree>
    <p:extLst>
      <p:ext uri="{BB962C8B-B14F-4D97-AF65-F5344CB8AC3E}">
        <p14:creationId xmlns:p14="http://schemas.microsoft.com/office/powerpoint/2010/main" val="21873665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0D9BC-533B-8E82-2554-ECAC5272120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BDC59E-825B-654A-8184-DD1F7985D0E5}"/>
              </a:ext>
            </a:extLst>
          </p:cNvPr>
          <p:cNvSpPr>
            <a:spLocks noGrp="1"/>
          </p:cNvSpPr>
          <p:nvPr>
            <p:ph type="title"/>
          </p:nvPr>
        </p:nvSpPr>
        <p:spPr/>
        <p:txBody>
          <a:bodyPr>
            <a:normAutofit/>
          </a:bodyPr>
          <a:lstStyle/>
          <a:p>
            <a:r>
              <a:rPr lang="en-US" dirty="0"/>
              <a:t>Document DB Design</a:t>
            </a:r>
          </a:p>
        </p:txBody>
      </p:sp>
      <p:sp>
        <p:nvSpPr>
          <p:cNvPr id="3" name="CasellaDiTesto 2">
            <a:extLst>
              <a:ext uri="{FF2B5EF4-FFF2-40B4-BE49-F238E27FC236}">
                <a16:creationId xmlns:a16="http://schemas.microsoft.com/office/drawing/2014/main" id="{6F695549-3C92-0996-CE32-82CDA2B1B142}"/>
              </a:ext>
            </a:extLst>
          </p:cNvPr>
          <p:cNvSpPr txBox="1"/>
          <p:nvPr/>
        </p:nvSpPr>
        <p:spPr>
          <a:xfrm>
            <a:off x="816232" y="1395431"/>
            <a:ext cx="7494814" cy="2308324"/>
          </a:xfrm>
          <a:prstGeom prst="rect">
            <a:avLst/>
          </a:prstGeom>
          <a:noFill/>
        </p:spPr>
        <p:txBody>
          <a:bodyPr wrap="square" rtlCol="0">
            <a:spAutoFit/>
          </a:bodyPr>
          <a:lstStyle/>
          <a:p>
            <a:r>
              <a:rPr lang="en-US" i="1" dirty="0"/>
              <a:t>Show the document DB data model (</a:t>
            </a:r>
            <a:r>
              <a:rPr lang="en-US" i="1" dirty="0" err="1"/>
              <a:t>json</a:t>
            </a:r>
            <a:r>
              <a:rPr lang="en-US" i="1" dirty="0"/>
              <a:t> document structure of each collection) and justify choices.</a:t>
            </a:r>
          </a:p>
          <a:p>
            <a:endParaRPr lang="en-US" i="1" dirty="0"/>
          </a:p>
          <a:p>
            <a:r>
              <a:rPr lang="en-US" i="1" dirty="0"/>
              <a:t>Show the implemented aggregation (in </a:t>
            </a:r>
            <a:r>
              <a:rPr lang="en-US" i="1" dirty="0" err="1"/>
              <a:t>javascript</a:t>
            </a:r>
            <a:r>
              <a:rPr lang="en-US" i="1" dirty="0"/>
              <a:t> format) highlighting the queries which benefits from the proposed DB design.</a:t>
            </a:r>
          </a:p>
          <a:p>
            <a:endParaRPr lang="en-US" i="1" dirty="0"/>
          </a:p>
          <a:p>
            <a:r>
              <a:rPr lang="en-US" i="1" dirty="0"/>
              <a:t>If needed, make also reference to the Mock-ups (for the view supported by the designed collections)</a:t>
            </a:r>
          </a:p>
        </p:txBody>
      </p:sp>
      <p:sp>
        <p:nvSpPr>
          <p:cNvPr id="4" name="CasellaDiTesto 3">
            <a:extLst>
              <a:ext uri="{FF2B5EF4-FFF2-40B4-BE49-F238E27FC236}">
                <a16:creationId xmlns:a16="http://schemas.microsoft.com/office/drawing/2014/main" id="{F2171D71-C459-2C39-0127-594EEE34CD30}"/>
              </a:ext>
            </a:extLst>
          </p:cNvPr>
          <p:cNvSpPr txBox="1"/>
          <p:nvPr/>
        </p:nvSpPr>
        <p:spPr>
          <a:xfrm>
            <a:off x="2957261" y="5093237"/>
            <a:ext cx="4572000" cy="369332"/>
          </a:xfrm>
          <a:prstGeom prst="rect">
            <a:avLst/>
          </a:prstGeom>
          <a:noFill/>
        </p:spPr>
        <p:txBody>
          <a:bodyPr wrap="square">
            <a:spAutoFit/>
          </a:bodyPr>
          <a:lstStyle/>
          <a:p>
            <a:r>
              <a:rPr lang="en-US" dirty="0"/>
              <a:t>Use max 3 slides</a:t>
            </a:r>
          </a:p>
        </p:txBody>
      </p:sp>
    </p:spTree>
    <p:extLst>
      <p:ext uri="{BB962C8B-B14F-4D97-AF65-F5344CB8AC3E}">
        <p14:creationId xmlns:p14="http://schemas.microsoft.com/office/powerpoint/2010/main" val="1043792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4509B-E1C2-F9B5-B3A5-3D1BFDF9D83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42B07DE-25D9-F3C6-B627-29B05F04A55A}"/>
              </a:ext>
            </a:extLst>
          </p:cNvPr>
          <p:cNvSpPr>
            <a:spLocks noGrp="1"/>
          </p:cNvSpPr>
          <p:nvPr>
            <p:ph type="title"/>
          </p:nvPr>
        </p:nvSpPr>
        <p:spPr/>
        <p:txBody>
          <a:bodyPr>
            <a:normAutofit/>
          </a:bodyPr>
          <a:lstStyle/>
          <a:p>
            <a:r>
              <a:rPr lang="en-US" dirty="0"/>
              <a:t>MongoDB Replica Set Configuration</a:t>
            </a:r>
          </a:p>
        </p:txBody>
      </p:sp>
      <p:sp>
        <p:nvSpPr>
          <p:cNvPr id="3" name="CasellaDiTesto 2">
            <a:extLst>
              <a:ext uri="{FF2B5EF4-FFF2-40B4-BE49-F238E27FC236}">
                <a16:creationId xmlns:a16="http://schemas.microsoft.com/office/drawing/2014/main" id="{7E56C738-FE1D-8529-B249-6B7A24251711}"/>
              </a:ext>
            </a:extLst>
          </p:cNvPr>
          <p:cNvSpPr txBox="1"/>
          <p:nvPr/>
        </p:nvSpPr>
        <p:spPr>
          <a:xfrm>
            <a:off x="199462" y="1016000"/>
            <a:ext cx="8761797" cy="5078313"/>
          </a:xfrm>
          <a:prstGeom prst="rect">
            <a:avLst/>
          </a:prstGeom>
          <a:noFill/>
        </p:spPr>
        <p:txBody>
          <a:bodyPr wrap="square" rtlCol="0">
            <a:spAutoFit/>
          </a:bodyPr>
          <a:lstStyle/>
          <a:p>
            <a:r>
              <a:rPr lang="en-US" i="1"/>
              <a:t>The system is configured with a MongoDB Replica Set consisting of three nodes.</a:t>
            </a:r>
          </a:p>
          <a:p>
            <a:endParaRPr lang="en-US" i="1"/>
          </a:p>
          <a:p>
            <a:r>
              <a:rPr lang="en-US" i="1"/>
              <a:t>Replica Set confi guration is defi ned in the connection string as follows:</a:t>
            </a:r>
          </a:p>
          <a:p>
            <a:r>
              <a:rPr lang="en-US" i="1"/>
              <a:t>mongodb://localhost:27017,localhost:27018,localhost:27019/myfuture lsmsdb 2025?replicaSet=rs0&amp;w=majority&amp;readPreference=primary&amp;retryWrites=true</a:t>
            </a:r>
          </a:p>
          <a:p>
            <a:endParaRPr lang="en-US" i="1"/>
          </a:p>
          <a:p>
            <a:r>
              <a:rPr lang="en-US" i="1"/>
              <a:t>We chose this specific configuration based on the following architectural principles:</a:t>
            </a:r>
          </a:p>
          <a:p>
            <a:r>
              <a:rPr lang="en-US" i="1"/>
              <a:t>• w=majority (Write Concern): setting the write concern to majority, a write operation is considered successful only after it has been acknowl-edged by at least two out of the three nodes. This protects the system against data loss; if the primary node fails immediately after an acknowledgment, the data is guaranteed to exist on at least one secondary node that can be elected as the new primary.</a:t>
            </a:r>
          </a:p>
          <a:p>
            <a:r>
              <a:rPr lang="en-US" i="1"/>
              <a:t>• readPreference=primary (Strict Consistency): this system enforces primary reads.</a:t>
            </a:r>
          </a:p>
          <a:p>
            <a:r>
              <a:rPr lang="en-US" i="1"/>
              <a:t>It ensures that any read operation reflects the most recent write. Reading from secondaries could lead to ”stale data” due to replication lag.</a:t>
            </a:r>
          </a:p>
          <a:p>
            <a:r>
              <a:rPr lang="en-US" i="1"/>
              <a:t>• retryWrites=true: This parameter enhances the system’s resilience. In the event of a</a:t>
            </a:r>
          </a:p>
          <a:p>
            <a:r>
              <a:rPr lang="en-US" i="1"/>
              <a:t>transient network error or a primary election, the MongoDB driver automatically retries a</a:t>
            </a:r>
          </a:p>
          <a:p>
            <a:r>
              <a:rPr lang="en-US" i="1"/>
              <a:t>failed write operation once. </a:t>
            </a:r>
          </a:p>
        </p:txBody>
      </p:sp>
    </p:spTree>
    <p:extLst>
      <p:ext uri="{BB962C8B-B14F-4D97-AF65-F5344CB8AC3E}">
        <p14:creationId xmlns:p14="http://schemas.microsoft.com/office/powerpoint/2010/main" val="26731683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052C8-7546-2CD3-35B2-0D9E1D8F631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0F7CF3-C373-6CD2-DF09-99E2485CEB11}"/>
              </a:ext>
            </a:extLst>
          </p:cNvPr>
          <p:cNvSpPr>
            <a:spLocks noGrp="1"/>
          </p:cNvSpPr>
          <p:nvPr>
            <p:ph type="title"/>
          </p:nvPr>
        </p:nvSpPr>
        <p:spPr/>
        <p:txBody>
          <a:bodyPr>
            <a:normAutofit/>
          </a:bodyPr>
          <a:lstStyle/>
          <a:p>
            <a:r>
              <a:rPr lang="en-US" dirty="0"/>
              <a:t>MongoDB Indexes</a:t>
            </a:r>
          </a:p>
        </p:txBody>
      </p:sp>
      <p:sp>
        <p:nvSpPr>
          <p:cNvPr id="3" name="CasellaDiTesto 2">
            <a:extLst>
              <a:ext uri="{FF2B5EF4-FFF2-40B4-BE49-F238E27FC236}">
                <a16:creationId xmlns:a16="http://schemas.microsoft.com/office/drawing/2014/main" id="{8A063D84-9C27-83CC-3427-34D6EBCE9D08}"/>
              </a:ext>
            </a:extLst>
          </p:cNvPr>
          <p:cNvSpPr txBox="1"/>
          <p:nvPr/>
        </p:nvSpPr>
        <p:spPr>
          <a:xfrm>
            <a:off x="538843" y="1469572"/>
            <a:ext cx="7494814" cy="646331"/>
          </a:xfrm>
          <a:prstGeom prst="rect">
            <a:avLst/>
          </a:prstGeom>
          <a:noFill/>
        </p:spPr>
        <p:txBody>
          <a:bodyPr wrap="square" rtlCol="0">
            <a:spAutoFit/>
          </a:bodyPr>
          <a:lstStyle/>
          <a:p>
            <a:r>
              <a:rPr lang="en-US" i="1" dirty="0"/>
              <a:t>Show indexes defined. Justify their usage and validate them experimentally (show query performance with and w/o the indexes). </a:t>
            </a:r>
          </a:p>
        </p:txBody>
      </p:sp>
    </p:spTree>
    <p:extLst>
      <p:ext uri="{BB962C8B-B14F-4D97-AF65-F5344CB8AC3E}">
        <p14:creationId xmlns:p14="http://schemas.microsoft.com/office/powerpoint/2010/main" val="42697979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FD46-E23E-8965-6215-16E2573CD78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B289B94-C15E-C92A-C508-2FC25C3C9767}"/>
              </a:ext>
            </a:extLst>
          </p:cNvPr>
          <p:cNvSpPr>
            <a:spLocks noGrp="1"/>
          </p:cNvSpPr>
          <p:nvPr>
            <p:ph type="title"/>
          </p:nvPr>
        </p:nvSpPr>
        <p:spPr/>
        <p:txBody>
          <a:bodyPr>
            <a:normAutofit fontScale="90000"/>
          </a:bodyPr>
          <a:lstStyle/>
          <a:p>
            <a:r>
              <a:rPr lang="en-US" dirty="0"/>
              <a:t>Discussion on MongoDB </a:t>
            </a:r>
            <a:r>
              <a:rPr lang="en-US"/>
              <a:t>Data Sharding</a:t>
            </a:r>
            <a:endParaRPr lang="en-US" dirty="0"/>
          </a:p>
        </p:txBody>
      </p:sp>
      <p:sp>
        <p:nvSpPr>
          <p:cNvPr id="3" name="CasellaDiTesto 2">
            <a:extLst>
              <a:ext uri="{FF2B5EF4-FFF2-40B4-BE49-F238E27FC236}">
                <a16:creationId xmlns:a16="http://schemas.microsoft.com/office/drawing/2014/main" id="{25C55F6B-DA13-815B-BB76-5F20B0C8BBC3}"/>
              </a:ext>
            </a:extLst>
          </p:cNvPr>
          <p:cNvSpPr txBox="1"/>
          <p:nvPr/>
        </p:nvSpPr>
        <p:spPr>
          <a:xfrm>
            <a:off x="199462" y="959556"/>
            <a:ext cx="8761797" cy="4247317"/>
          </a:xfrm>
          <a:prstGeom prst="rect">
            <a:avLst/>
          </a:prstGeom>
          <a:noFill/>
        </p:spPr>
        <p:txBody>
          <a:bodyPr wrap="square" rtlCol="0">
            <a:spAutoFit/>
          </a:bodyPr>
          <a:lstStyle/>
          <a:p>
            <a:r>
              <a:rPr lang="en-US" i="1"/>
              <a:t>Asset Prices: Optimization for Time-Series Analysis</a:t>
            </a:r>
          </a:p>
          <a:p>
            <a:r>
              <a:rPr lang="en-US" i="1"/>
              <a:t>The asset prices collection is the largest in the system, storing historical data needed.</a:t>
            </a:r>
          </a:p>
          <a:p>
            <a:r>
              <a:rPr lang="en-US" i="1"/>
              <a:t>Selected Shard Key: ”symbol”: 1, ”date”: 1 (Compound Shard Key)</a:t>
            </a:r>
          </a:p>
          <a:p>
            <a:r>
              <a:rPr lang="en-US" i="1"/>
              <a:t>Decision Logic:</a:t>
            </a:r>
          </a:p>
          <a:p>
            <a:r>
              <a:rPr lang="en-US" i="1"/>
              <a:t>• Data Locality: Users typically request historical data for a specifi c asset (e.g., ”Show me</a:t>
            </a:r>
          </a:p>
          <a:p>
            <a:r>
              <a:rPr lang="en-US" i="1"/>
              <a:t>the last 30 days of AAPL”). By using a symbol as the prefi x of the shard key, MongoDB</a:t>
            </a:r>
          </a:p>
          <a:p>
            <a:r>
              <a:rPr lang="en-US" i="1"/>
              <a:t>ensures that all data points for a specifi c ticker are stored on the same shard (or a contiguous</a:t>
            </a:r>
          </a:p>
          <a:p>
            <a:r>
              <a:rPr lang="en-US" i="1"/>
              <a:t>set of chunks);</a:t>
            </a:r>
          </a:p>
          <a:p>
            <a:r>
              <a:rPr lang="en-US" i="1"/>
              <a:t>• Write Distribution: Since stock market updates usually occur in batches (e.g., daily closes),</a:t>
            </a:r>
          </a:p>
          <a:p>
            <a:r>
              <a:rPr lang="en-US" i="1"/>
              <a:t>using only the date would create a ”hotspot” where all writes for a specifi c day hit a single</a:t>
            </a:r>
          </a:p>
          <a:p>
            <a:r>
              <a:rPr lang="en-US" i="1"/>
              <a:t>shard. Adding a symbol distributes the write load across the entire cluster;</a:t>
            </a:r>
          </a:p>
          <a:p>
            <a:r>
              <a:rPr lang="en-US" i="1"/>
              <a:t>• Effi ciency: This turns chart-generation queries into Targeted Queries, signifi cantly reducing</a:t>
            </a:r>
          </a:p>
          <a:p>
            <a:r>
              <a:rPr lang="en-US" i="1"/>
              <a:t>inter-node network traffic.</a:t>
            </a:r>
          </a:p>
        </p:txBody>
      </p:sp>
    </p:spTree>
    <p:extLst>
      <p:ext uri="{BB962C8B-B14F-4D97-AF65-F5344CB8AC3E}">
        <p14:creationId xmlns:p14="http://schemas.microsoft.com/office/powerpoint/2010/main" val="2366544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396C-5C20-2A66-DF3D-9EE301C5056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654A628-9AC6-7B09-3959-917E2F3F7D14}"/>
              </a:ext>
            </a:extLst>
          </p:cNvPr>
          <p:cNvSpPr>
            <a:spLocks noGrp="1"/>
          </p:cNvSpPr>
          <p:nvPr>
            <p:ph type="title"/>
          </p:nvPr>
        </p:nvSpPr>
        <p:spPr/>
        <p:txBody>
          <a:bodyPr>
            <a:normAutofit fontScale="90000"/>
          </a:bodyPr>
          <a:lstStyle/>
          <a:p>
            <a:r>
              <a:rPr lang="en-US" dirty="0"/>
              <a:t>Discussion on MongoDB </a:t>
            </a:r>
            <a:r>
              <a:rPr lang="en-US"/>
              <a:t>Data Sharding</a:t>
            </a:r>
            <a:endParaRPr lang="en-US" dirty="0"/>
          </a:p>
        </p:txBody>
      </p:sp>
      <p:sp>
        <p:nvSpPr>
          <p:cNvPr id="3" name="CasellaDiTesto 2">
            <a:extLst>
              <a:ext uri="{FF2B5EF4-FFF2-40B4-BE49-F238E27FC236}">
                <a16:creationId xmlns:a16="http://schemas.microsoft.com/office/drawing/2014/main" id="{CA7A65D4-21FA-2ADA-348C-999884A0D22E}"/>
              </a:ext>
            </a:extLst>
          </p:cNvPr>
          <p:cNvSpPr txBox="1"/>
          <p:nvPr/>
        </p:nvSpPr>
        <p:spPr>
          <a:xfrm>
            <a:off x="199462" y="959556"/>
            <a:ext cx="8761797" cy="4247317"/>
          </a:xfrm>
          <a:prstGeom prst="rect">
            <a:avLst/>
          </a:prstGeom>
          <a:noFill/>
        </p:spPr>
        <p:txBody>
          <a:bodyPr wrap="square" rtlCol="0">
            <a:spAutoFit/>
          </a:bodyPr>
          <a:lstStyle/>
          <a:p>
            <a:r>
              <a:rPr lang="en-US" i="1"/>
              <a:t>Transactions: User-Centric Partitioning</a:t>
            </a:r>
          </a:p>
          <a:p>
            <a:r>
              <a:rPr lang="en-US" i="1"/>
              <a:t>Transactions are high-growth data points that require strict consistency and fast retrieval for</a:t>
            </a:r>
          </a:p>
          <a:p>
            <a:r>
              <a:rPr lang="en-US" i="1"/>
              <a:t>user dashboards.</a:t>
            </a:r>
          </a:p>
          <a:p>
            <a:r>
              <a:rPr lang="en-US" i="1"/>
              <a:t>Selected Shard Key: ”user id”: 1</a:t>
            </a:r>
          </a:p>
          <a:p>
            <a:r>
              <a:rPr lang="en-US" i="1"/>
              <a:t>Decision Logic:</a:t>
            </a:r>
          </a:p>
          <a:p>
            <a:r>
              <a:rPr lang="en-US" i="1"/>
              <a:t>• Core Use Case: The most frequent operation is a user viewing their own trade history or</a:t>
            </a:r>
          </a:p>
          <a:p>
            <a:r>
              <a:rPr lang="en-US" i="1"/>
              <a:t>the tradeService validating a new order. Partitioning by user id ensures that all of users’</a:t>
            </a:r>
          </a:p>
          <a:p>
            <a:r>
              <a:rPr lang="en-US" i="1"/>
              <a:t>transactions reside on the same shard.</a:t>
            </a:r>
          </a:p>
          <a:p>
            <a:r>
              <a:rPr lang="en-US" i="1"/>
              <a:t>• Atomic Operations: This choice is vital for performance during Atomic Savings. When the</a:t>
            </a:r>
          </a:p>
          <a:p>
            <a:r>
              <a:rPr lang="en-US" i="1"/>
              <a:t>user id is the shard key, multi-document transactions involving the user’s profi le and their</a:t>
            </a:r>
          </a:p>
          <a:p>
            <a:r>
              <a:rPr lang="en-US" i="1"/>
              <a:t>transactions can often be handled within a single shard, avoiding the overhead of complex</a:t>
            </a:r>
          </a:p>
          <a:p>
            <a:r>
              <a:rPr lang="en-US" i="1"/>
              <a:t>distributed transactions.</a:t>
            </a:r>
          </a:p>
          <a:p>
            <a:r>
              <a:rPr lang="en-US" i="1"/>
              <a:t>• Administrative Trade-off : While global analytical queries (e.g., ”Top-K most traded as-</a:t>
            </a:r>
          </a:p>
          <a:p>
            <a:r>
              <a:rPr lang="en-US" i="1"/>
              <a:t>sets”) will require a scatter-gather approach across all shards, this is an acceptable trade-off</a:t>
            </a:r>
          </a:p>
          <a:p>
            <a:r>
              <a:rPr lang="en-US" i="1"/>
              <a:t>to prioritize the responsiveness of the live trading engine.</a:t>
            </a:r>
          </a:p>
        </p:txBody>
      </p:sp>
    </p:spTree>
    <p:extLst>
      <p:ext uri="{BB962C8B-B14F-4D97-AF65-F5344CB8AC3E}">
        <p14:creationId xmlns:p14="http://schemas.microsoft.com/office/powerpoint/2010/main" val="26927026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5664A-93C5-AB60-6A1D-430DA0F40E4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927C284-F4E4-CA83-1D21-9BD1894598BA}"/>
              </a:ext>
            </a:extLst>
          </p:cNvPr>
          <p:cNvSpPr>
            <a:spLocks noGrp="1"/>
          </p:cNvSpPr>
          <p:nvPr>
            <p:ph type="title"/>
          </p:nvPr>
        </p:nvSpPr>
        <p:spPr/>
        <p:txBody>
          <a:bodyPr>
            <a:normAutofit fontScale="90000"/>
          </a:bodyPr>
          <a:lstStyle/>
          <a:p>
            <a:r>
              <a:rPr lang="en-US" dirty="0"/>
              <a:t>Discussion on MongoDB </a:t>
            </a:r>
            <a:r>
              <a:rPr lang="en-US"/>
              <a:t>Data Sharding</a:t>
            </a:r>
            <a:endParaRPr lang="en-US" dirty="0"/>
          </a:p>
        </p:txBody>
      </p:sp>
      <p:sp>
        <p:nvSpPr>
          <p:cNvPr id="3" name="CasellaDiTesto 2">
            <a:extLst>
              <a:ext uri="{FF2B5EF4-FFF2-40B4-BE49-F238E27FC236}">
                <a16:creationId xmlns:a16="http://schemas.microsoft.com/office/drawing/2014/main" id="{402527EE-00BF-70FD-6B10-8AB73AA930E3}"/>
              </a:ext>
            </a:extLst>
          </p:cNvPr>
          <p:cNvSpPr txBox="1"/>
          <p:nvPr/>
        </p:nvSpPr>
        <p:spPr>
          <a:xfrm>
            <a:off x="199462" y="959556"/>
            <a:ext cx="8761797" cy="3139321"/>
          </a:xfrm>
          <a:prstGeom prst="rect">
            <a:avLst/>
          </a:prstGeom>
          <a:noFill/>
        </p:spPr>
        <p:txBody>
          <a:bodyPr wrap="square" rtlCol="0">
            <a:spAutoFit/>
          </a:bodyPr>
          <a:lstStyle/>
          <a:p>
            <a:r>
              <a:rPr lang="en-US" i="1"/>
              <a:t>News: Strategic Outlook</a:t>
            </a:r>
          </a:p>
          <a:p>
            <a:r>
              <a:rPr lang="en-US" i="1"/>
              <a:t>Given the current volume of news data, sharding is currently disabled to maintain architectural</a:t>
            </a:r>
          </a:p>
          <a:p>
            <a:r>
              <a:rPr lang="en-US" i="1"/>
              <a:t>simplicity. The collection resides on the Primary Shard.</a:t>
            </a:r>
          </a:p>
          <a:p>
            <a:r>
              <a:rPr lang="en-US" i="1"/>
              <a:t>In Real-World Scalability scenario: In a production environment with millions of articles, the</a:t>
            </a:r>
          </a:p>
          <a:p>
            <a:r>
              <a:rPr lang="en-US" i="1"/>
              <a:t>recommended shard key is ”sector”: 1, ”date”: -1 .</a:t>
            </a:r>
          </a:p>
          <a:p>
            <a:r>
              <a:rPr lang="en-US" i="1"/>
              <a:t>Financial news consumption is often sector-specifi c (e.g., ”Tech” or ”Energy”). Sharding by</a:t>
            </a:r>
          </a:p>
          <a:p>
            <a:r>
              <a:rPr lang="en-US" i="1"/>
              <a:t>sector allows the system to serve specialized feeds instantly. The descending date ensures that</a:t>
            </a:r>
          </a:p>
          <a:p>
            <a:r>
              <a:rPr lang="en-US" i="1"/>
              <a:t>the most recent news—the most frequently accessed—is effi ciently indexed within each partition.</a:t>
            </a:r>
            <a:endParaRPr lang="en-US" i="1" dirty="0"/>
          </a:p>
        </p:txBody>
      </p:sp>
    </p:spTree>
    <p:extLst>
      <p:ext uri="{BB962C8B-B14F-4D97-AF65-F5344CB8AC3E}">
        <p14:creationId xmlns:p14="http://schemas.microsoft.com/office/powerpoint/2010/main" val="22311487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B5E6-966C-B97A-3696-C737DDCE2AE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F0349FF-821C-E9A8-7149-FE33169A381C}"/>
              </a:ext>
            </a:extLst>
          </p:cNvPr>
          <p:cNvSpPr>
            <a:spLocks noGrp="1"/>
          </p:cNvSpPr>
          <p:nvPr>
            <p:ph type="title"/>
          </p:nvPr>
        </p:nvSpPr>
        <p:spPr/>
        <p:txBody>
          <a:bodyPr>
            <a:normAutofit/>
          </a:bodyPr>
          <a:lstStyle/>
          <a:p>
            <a:r>
              <a:rPr lang="en-US" dirty="0"/>
              <a:t>Key-value DB Design</a:t>
            </a:r>
          </a:p>
        </p:txBody>
      </p:sp>
      <p:sp>
        <p:nvSpPr>
          <p:cNvPr id="3" name="CasellaDiTesto 2">
            <a:extLst>
              <a:ext uri="{FF2B5EF4-FFF2-40B4-BE49-F238E27FC236}">
                <a16:creationId xmlns:a16="http://schemas.microsoft.com/office/drawing/2014/main" id="{5E19476B-EB96-956E-8F5E-A77A8860C56E}"/>
              </a:ext>
            </a:extLst>
          </p:cNvPr>
          <p:cNvSpPr txBox="1"/>
          <p:nvPr/>
        </p:nvSpPr>
        <p:spPr>
          <a:xfrm>
            <a:off x="538843" y="1469572"/>
            <a:ext cx="7494814" cy="646331"/>
          </a:xfrm>
          <a:prstGeom prst="rect">
            <a:avLst/>
          </a:prstGeom>
          <a:noFill/>
        </p:spPr>
        <p:txBody>
          <a:bodyPr wrap="square" rtlCol="0">
            <a:spAutoFit/>
          </a:bodyPr>
          <a:lstStyle/>
          <a:p>
            <a:r>
              <a:rPr lang="en-US" i="1" dirty="0"/>
              <a:t>Show the Redis data model (which names have been chosen for keys? Which values are stored within keys?) and justify choices.</a:t>
            </a:r>
          </a:p>
        </p:txBody>
      </p:sp>
      <p:sp>
        <p:nvSpPr>
          <p:cNvPr id="5" name="CasellaDiTesto 4">
            <a:extLst>
              <a:ext uri="{FF2B5EF4-FFF2-40B4-BE49-F238E27FC236}">
                <a16:creationId xmlns:a16="http://schemas.microsoft.com/office/drawing/2014/main" id="{277EAB67-8180-EBFD-C5C9-C4F5F45800AE}"/>
              </a:ext>
            </a:extLst>
          </p:cNvPr>
          <p:cNvSpPr txBox="1"/>
          <p:nvPr/>
        </p:nvSpPr>
        <p:spPr>
          <a:xfrm>
            <a:off x="538843" y="2423416"/>
            <a:ext cx="7494814" cy="1477328"/>
          </a:xfrm>
          <a:prstGeom prst="rect">
            <a:avLst/>
          </a:prstGeom>
          <a:noFill/>
        </p:spPr>
        <p:txBody>
          <a:bodyPr wrap="square">
            <a:spAutoFit/>
          </a:bodyPr>
          <a:lstStyle/>
          <a:p>
            <a:r>
              <a:rPr lang="en-US" i="1" dirty="0"/>
              <a:t>Show the implemented queries highlighting how the system benefits from the proposed DB design.</a:t>
            </a:r>
          </a:p>
          <a:p>
            <a:endParaRPr lang="en-US" i="1" dirty="0"/>
          </a:p>
          <a:p>
            <a:r>
              <a:rPr lang="en-US" i="1" dirty="0"/>
              <a:t>If needed, make also reference to the Mock-ups (for the view supported by the designed key)</a:t>
            </a:r>
          </a:p>
        </p:txBody>
      </p:sp>
      <p:sp>
        <p:nvSpPr>
          <p:cNvPr id="6" name="CasellaDiTesto 5">
            <a:extLst>
              <a:ext uri="{FF2B5EF4-FFF2-40B4-BE49-F238E27FC236}">
                <a16:creationId xmlns:a16="http://schemas.microsoft.com/office/drawing/2014/main" id="{23EF06B9-3A37-688B-FE5C-DD7CC6EF893E}"/>
              </a:ext>
            </a:extLst>
          </p:cNvPr>
          <p:cNvSpPr txBox="1"/>
          <p:nvPr/>
        </p:nvSpPr>
        <p:spPr>
          <a:xfrm>
            <a:off x="2286000" y="5019096"/>
            <a:ext cx="4572000" cy="369332"/>
          </a:xfrm>
          <a:prstGeom prst="rect">
            <a:avLst/>
          </a:prstGeom>
          <a:noFill/>
        </p:spPr>
        <p:txBody>
          <a:bodyPr wrap="square">
            <a:spAutoFit/>
          </a:bodyPr>
          <a:lstStyle/>
          <a:p>
            <a:r>
              <a:rPr lang="en-US" dirty="0"/>
              <a:t>Use max 3 slides</a:t>
            </a:r>
          </a:p>
        </p:txBody>
      </p:sp>
    </p:spTree>
    <p:extLst>
      <p:ext uri="{BB962C8B-B14F-4D97-AF65-F5344CB8AC3E}">
        <p14:creationId xmlns:p14="http://schemas.microsoft.com/office/powerpoint/2010/main" val="7980670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A70AA-DE6C-1AFD-AE81-383777DB33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C3D0010-ABC6-8DEC-AE0B-26C902B98AE4}"/>
              </a:ext>
            </a:extLst>
          </p:cNvPr>
          <p:cNvSpPr>
            <a:spLocks noGrp="1"/>
          </p:cNvSpPr>
          <p:nvPr>
            <p:ph type="title"/>
          </p:nvPr>
        </p:nvSpPr>
        <p:spPr/>
        <p:txBody>
          <a:bodyPr>
            <a:normAutofit/>
          </a:bodyPr>
          <a:lstStyle/>
          <a:p>
            <a:r>
              <a:rPr lang="en-US" dirty="0"/>
              <a:t>Redis Replica Set Configuration</a:t>
            </a:r>
          </a:p>
        </p:txBody>
      </p:sp>
      <p:sp>
        <p:nvSpPr>
          <p:cNvPr id="3" name="CasellaDiTesto 2">
            <a:extLst>
              <a:ext uri="{FF2B5EF4-FFF2-40B4-BE49-F238E27FC236}">
                <a16:creationId xmlns:a16="http://schemas.microsoft.com/office/drawing/2014/main" id="{0507454D-3BD2-EC44-D682-135DC32A8C06}"/>
              </a:ext>
            </a:extLst>
          </p:cNvPr>
          <p:cNvSpPr txBox="1"/>
          <p:nvPr/>
        </p:nvSpPr>
        <p:spPr>
          <a:xfrm>
            <a:off x="699481" y="1679637"/>
            <a:ext cx="7494814" cy="2031325"/>
          </a:xfrm>
          <a:prstGeom prst="rect">
            <a:avLst/>
          </a:prstGeom>
          <a:noFill/>
        </p:spPr>
        <p:txBody>
          <a:bodyPr wrap="square" rtlCol="0">
            <a:spAutoFit/>
          </a:bodyPr>
          <a:lstStyle/>
          <a:p>
            <a:r>
              <a:rPr lang="en-US" i="1" dirty="0"/>
              <a:t>Show the configuration of the Redis DB: did you configure a key eviction policy? Which one and why? How did you handle persistence and why? Did you configure a clustered (sharded/partitioned) DB? Why? </a:t>
            </a:r>
          </a:p>
          <a:p>
            <a:endParaRPr lang="en-US" i="1" dirty="0"/>
          </a:p>
          <a:p>
            <a:r>
              <a:rPr lang="en-US" i="1" dirty="0"/>
              <a:t>Discuss replica configuration. Replicas should be deployed on the same Virtual Machines than the ones of MongoDB (obviously listening on </a:t>
            </a:r>
            <a:r>
              <a:rPr lang="en-US" i="1"/>
              <a:t>different port numbers)</a:t>
            </a:r>
            <a:endParaRPr lang="en-US" i="1" dirty="0"/>
          </a:p>
        </p:txBody>
      </p:sp>
    </p:spTree>
    <p:extLst>
      <p:ext uri="{BB962C8B-B14F-4D97-AF65-F5344CB8AC3E}">
        <p14:creationId xmlns:p14="http://schemas.microsoft.com/office/powerpoint/2010/main" val="17880043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6CE02-8921-8C38-9F13-1BD65CAC492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4737838-E2DC-7AA2-CBA2-6910158FE55D}"/>
              </a:ext>
            </a:extLst>
          </p:cNvPr>
          <p:cNvSpPr>
            <a:spLocks noGrp="1"/>
          </p:cNvSpPr>
          <p:nvPr>
            <p:ph type="title"/>
          </p:nvPr>
        </p:nvSpPr>
        <p:spPr/>
        <p:txBody>
          <a:bodyPr>
            <a:normAutofit/>
          </a:bodyPr>
          <a:lstStyle/>
          <a:p>
            <a:r>
              <a:rPr lang="en-US" dirty="0"/>
              <a:t>Handling Intra-DB Consistency </a:t>
            </a:r>
          </a:p>
        </p:txBody>
      </p:sp>
      <p:sp>
        <p:nvSpPr>
          <p:cNvPr id="3" name="CasellaDiTesto 2">
            <a:extLst>
              <a:ext uri="{FF2B5EF4-FFF2-40B4-BE49-F238E27FC236}">
                <a16:creationId xmlns:a16="http://schemas.microsoft.com/office/drawing/2014/main" id="{02177F3E-F8E6-CA29-65A7-EE7F94D58526}"/>
              </a:ext>
            </a:extLst>
          </p:cNvPr>
          <p:cNvSpPr txBox="1"/>
          <p:nvPr/>
        </p:nvSpPr>
        <p:spPr>
          <a:xfrm>
            <a:off x="627743" y="1440544"/>
            <a:ext cx="7494814" cy="1754326"/>
          </a:xfrm>
          <a:prstGeom prst="rect">
            <a:avLst/>
          </a:prstGeom>
          <a:noFill/>
        </p:spPr>
        <p:txBody>
          <a:bodyPr wrap="square" rtlCol="0">
            <a:spAutoFit/>
          </a:bodyPr>
          <a:lstStyle/>
          <a:p>
            <a:r>
              <a:rPr lang="en-US" i="1" dirty="0"/>
              <a:t>Show how you handle consistency between the different databases and justify decisions according to functional and non-functional requirements.</a:t>
            </a:r>
          </a:p>
          <a:p>
            <a:endParaRPr lang="en-US" i="1" dirty="0"/>
          </a:p>
          <a:p>
            <a:r>
              <a:rPr lang="en-US" i="1" dirty="0"/>
              <a:t>For example, if you are using MongoDB and Neo4J, how have you considered the consistency among the two DBs regarding entities stored in both DBs?</a:t>
            </a:r>
          </a:p>
          <a:p>
            <a:endParaRPr lang="en-US" i="1" dirty="0"/>
          </a:p>
        </p:txBody>
      </p:sp>
      <p:sp>
        <p:nvSpPr>
          <p:cNvPr id="4" name="CasellaDiTesto 3">
            <a:extLst>
              <a:ext uri="{FF2B5EF4-FFF2-40B4-BE49-F238E27FC236}">
                <a16:creationId xmlns:a16="http://schemas.microsoft.com/office/drawing/2014/main" id="{3EB38CB2-2489-4E3D-1099-38D4A632BC0B}"/>
              </a:ext>
            </a:extLst>
          </p:cNvPr>
          <p:cNvSpPr txBox="1"/>
          <p:nvPr/>
        </p:nvSpPr>
        <p:spPr>
          <a:xfrm>
            <a:off x="2286000" y="5019096"/>
            <a:ext cx="4572000" cy="369332"/>
          </a:xfrm>
          <a:prstGeom prst="rect">
            <a:avLst/>
          </a:prstGeom>
          <a:noFill/>
        </p:spPr>
        <p:txBody>
          <a:bodyPr wrap="square">
            <a:spAutoFit/>
          </a:bodyPr>
          <a:lstStyle/>
          <a:p>
            <a:r>
              <a:rPr lang="en-US" dirty="0"/>
              <a:t>Use max 3 slides</a:t>
            </a:r>
          </a:p>
        </p:txBody>
      </p:sp>
    </p:spTree>
    <p:extLst>
      <p:ext uri="{BB962C8B-B14F-4D97-AF65-F5344CB8AC3E}">
        <p14:creationId xmlns:p14="http://schemas.microsoft.com/office/powerpoint/2010/main" val="18116753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6719C-05B2-C6C3-75F5-883D8653070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6BE99EA-3D68-8DA2-95B5-8D7F46540DD0}"/>
              </a:ext>
            </a:extLst>
          </p:cNvPr>
          <p:cNvSpPr>
            <a:spLocks noGrp="1"/>
          </p:cNvSpPr>
          <p:nvPr>
            <p:ph type="title"/>
          </p:nvPr>
        </p:nvSpPr>
        <p:spPr/>
        <p:txBody>
          <a:bodyPr>
            <a:normAutofit/>
          </a:bodyPr>
          <a:lstStyle/>
          <a:p>
            <a:r>
              <a:rPr lang="en-US" dirty="0"/>
              <a:t>Swagger UI REST APIs documentation</a:t>
            </a:r>
          </a:p>
        </p:txBody>
      </p:sp>
      <p:sp>
        <p:nvSpPr>
          <p:cNvPr id="3" name="CasellaDiTesto 2">
            <a:extLst>
              <a:ext uri="{FF2B5EF4-FFF2-40B4-BE49-F238E27FC236}">
                <a16:creationId xmlns:a16="http://schemas.microsoft.com/office/drawing/2014/main" id="{4E5F6E1B-AF1B-3BA4-A49E-E24AFB1B272A}"/>
              </a:ext>
            </a:extLst>
          </p:cNvPr>
          <p:cNvSpPr txBox="1"/>
          <p:nvPr/>
        </p:nvSpPr>
        <p:spPr>
          <a:xfrm>
            <a:off x="538843" y="1469572"/>
            <a:ext cx="7494814" cy="1200329"/>
          </a:xfrm>
          <a:prstGeom prst="rect">
            <a:avLst/>
          </a:prstGeom>
          <a:noFill/>
        </p:spPr>
        <p:txBody>
          <a:bodyPr wrap="square" rtlCol="0">
            <a:spAutoFit/>
          </a:bodyPr>
          <a:lstStyle/>
          <a:p>
            <a:r>
              <a:rPr lang="en-US" i="1" dirty="0"/>
              <a:t>Report here screenshots from the Swagger UI page to present the main entities and their related endpoints. Also, show the Swagger UI page live and show the details of some relevant endpoints, illustrating its purpose, input parameters (if any), and expected responses, including success and error scenarios.</a:t>
            </a:r>
          </a:p>
        </p:txBody>
      </p:sp>
    </p:spTree>
    <p:extLst>
      <p:ext uri="{BB962C8B-B14F-4D97-AF65-F5344CB8AC3E}">
        <p14:creationId xmlns:p14="http://schemas.microsoft.com/office/powerpoint/2010/main" val="435130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5B577-9733-91DB-3BC6-3CD03361EE0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675A532-24A0-2232-DB32-C297C091D948}"/>
              </a:ext>
            </a:extLst>
          </p:cNvPr>
          <p:cNvSpPr>
            <a:spLocks noGrp="1"/>
          </p:cNvSpPr>
          <p:nvPr>
            <p:ph type="title"/>
          </p:nvPr>
        </p:nvSpPr>
        <p:spPr/>
        <p:txBody>
          <a:bodyPr>
            <a:normAutofit/>
          </a:bodyPr>
          <a:lstStyle/>
          <a:p>
            <a:r>
              <a:rPr lang="en-US" dirty="0"/>
              <a:t>Swagger UI REST APIs documentation</a:t>
            </a:r>
          </a:p>
        </p:txBody>
      </p:sp>
      <p:sp>
        <p:nvSpPr>
          <p:cNvPr id="3" name="CasellaDiTesto 2">
            <a:extLst>
              <a:ext uri="{FF2B5EF4-FFF2-40B4-BE49-F238E27FC236}">
                <a16:creationId xmlns:a16="http://schemas.microsoft.com/office/drawing/2014/main" id="{DD0357CA-4780-F14A-BF81-59A761887C71}"/>
              </a:ext>
            </a:extLst>
          </p:cNvPr>
          <p:cNvSpPr txBox="1"/>
          <p:nvPr/>
        </p:nvSpPr>
        <p:spPr>
          <a:xfrm>
            <a:off x="816232" y="1048427"/>
            <a:ext cx="7494814" cy="461665"/>
          </a:xfrm>
          <a:prstGeom prst="rect">
            <a:avLst/>
          </a:prstGeom>
          <a:noFill/>
        </p:spPr>
        <p:txBody>
          <a:bodyPr wrap="square" rtlCol="0">
            <a:spAutoFit/>
          </a:bodyPr>
          <a:lstStyle/>
          <a:p>
            <a:pPr algn="ctr"/>
            <a:r>
              <a:rPr lang="en-US" sz="2400" i="1"/>
              <a:t>Unregistered User API</a:t>
            </a:r>
            <a:endParaRPr lang="en-US" sz="2400" i="1" dirty="0"/>
          </a:p>
        </p:txBody>
      </p:sp>
      <p:pic>
        <p:nvPicPr>
          <p:cNvPr id="5" name="Immagine 4" descr="Immagine che contiene testo, schermata, software, Software multimediale&#10;&#10;Il contenuto generato dall'IA potrebbe non essere corretto.">
            <a:extLst>
              <a:ext uri="{FF2B5EF4-FFF2-40B4-BE49-F238E27FC236}">
                <a16:creationId xmlns:a16="http://schemas.microsoft.com/office/drawing/2014/main" id="{0D26117A-CA05-F579-ADE4-4BEC09AC6265}"/>
              </a:ext>
            </a:extLst>
          </p:cNvPr>
          <p:cNvPicPr>
            <a:picLocks noChangeAspect="1"/>
          </p:cNvPicPr>
          <p:nvPr/>
        </p:nvPicPr>
        <p:blipFill>
          <a:blip r:embed="rId2"/>
          <a:stretch>
            <a:fillRect/>
          </a:stretch>
        </p:blipFill>
        <p:spPr>
          <a:xfrm>
            <a:off x="182741" y="1817612"/>
            <a:ext cx="8746660" cy="3222775"/>
          </a:xfrm>
          <a:prstGeom prst="rect">
            <a:avLst/>
          </a:prstGeom>
        </p:spPr>
      </p:pic>
    </p:spTree>
    <p:extLst>
      <p:ext uri="{BB962C8B-B14F-4D97-AF65-F5344CB8AC3E}">
        <p14:creationId xmlns:p14="http://schemas.microsoft.com/office/powerpoint/2010/main" val="16002911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3991E-23C9-9265-4385-7149EFB8B7A4}"/>
            </a:ext>
          </a:extLst>
        </p:cNvPr>
        <p:cNvGrpSpPr/>
        <p:nvPr/>
      </p:nvGrpSpPr>
      <p:grpSpPr>
        <a:xfrm>
          <a:off x="0" y="0"/>
          <a:ext cx="0" cy="0"/>
          <a:chOff x="0" y="0"/>
          <a:chExt cx="0" cy="0"/>
        </a:xfrm>
      </p:grpSpPr>
      <p:sp>
        <p:nvSpPr>
          <p:cNvPr id="3" name="CasellaDiTesto 2">
            <a:extLst>
              <a:ext uri="{FF2B5EF4-FFF2-40B4-BE49-F238E27FC236}">
                <a16:creationId xmlns:a16="http://schemas.microsoft.com/office/drawing/2014/main" id="{FA5D2F50-7D88-499C-A494-58DB3F1114B8}"/>
              </a:ext>
            </a:extLst>
          </p:cNvPr>
          <p:cNvSpPr txBox="1"/>
          <p:nvPr/>
        </p:nvSpPr>
        <p:spPr>
          <a:xfrm>
            <a:off x="824593" y="152104"/>
            <a:ext cx="7494814" cy="461665"/>
          </a:xfrm>
          <a:prstGeom prst="rect">
            <a:avLst/>
          </a:prstGeom>
          <a:noFill/>
        </p:spPr>
        <p:txBody>
          <a:bodyPr wrap="square" rtlCol="0">
            <a:spAutoFit/>
          </a:bodyPr>
          <a:lstStyle/>
          <a:p>
            <a:pPr algn="ctr"/>
            <a:r>
              <a:rPr lang="en-US" sz="2400" i="1"/>
              <a:t>Registered User API (Aggregation)</a:t>
            </a:r>
            <a:endParaRPr lang="en-US" sz="2400" i="1" dirty="0"/>
          </a:p>
        </p:txBody>
      </p:sp>
      <p:pic>
        <p:nvPicPr>
          <p:cNvPr id="9" name="Immagine 8" descr="Immagine che contiene schermata, testo&#10;&#10;Il contenuto generato dall'IA potrebbe non essere corretto.">
            <a:extLst>
              <a:ext uri="{FF2B5EF4-FFF2-40B4-BE49-F238E27FC236}">
                <a16:creationId xmlns:a16="http://schemas.microsoft.com/office/drawing/2014/main" id="{1CBAF6E4-C26F-ED32-3A03-59C6A1C8F6B2}"/>
              </a:ext>
            </a:extLst>
          </p:cNvPr>
          <p:cNvPicPr>
            <a:picLocks noChangeAspect="1"/>
          </p:cNvPicPr>
          <p:nvPr/>
        </p:nvPicPr>
        <p:blipFill>
          <a:blip r:embed="rId3"/>
          <a:stretch>
            <a:fillRect/>
          </a:stretch>
        </p:blipFill>
        <p:spPr>
          <a:xfrm>
            <a:off x="371475" y="2308665"/>
            <a:ext cx="8401050" cy="2240670"/>
          </a:xfrm>
          <a:prstGeom prst="rect">
            <a:avLst/>
          </a:prstGeom>
        </p:spPr>
      </p:pic>
    </p:spTree>
    <p:extLst>
      <p:ext uri="{BB962C8B-B14F-4D97-AF65-F5344CB8AC3E}">
        <p14:creationId xmlns:p14="http://schemas.microsoft.com/office/powerpoint/2010/main" val="31239128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79A8-27B7-86BB-653F-F2F1CF32E00C}"/>
            </a:ext>
          </a:extLst>
        </p:cNvPr>
        <p:cNvGrpSpPr/>
        <p:nvPr/>
      </p:nvGrpSpPr>
      <p:grpSpPr>
        <a:xfrm>
          <a:off x="0" y="0"/>
          <a:ext cx="0" cy="0"/>
          <a:chOff x="0" y="0"/>
          <a:chExt cx="0" cy="0"/>
        </a:xfrm>
      </p:grpSpPr>
      <p:sp>
        <p:nvSpPr>
          <p:cNvPr id="3" name="CasellaDiTesto 2">
            <a:extLst>
              <a:ext uri="{FF2B5EF4-FFF2-40B4-BE49-F238E27FC236}">
                <a16:creationId xmlns:a16="http://schemas.microsoft.com/office/drawing/2014/main" id="{D0A9400D-65E1-5787-C644-9F4EC5D73F1F}"/>
              </a:ext>
            </a:extLst>
          </p:cNvPr>
          <p:cNvSpPr txBox="1"/>
          <p:nvPr/>
        </p:nvSpPr>
        <p:spPr>
          <a:xfrm>
            <a:off x="824593" y="152104"/>
            <a:ext cx="7494814" cy="461665"/>
          </a:xfrm>
          <a:prstGeom prst="rect">
            <a:avLst/>
          </a:prstGeom>
          <a:noFill/>
        </p:spPr>
        <p:txBody>
          <a:bodyPr wrap="square" rtlCol="0">
            <a:spAutoFit/>
          </a:bodyPr>
          <a:lstStyle/>
          <a:p>
            <a:pPr algn="ctr"/>
            <a:r>
              <a:rPr lang="en-US" sz="2400" i="1"/>
              <a:t>Admin API (CRUD)</a:t>
            </a:r>
            <a:endParaRPr lang="en-US" sz="2400" i="1" dirty="0"/>
          </a:p>
        </p:txBody>
      </p:sp>
      <p:pic>
        <p:nvPicPr>
          <p:cNvPr id="4" name="Immagine 3" descr="Immagine che contiene testo, schermata, Policromia, software&#10;&#10;Il contenuto generato dall'IA potrebbe non essere corretto.">
            <a:extLst>
              <a:ext uri="{FF2B5EF4-FFF2-40B4-BE49-F238E27FC236}">
                <a16:creationId xmlns:a16="http://schemas.microsoft.com/office/drawing/2014/main" id="{AE1D6D82-0238-F1EB-79E8-A7B149784761}"/>
              </a:ext>
            </a:extLst>
          </p:cNvPr>
          <p:cNvPicPr>
            <a:picLocks noChangeAspect="1"/>
          </p:cNvPicPr>
          <p:nvPr/>
        </p:nvPicPr>
        <p:blipFill>
          <a:blip r:embed="rId3"/>
          <a:stretch>
            <a:fillRect/>
          </a:stretch>
        </p:blipFill>
        <p:spPr>
          <a:xfrm>
            <a:off x="1992982" y="613769"/>
            <a:ext cx="5674644" cy="5585232"/>
          </a:xfrm>
          <a:prstGeom prst="rect">
            <a:avLst/>
          </a:prstGeom>
        </p:spPr>
      </p:pic>
    </p:spTree>
    <p:extLst>
      <p:ext uri="{BB962C8B-B14F-4D97-AF65-F5344CB8AC3E}">
        <p14:creationId xmlns:p14="http://schemas.microsoft.com/office/powerpoint/2010/main" val="8692002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E1C2-5B16-563F-B14A-9F0FAEF18E41}"/>
            </a:ext>
          </a:extLst>
        </p:cNvPr>
        <p:cNvGrpSpPr/>
        <p:nvPr/>
      </p:nvGrpSpPr>
      <p:grpSpPr>
        <a:xfrm>
          <a:off x="0" y="0"/>
          <a:ext cx="0" cy="0"/>
          <a:chOff x="0" y="0"/>
          <a:chExt cx="0" cy="0"/>
        </a:xfrm>
      </p:grpSpPr>
      <p:sp>
        <p:nvSpPr>
          <p:cNvPr id="3" name="CasellaDiTesto 2">
            <a:extLst>
              <a:ext uri="{FF2B5EF4-FFF2-40B4-BE49-F238E27FC236}">
                <a16:creationId xmlns:a16="http://schemas.microsoft.com/office/drawing/2014/main" id="{E2AF5AEF-B69D-689D-599C-ABA5302CD5FC}"/>
              </a:ext>
            </a:extLst>
          </p:cNvPr>
          <p:cNvSpPr txBox="1"/>
          <p:nvPr/>
        </p:nvSpPr>
        <p:spPr>
          <a:xfrm>
            <a:off x="824593" y="152104"/>
            <a:ext cx="7494814" cy="461665"/>
          </a:xfrm>
          <a:prstGeom prst="rect">
            <a:avLst/>
          </a:prstGeom>
          <a:noFill/>
        </p:spPr>
        <p:txBody>
          <a:bodyPr wrap="square" rtlCol="0">
            <a:spAutoFit/>
          </a:bodyPr>
          <a:lstStyle/>
          <a:p>
            <a:pPr algn="ctr"/>
            <a:r>
              <a:rPr lang="en-US" sz="2400" i="1"/>
              <a:t>Admin API (CRUD + aggregation)</a:t>
            </a:r>
            <a:endParaRPr lang="en-US" sz="2400" i="1" dirty="0"/>
          </a:p>
        </p:txBody>
      </p:sp>
      <p:pic>
        <p:nvPicPr>
          <p:cNvPr id="4" name="Immagine 3" descr="Immagine che contiene testo, schermata&#10;&#10;Il contenuto generato dall'IA potrebbe non essere corretto.">
            <a:extLst>
              <a:ext uri="{FF2B5EF4-FFF2-40B4-BE49-F238E27FC236}">
                <a16:creationId xmlns:a16="http://schemas.microsoft.com/office/drawing/2014/main" id="{EF788C7E-D43B-2105-8A9C-2198DC06F8FC}"/>
              </a:ext>
            </a:extLst>
          </p:cNvPr>
          <p:cNvPicPr>
            <a:picLocks noChangeAspect="1"/>
          </p:cNvPicPr>
          <p:nvPr/>
        </p:nvPicPr>
        <p:blipFill>
          <a:blip r:embed="rId3"/>
          <a:stretch>
            <a:fillRect/>
          </a:stretch>
        </p:blipFill>
        <p:spPr>
          <a:xfrm>
            <a:off x="1415143" y="525169"/>
            <a:ext cx="6904264" cy="5807662"/>
          </a:xfrm>
          <a:prstGeom prst="rect">
            <a:avLst/>
          </a:prstGeom>
        </p:spPr>
      </p:pic>
    </p:spTree>
    <p:extLst>
      <p:ext uri="{BB962C8B-B14F-4D97-AF65-F5344CB8AC3E}">
        <p14:creationId xmlns:p14="http://schemas.microsoft.com/office/powerpoint/2010/main" val="16863532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6A919-8F80-817E-6217-1B47AF2AD01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ACEA642-FC4C-27DE-CD9F-9D8346EB3094}"/>
              </a:ext>
            </a:extLst>
          </p:cNvPr>
          <p:cNvSpPr>
            <a:spLocks noGrp="1"/>
          </p:cNvSpPr>
          <p:nvPr>
            <p:ph type="title"/>
          </p:nvPr>
        </p:nvSpPr>
        <p:spPr/>
        <p:txBody>
          <a:bodyPr>
            <a:normAutofit/>
          </a:bodyPr>
          <a:lstStyle/>
          <a:p>
            <a:r>
              <a:rPr lang="en-US" dirty="0"/>
              <a:t>Live Demo with Postman</a:t>
            </a:r>
          </a:p>
        </p:txBody>
      </p:sp>
      <p:sp>
        <p:nvSpPr>
          <p:cNvPr id="3" name="CasellaDiTesto 2">
            <a:extLst>
              <a:ext uri="{FF2B5EF4-FFF2-40B4-BE49-F238E27FC236}">
                <a16:creationId xmlns:a16="http://schemas.microsoft.com/office/drawing/2014/main" id="{DD065997-AD02-E935-941A-761D0FBD669D}"/>
              </a:ext>
            </a:extLst>
          </p:cNvPr>
          <p:cNvSpPr txBox="1"/>
          <p:nvPr/>
        </p:nvSpPr>
        <p:spPr>
          <a:xfrm>
            <a:off x="538843" y="1469572"/>
            <a:ext cx="7494814" cy="2862322"/>
          </a:xfrm>
          <a:prstGeom prst="rect">
            <a:avLst/>
          </a:prstGeom>
          <a:noFill/>
        </p:spPr>
        <p:txBody>
          <a:bodyPr wrap="square" rtlCol="0">
            <a:spAutoFit/>
          </a:bodyPr>
          <a:lstStyle/>
          <a:p>
            <a:r>
              <a:rPr lang="en-US" i="1" dirty="0"/>
              <a:t>Show the Postman Collection containing all the REST endpoints exposed by your application (e.g. authentication, product management, analytics, etc.) </a:t>
            </a:r>
          </a:p>
          <a:p>
            <a:endParaRPr lang="en-US" i="1" dirty="0"/>
          </a:p>
          <a:p>
            <a:r>
              <a:rPr lang="en-US" i="1" dirty="0"/>
              <a:t>Detailed endpoints descriptions: endpoint purpose, required input parameters with example values .</a:t>
            </a:r>
          </a:p>
          <a:p>
            <a:endParaRPr lang="en-US" i="1" dirty="0"/>
          </a:p>
          <a:p>
            <a:r>
              <a:rPr lang="en-US" i="1" dirty="0"/>
              <a:t>Show live testing of some relevant endpoints of your application within Postman. Also show how error scenarios are handled (bad requests and exceptions; Missing or invalid parameters; Unauthorized access attempts; Endpoint-specific edge cases (e.g., trying to fetch a non-existent resource).</a:t>
            </a:r>
          </a:p>
        </p:txBody>
      </p:sp>
    </p:spTree>
    <p:extLst>
      <p:ext uri="{BB962C8B-B14F-4D97-AF65-F5344CB8AC3E}">
        <p14:creationId xmlns:p14="http://schemas.microsoft.com/office/powerpoint/2010/main" val="3627092107"/>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3799</TotalTime>
  <Words>1713</Words>
  <Application>Microsoft Office PowerPoint</Application>
  <PresentationFormat>Presentazione su schermo (4:3)</PresentationFormat>
  <Paragraphs>143</Paragraphs>
  <Slides>33</Slides>
  <Notes>3</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33</vt:i4>
      </vt:variant>
    </vt:vector>
  </HeadingPairs>
  <TitlesOfParts>
    <vt:vector size="36" baseType="lpstr">
      <vt:lpstr>Arial</vt:lpstr>
      <vt:lpstr>Calibri</vt:lpstr>
      <vt:lpstr>Tema di Office</vt:lpstr>
      <vt:lpstr>Large-Scale and Multi-Structured Databases Project Design MyFuture</vt:lpstr>
      <vt:lpstr>Application Highlights</vt:lpstr>
      <vt:lpstr>Actors and Use cases</vt:lpstr>
      <vt:lpstr>Mock-ups Unregistered user</vt:lpstr>
      <vt:lpstr>Mock-ups Unregistered user</vt:lpstr>
      <vt:lpstr>Mock-ups Unregistered user</vt:lpstr>
      <vt:lpstr>Mock-ups Registered user</vt:lpstr>
      <vt:lpstr>Mock-ups Registered user</vt:lpstr>
      <vt:lpstr>Mock-ups Registered user</vt:lpstr>
      <vt:lpstr>Mock-ups Registered user</vt:lpstr>
      <vt:lpstr>Mock-ups Registered user</vt:lpstr>
      <vt:lpstr>Mock-ups Registered user</vt:lpstr>
      <vt:lpstr>Mock-ups Registered user</vt:lpstr>
      <vt:lpstr>Mock-ups Registered user</vt:lpstr>
      <vt:lpstr>Mock-ups Admin</vt:lpstr>
      <vt:lpstr>Dataset Description</vt:lpstr>
      <vt:lpstr>UML Design Class Diagram</vt:lpstr>
      <vt:lpstr>Application non-functional requirements</vt:lpstr>
      <vt:lpstr>Document DB Design</vt:lpstr>
      <vt:lpstr>MongoDB Replica Set Configuration</vt:lpstr>
      <vt:lpstr>MongoDB Indexes</vt:lpstr>
      <vt:lpstr>Discussion on MongoDB Data Sharding</vt:lpstr>
      <vt:lpstr>Discussion on MongoDB Data Sharding</vt:lpstr>
      <vt:lpstr>Discussion on MongoDB Data Sharding</vt:lpstr>
      <vt:lpstr>Key-value DB Design</vt:lpstr>
      <vt:lpstr>Redis Replica Set Configuration</vt:lpstr>
      <vt:lpstr>Handling Intra-DB Consistency </vt:lpstr>
      <vt:lpstr>Swagger UI REST APIs documentation</vt:lpstr>
      <vt:lpstr>Swagger UI REST APIs documentation</vt:lpstr>
      <vt:lpstr>Presentazione standard di PowerPoint</vt:lpstr>
      <vt:lpstr>Presentazione standard di PowerPoint</vt:lpstr>
      <vt:lpstr>Presentazione standard di PowerPoint</vt:lpstr>
      <vt:lpstr>Live Demo with Postman</vt:lpstr>
    </vt:vector>
  </TitlesOfParts>
  <Company>Università di Pisa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Large Scale and Non-Structured Databases The Database Revolutions</dc:title>
  <dc:creator>Francesco  Marcelloni</dc:creator>
  <cp:lastModifiedBy>Alessandro Diana</cp:lastModifiedBy>
  <cp:revision>200</cp:revision>
  <dcterms:created xsi:type="dcterms:W3CDTF">2019-07-02T09:26:30Z</dcterms:created>
  <dcterms:modified xsi:type="dcterms:W3CDTF">2026-02-23T22:03:23Z</dcterms:modified>
</cp:coreProperties>
</file>